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Orientation deck for the people who will actually use Atlas day to day - requesters, reviewers, catalogue stewards, vendor and access managers. Goal: by the end they understand what the tool is, how to move around it, and what each module does. Pair it with the User Training Guide for step-by-step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Plain-language definition. Emphasise the 'one place' benefit: today these are five disconnected SharePoint tools; Atlas joins them so you can see across them. Read the five verbs left to right - that's the lifecycle of any data asset, and it maps to the five modules in the left nav.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concept: 'one asset, five tools.' Trace one example out loud. Then point out that the links are real and clickable in the tool - blue links and clickable rows jump you straight to the related record. This is what makes Atlas more than five separate lists.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layout so nobody is lost. Four areas: the dark top bar (title + the Division and Financial-Year filters that apply across every module), the dark left nav (three groups), the light working surface (tiles/charts/tables), and the detail drawer that slides in from the right when you click a row. Ask Atlas lives on the Command Centre. Mention you can close the drawer with the X, by clicking outside it, or pressing Escape.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about how much the tool helps. It keeps your records (so you trust it), it does the repetitive work for you (so you save time and avoid mistakes), and it surfaces answers and flags (so you make better decisions). Reassure: every AI/analytics output is advisory - it shows a confidence read and a human always approves the action. Nothing happens automatically without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Command Centre is home base. Tell users to start their day here: the signals tell you what needs attention (an agreement expiring behind a key KPI, a possible duplicate buy, a quality risk), and Ask Atlas answers cross-estate questions. Everything is a jumping-off point - clicking a signal or tile takes you to the underlying record.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tool, so spend time here. Walk the chain left to right. Then the two routing rules - national/sub-national and cost-vs-threshold - which the tool applies automatically when you submit. Explain the four roles and that tabs open progressively (you won't see the committee tab until it gets there). The status names are the shared vocabulary - the training guide lists them all with meanings.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action view. Demo live if you can: click New data request, fill a couple of fields and watch the routing/duplicate panel update; submit; then switch roles (Requester -&gt; Admin -&gt; Regional -&gt; Global -&gt; Admin) and click the action buttons to walk it to Approved; then Move to Data Catalogue. Stress the role switch: the action buttons change with your role and the request's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catalogue is the single source of truth and the answer to 'do we already own this?'. Show opening an asset record and scrolling the grouped fields. Then New manual entry - pick a patient-level claims type and watch PHI flip to Yes with a suggested Gold tier. Mention drafts: when a request is approved and moved here, it lands as a Draft to be completed and published.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KPI catalogue answers 'where does this number come from and how good is it?'. Show the lineage chain in a KPI record. Then Add KPI / metric - pick a Bronze source asset with Global scope and the tool flags the quality risk live. This turns institutional knowledge that used to live in people's heads into something anyone can look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 Hub is the inventory - who our vendors are and what we buy from each. Keep it brief; it sets up Vendor Hub Plus, which is where the analytics live. Point out 'purchased vs available' - it is the basis for negotiation leverage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standout analytics view. Explain each of the five in user terms - who delivers quality, where spend is concentrated (HHI: higher = more concentrated, more risk), who we cannot easily replace, where we overpay, and where we have room to negotiate. Stress these update automatically as the catalogue changes, and they are advisory inputs to a renewal decision, not automatic actions.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TPA Hub is both a register and a live reminder engine. The runway view (30/60/90) is what most users will check. The key upgrade over a plain reminder: it tells you the impact - 'this expires in 21 days and it is the only agreement behind a Tier-1 KPI'. And Create renewal request links straight back into the request workflow, so renewing is one click to start.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the AI. It is an assistant that reads across the connected data and answers questions or pushes signals - it does not make decisions. Show one Ask Atlas question. Then point at the confidence line and the 'advisory only - a human approves' cue that appears on every AI output. This is important for a regulated environment: nothing is automated without a person.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of cross-cutting behaviours people ask about: the global filters, the clickable links, how to close the drawer, the advisory nature of AI, and the synthetic-data note. Send them to the Training Guide for how-to detail.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five concrete things to try so users leave able to do something immediately. Point them to the User Training Guide for the full how-to. Encourage them to click around - it is safe; the prototype uses synthetic data and resets on refresh.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1371600"/>
            <a:ext cx="2194560" cy="457200"/>
          </a:xfrm>
          <a:prstGeom prst="roundRect">
            <a:avLst>
              <a:gd name="adj" fmla="val 50000"/>
            </a:avLst>
          </a:prstGeom>
          <a:solidFill>
            <a:srgbClr val="0E1A22"/>
          </a:solidFill>
          <a:ln w="12700">
            <a:solidFill>
              <a:srgbClr val="2A3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2194560" cy="457200"/>
          </a:xfrm>
          <a:prstGeom prst="rect">
            <a:avLst/>
          </a:prstGeom>
          <a:noFill/>
        </p:spPr>
        <p:txBody>
          <a:bodyPr wrap="square" anchor="ctr" lIns="0" rIns="0" tIns="0" bIns="0">
            <a:spAutoFit/>
          </a:bodyPr>
          <a:lstStyle/>
          <a:p>
            <a:pPr algn="ctr">
              <a:spcBef>
                <a:spcPts val="0"/>
              </a:spcBef>
              <a:spcAft>
                <a:spcPts val="0"/>
              </a:spcAft>
            </a:pPr>
            <a:r>
              <a:rPr sz="1100" b="1">
                <a:solidFill>
                  <a:srgbClr val="F89739"/>
                </a:solidFill>
                <a:latin typeface="Calibri"/>
              </a:rPr>
              <a:t>USER EXPLAINER</a:t>
            </a:r>
          </a:p>
        </p:txBody>
      </p:sp>
      <p:sp>
        <p:nvSpPr>
          <p:cNvPr id="5" name="TextBox 4"/>
          <p:cNvSpPr txBox="1"/>
          <p:nvPr/>
        </p:nvSpPr>
        <p:spPr>
          <a:xfrm>
            <a:off x="685800" y="2194560"/>
            <a:ext cx="10515600" cy="1188720"/>
          </a:xfrm>
          <a:prstGeom prst="rect">
            <a:avLst/>
          </a:prstGeom>
          <a:noFill/>
        </p:spPr>
        <p:txBody>
          <a:bodyPr wrap="square" anchor="t" lIns="0" rIns="0" tIns="0" bIns="0">
            <a:spAutoFit/>
          </a:bodyPr>
          <a:lstStyle/>
          <a:p>
            <a:pPr algn="l">
              <a:spcBef>
                <a:spcPts val="0"/>
              </a:spcBef>
              <a:spcAft>
                <a:spcPts val="200"/>
              </a:spcAft>
            </a:pPr>
            <a:r>
              <a:rPr sz="5800" b="1">
                <a:solidFill>
                  <a:srgbClr val="FFFFFF"/>
                </a:solidFill>
                <a:latin typeface="Calibri"/>
              </a:rPr>
              <a:t>Cortex Atlas</a:t>
            </a:r>
          </a:p>
        </p:txBody>
      </p:sp>
      <p:sp>
        <p:nvSpPr>
          <p:cNvPr id="6" name="TextBox 5"/>
          <p:cNvSpPr txBox="1"/>
          <p:nvPr/>
        </p:nvSpPr>
        <p:spPr>
          <a:xfrm>
            <a:off x="685800" y="3291840"/>
            <a:ext cx="10515600" cy="731520"/>
          </a:xfrm>
          <a:prstGeom prst="rect">
            <a:avLst/>
          </a:prstGeom>
          <a:noFill/>
        </p:spPr>
        <p:txBody>
          <a:bodyPr wrap="square" anchor="t" lIns="0" rIns="0" tIns="0" bIns="0">
            <a:spAutoFit/>
          </a:bodyPr>
          <a:lstStyle/>
          <a:p>
            <a:pPr algn="l">
              <a:spcBef>
                <a:spcPts val="0"/>
              </a:spcBef>
              <a:spcAft>
                <a:spcPts val="0"/>
              </a:spcAft>
            </a:pPr>
            <a:r>
              <a:rPr sz="2400" b="0">
                <a:solidFill>
                  <a:srgbClr val="C7CCD3"/>
                </a:solidFill>
                <a:latin typeface="Calibri"/>
              </a:rPr>
              <a:t>Your connected workspace for commercial data governance.</a:t>
            </a:r>
          </a:p>
        </p:txBody>
      </p:sp>
      <p:sp>
        <p:nvSpPr>
          <p:cNvPr id="7" name="TextBox 6"/>
          <p:cNvSpPr txBox="1"/>
          <p:nvPr/>
        </p:nvSpPr>
        <p:spPr>
          <a:xfrm>
            <a:off x="685800" y="4206240"/>
            <a:ext cx="10515600" cy="914400"/>
          </a:xfrm>
          <a:prstGeom prst="rect">
            <a:avLst/>
          </a:prstGeom>
          <a:noFill/>
        </p:spPr>
        <p:txBody>
          <a:bodyPr wrap="square" anchor="t" lIns="0" rIns="0" tIns="0" bIns="0">
            <a:spAutoFit/>
          </a:bodyPr>
          <a:lstStyle/>
          <a:p>
            <a:pPr algn="l">
              <a:spcBef>
                <a:spcPts val="0"/>
              </a:spcBef>
              <a:spcAft>
                <a:spcPts val="0"/>
              </a:spcAft>
            </a:pPr>
            <a:r>
              <a:rPr sz="1500" b="0">
                <a:solidFill>
                  <a:srgbClr val="A9AFB6"/>
                </a:solidFill>
                <a:latin typeface="Calibri"/>
              </a:rPr>
              <a:t>What it is, how it is laid out, what each part shows, and what you can do in it. A companion to the full User Training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START HERE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What is Cortex Atlas?</a:t>
            </a:r>
          </a:p>
        </p:txBody>
      </p:sp>
      <p:sp>
        <p:nvSpPr>
          <p:cNvPr id="5" name="TextBox 4"/>
          <p:cNvSpPr txBox="1"/>
          <p:nvPr/>
        </p:nvSpPr>
        <p:spPr>
          <a:xfrm>
            <a:off x="685800" y="1828800"/>
            <a:ext cx="10820095" cy="914400"/>
          </a:xfrm>
          <a:prstGeom prst="rect">
            <a:avLst/>
          </a:prstGeom>
          <a:noFill/>
        </p:spPr>
        <p:txBody>
          <a:bodyPr wrap="square" anchor="t" lIns="0" rIns="0" tIns="0" bIns="0">
            <a:spAutoFit/>
          </a:bodyPr>
          <a:lstStyle/>
          <a:p>
            <a:pPr algn="l">
              <a:spcBef>
                <a:spcPts val="0"/>
              </a:spcBef>
              <a:spcAft>
                <a:spcPts val="800"/>
              </a:spcAft>
            </a:pPr>
            <a:r>
              <a:rPr sz="1800" b="1">
                <a:solidFill>
                  <a:srgbClr val="09131B"/>
                </a:solidFill>
                <a:latin typeface="Calibri"/>
              </a:rPr>
              <a:t>Cortex Atlas is one place to request, record, measure, source and govern the commercial data you buy.</a:t>
            </a:r>
          </a:p>
          <a:p>
            <a:pPr algn="l">
              <a:spcBef>
                <a:spcPts val="0"/>
              </a:spcBef>
              <a:spcAft>
                <a:spcPts val="0"/>
              </a:spcAft>
            </a:pPr>
            <a:r>
              <a:rPr sz="1400" b="0">
                <a:solidFill>
                  <a:srgbClr val="595959"/>
                </a:solidFill>
                <a:latin typeface="Calibri"/>
              </a:rPr>
              <a:t>It brings together the five tools you use today - the purchase request hub, the data catalogue, the KPI catalogue, the vendor hub and the third-party-agreement register - into a single connected workspace, so you no longer hop between separate SharePoint forms and lists.</a:t>
            </a:r>
          </a:p>
        </p:txBody>
      </p:sp>
      <p:sp>
        <p:nvSpPr>
          <p:cNvPr id="6" name="Rounded Rectangle 5"/>
          <p:cNvSpPr/>
          <p:nvPr/>
        </p:nvSpPr>
        <p:spPr>
          <a:xfrm>
            <a:off x="685800" y="3657600"/>
            <a:ext cx="2084831" cy="137160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3877056"/>
            <a:ext cx="1755647" cy="1005840"/>
          </a:xfrm>
          <a:prstGeom prst="rect">
            <a:avLst/>
          </a:prstGeom>
          <a:noFill/>
        </p:spPr>
        <p:txBody>
          <a:bodyPr wrap="square" anchor="t" lIns="0" rIns="0" tIns="0" bIns="0">
            <a:spAutoFit/>
          </a:bodyPr>
          <a:lstStyle/>
          <a:p>
            <a:pPr algn="l">
              <a:spcBef>
                <a:spcPts val="0"/>
              </a:spcBef>
              <a:spcAft>
                <a:spcPts val="400"/>
              </a:spcAft>
            </a:pPr>
            <a:r>
              <a:rPr sz="1400" b="1">
                <a:solidFill>
                  <a:srgbClr val="09131B"/>
                </a:solidFill>
                <a:latin typeface="Calibri"/>
              </a:rPr>
              <a:t>Request</a:t>
            </a:r>
          </a:p>
          <a:p>
            <a:pPr algn="l">
              <a:spcBef>
                <a:spcPts val="0"/>
              </a:spcBef>
              <a:spcAft>
                <a:spcPts val="0"/>
              </a:spcAft>
            </a:pPr>
            <a:r>
              <a:rPr sz="1150" b="0">
                <a:solidFill>
                  <a:srgbClr val="595959"/>
                </a:solidFill>
                <a:latin typeface="Calibri"/>
              </a:rPr>
              <a:t>Raise and approve a data purchase</a:t>
            </a:r>
          </a:p>
        </p:txBody>
      </p:sp>
      <p:sp>
        <p:nvSpPr>
          <p:cNvPr id="8" name="Rounded Rectangle 7"/>
          <p:cNvSpPr/>
          <p:nvPr/>
        </p:nvSpPr>
        <p:spPr>
          <a:xfrm>
            <a:off x="2862071" y="3657600"/>
            <a:ext cx="2084831" cy="137160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26663" y="3877056"/>
            <a:ext cx="1755647" cy="1005840"/>
          </a:xfrm>
          <a:prstGeom prst="rect">
            <a:avLst/>
          </a:prstGeom>
          <a:noFill/>
        </p:spPr>
        <p:txBody>
          <a:bodyPr wrap="square" anchor="t" lIns="0" rIns="0" tIns="0" bIns="0">
            <a:spAutoFit/>
          </a:bodyPr>
          <a:lstStyle/>
          <a:p>
            <a:pPr algn="l">
              <a:spcBef>
                <a:spcPts val="0"/>
              </a:spcBef>
              <a:spcAft>
                <a:spcPts val="400"/>
              </a:spcAft>
            </a:pPr>
            <a:r>
              <a:rPr sz="1400" b="1">
                <a:solidFill>
                  <a:srgbClr val="09131B"/>
                </a:solidFill>
                <a:latin typeface="Calibri"/>
              </a:rPr>
              <a:t>Catalogue</a:t>
            </a:r>
          </a:p>
          <a:p>
            <a:pPr algn="l">
              <a:spcBef>
                <a:spcPts val="0"/>
              </a:spcBef>
              <a:spcAft>
                <a:spcPts val="0"/>
              </a:spcAft>
            </a:pPr>
            <a:r>
              <a:rPr sz="1150" b="0">
                <a:solidFill>
                  <a:srgbClr val="595959"/>
                </a:solidFill>
                <a:latin typeface="Calibri"/>
              </a:rPr>
              <a:t>See everything already purchased</a:t>
            </a:r>
          </a:p>
        </p:txBody>
      </p:sp>
      <p:sp>
        <p:nvSpPr>
          <p:cNvPr id="10" name="Rounded Rectangle 9"/>
          <p:cNvSpPr/>
          <p:nvPr/>
        </p:nvSpPr>
        <p:spPr>
          <a:xfrm>
            <a:off x="5038342" y="3657600"/>
            <a:ext cx="2084831" cy="137160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02934" y="3877056"/>
            <a:ext cx="1755647" cy="1005840"/>
          </a:xfrm>
          <a:prstGeom prst="rect">
            <a:avLst/>
          </a:prstGeom>
          <a:noFill/>
        </p:spPr>
        <p:txBody>
          <a:bodyPr wrap="square" anchor="t" lIns="0" rIns="0" tIns="0" bIns="0">
            <a:spAutoFit/>
          </a:bodyPr>
          <a:lstStyle/>
          <a:p>
            <a:pPr algn="l">
              <a:spcBef>
                <a:spcPts val="0"/>
              </a:spcBef>
              <a:spcAft>
                <a:spcPts val="400"/>
              </a:spcAft>
            </a:pPr>
            <a:r>
              <a:rPr sz="1400" b="1">
                <a:solidFill>
                  <a:srgbClr val="09131B"/>
                </a:solidFill>
                <a:latin typeface="Calibri"/>
              </a:rPr>
              <a:t>Measure</a:t>
            </a:r>
          </a:p>
          <a:p>
            <a:pPr algn="l">
              <a:spcBef>
                <a:spcPts val="0"/>
              </a:spcBef>
              <a:spcAft>
                <a:spcPts val="0"/>
              </a:spcAft>
            </a:pPr>
            <a:r>
              <a:rPr sz="1150" b="0">
                <a:solidFill>
                  <a:srgbClr val="595959"/>
                </a:solidFill>
                <a:latin typeface="Calibri"/>
              </a:rPr>
              <a:t>Know which KPIs use which data</a:t>
            </a:r>
          </a:p>
        </p:txBody>
      </p:sp>
      <p:sp>
        <p:nvSpPr>
          <p:cNvPr id="12" name="Rounded Rectangle 11"/>
          <p:cNvSpPr/>
          <p:nvPr/>
        </p:nvSpPr>
        <p:spPr>
          <a:xfrm>
            <a:off x="7214613" y="3657600"/>
            <a:ext cx="2084831" cy="137160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9205" y="3877056"/>
            <a:ext cx="1755647" cy="1005840"/>
          </a:xfrm>
          <a:prstGeom prst="rect">
            <a:avLst/>
          </a:prstGeom>
          <a:noFill/>
        </p:spPr>
        <p:txBody>
          <a:bodyPr wrap="square" anchor="t" lIns="0" rIns="0" tIns="0" bIns="0">
            <a:spAutoFit/>
          </a:bodyPr>
          <a:lstStyle/>
          <a:p>
            <a:pPr algn="l">
              <a:spcBef>
                <a:spcPts val="0"/>
              </a:spcBef>
              <a:spcAft>
                <a:spcPts val="400"/>
              </a:spcAft>
            </a:pPr>
            <a:r>
              <a:rPr sz="1400" b="1">
                <a:solidFill>
                  <a:srgbClr val="09131B"/>
                </a:solidFill>
                <a:latin typeface="Calibri"/>
              </a:rPr>
              <a:t>Source</a:t>
            </a:r>
          </a:p>
          <a:p>
            <a:pPr algn="l">
              <a:spcBef>
                <a:spcPts val="0"/>
              </a:spcBef>
              <a:spcAft>
                <a:spcPts val="0"/>
              </a:spcAft>
            </a:pPr>
            <a:r>
              <a:rPr sz="1150" b="0">
                <a:solidFill>
                  <a:srgbClr val="595959"/>
                </a:solidFill>
                <a:latin typeface="Calibri"/>
              </a:rPr>
              <a:t>Know your vendors and leverage</a:t>
            </a:r>
          </a:p>
        </p:txBody>
      </p:sp>
      <p:sp>
        <p:nvSpPr>
          <p:cNvPr id="14" name="Rounded Rectangle 13"/>
          <p:cNvSpPr/>
          <p:nvPr/>
        </p:nvSpPr>
        <p:spPr>
          <a:xfrm>
            <a:off x="9390884" y="3657600"/>
            <a:ext cx="2084831" cy="137160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55476" y="3877056"/>
            <a:ext cx="1755647" cy="1005840"/>
          </a:xfrm>
          <a:prstGeom prst="rect">
            <a:avLst/>
          </a:prstGeom>
          <a:noFill/>
        </p:spPr>
        <p:txBody>
          <a:bodyPr wrap="square" anchor="t" lIns="0" rIns="0" tIns="0" bIns="0">
            <a:spAutoFit/>
          </a:bodyPr>
          <a:lstStyle/>
          <a:p>
            <a:pPr algn="l">
              <a:spcBef>
                <a:spcPts val="0"/>
              </a:spcBef>
              <a:spcAft>
                <a:spcPts val="400"/>
              </a:spcAft>
            </a:pPr>
            <a:r>
              <a:rPr sz="1400" b="1">
                <a:solidFill>
                  <a:srgbClr val="09131B"/>
                </a:solidFill>
                <a:latin typeface="Calibri"/>
              </a:rPr>
              <a:t>Govern</a:t>
            </a:r>
          </a:p>
          <a:p>
            <a:pPr algn="l">
              <a:spcBef>
                <a:spcPts val="0"/>
              </a:spcBef>
              <a:spcAft>
                <a:spcPts val="0"/>
              </a:spcAft>
            </a:pPr>
            <a:r>
              <a:rPr sz="1150" b="0">
                <a:solidFill>
                  <a:srgbClr val="595959"/>
                </a:solidFill>
                <a:latin typeface="Calibri"/>
              </a:rPr>
              <a:t>Track agreements and renewals</a:t>
            </a:r>
          </a:p>
        </p:txBody>
      </p:sp>
      <p:sp>
        <p:nvSpPr>
          <p:cNvPr id="16" name="Rectangle 15"/>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8" name="TextBox 17"/>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THE BIG IDEA</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One asset, five tools - all connected</a:t>
            </a:r>
          </a:p>
        </p:txBody>
      </p:sp>
      <p:sp>
        <p:nvSpPr>
          <p:cNvPr id="5" name="Rounded Rectangle 4"/>
          <p:cNvSpPr/>
          <p:nvPr/>
        </p:nvSpPr>
        <p:spPr>
          <a:xfrm>
            <a:off x="685800" y="2103120"/>
            <a:ext cx="1993392" cy="14630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2304288"/>
            <a:ext cx="1700784" cy="1097280"/>
          </a:xfrm>
          <a:prstGeom prst="rect">
            <a:avLst/>
          </a:prstGeom>
          <a:noFill/>
        </p:spPr>
        <p:txBody>
          <a:bodyPr wrap="square" anchor="t" lIns="0" rIns="0" tIns="0" bIns="0">
            <a:spAutoFit/>
          </a:bodyPr>
          <a:lstStyle/>
          <a:p>
            <a:pPr algn="l">
              <a:spcBef>
                <a:spcPts val="0"/>
              </a:spcBef>
              <a:spcAft>
                <a:spcPts val="500"/>
              </a:spcAft>
            </a:pPr>
            <a:r>
              <a:rPr sz="1350" b="1">
                <a:solidFill>
                  <a:srgbClr val="09131B"/>
                </a:solidFill>
                <a:latin typeface="Calibri"/>
              </a:rPr>
              <a:t>Data Requests</a:t>
            </a:r>
          </a:p>
          <a:p>
            <a:pPr algn="l">
              <a:spcBef>
                <a:spcPts val="0"/>
              </a:spcBef>
              <a:spcAft>
                <a:spcPts val="0"/>
              </a:spcAft>
            </a:pPr>
            <a:r>
              <a:rPr sz="1150" b="0">
                <a:solidFill>
                  <a:srgbClr val="595959"/>
                </a:solidFill>
                <a:latin typeface="Calibri"/>
              </a:rPr>
              <a:t>you raise a request</a:t>
            </a:r>
          </a:p>
        </p:txBody>
      </p:sp>
      <p:sp>
        <p:nvSpPr>
          <p:cNvPr id="7" name="TextBox 6"/>
          <p:cNvSpPr txBox="1"/>
          <p:nvPr/>
        </p:nvSpPr>
        <p:spPr>
          <a:xfrm>
            <a:off x="2679192" y="2560320"/>
            <a:ext cx="146304" cy="457200"/>
          </a:xfrm>
          <a:prstGeom prst="rect">
            <a:avLst/>
          </a:prstGeom>
          <a:noFill/>
        </p:spPr>
        <p:txBody>
          <a:bodyPr wrap="square" anchor="ctr" lIns="0" rIns="0" tIns="0" bIns="0">
            <a:spAutoFit/>
          </a:bodyPr>
          <a:lstStyle/>
          <a:p>
            <a:pPr algn="ctr">
              <a:spcBef>
                <a:spcPts val="0"/>
              </a:spcBef>
              <a:spcAft>
                <a:spcPts val="0"/>
              </a:spcAft>
            </a:pPr>
            <a:r>
              <a:rPr sz="1600" b="1">
                <a:solidFill>
                  <a:srgbClr val="F89739"/>
                </a:solidFill>
                <a:latin typeface="Calibri"/>
              </a:rPr>
              <a:t>&gt;</a:t>
            </a:r>
          </a:p>
        </p:txBody>
      </p:sp>
      <p:sp>
        <p:nvSpPr>
          <p:cNvPr id="8" name="Rounded Rectangle 7"/>
          <p:cNvSpPr/>
          <p:nvPr/>
        </p:nvSpPr>
        <p:spPr>
          <a:xfrm>
            <a:off x="2825496" y="2103120"/>
            <a:ext cx="1993392" cy="14630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2304288"/>
            <a:ext cx="1700784" cy="1097280"/>
          </a:xfrm>
          <a:prstGeom prst="rect">
            <a:avLst/>
          </a:prstGeom>
          <a:noFill/>
        </p:spPr>
        <p:txBody>
          <a:bodyPr wrap="square" anchor="t" lIns="0" rIns="0" tIns="0" bIns="0">
            <a:spAutoFit/>
          </a:bodyPr>
          <a:lstStyle/>
          <a:p>
            <a:pPr algn="l">
              <a:spcBef>
                <a:spcPts val="0"/>
              </a:spcBef>
              <a:spcAft>
                <a:spcPts val="500"/>
              </a:spcAft>
            </a:pPr>
            <a:r>
              <a:rPr sz="1350" b="1">
                <a:solidFill>
                  <a:srgbClr val="09131B"/>
                </a:solidFill>
                <a:latin typeface="Calibri"/>
              </a:rPr>
              <a:t>Data Catalogue</a:t>
            </a:r>
          </a:p>
          <a:p>
            <a:pPr algn="l">
              <a:spcBef>
                <a:spcPts val="0"/>
              </a:spcBef>
              <a:spcAft>
                <a:spcPts val="0"/>
              </a:spcAft>
            </a:pPr>
            <a:r>
              <a:rPr sz="1150" b="0">
                <a:solidFill>
                  <a:srgbClr val="595959"/>
                </a:solidFill>
                <a:latin typeface="Calibri"/>
              </a:rPr>
              <a:t>it becomes a record</a:t>
            </a:r>
          </a:p>
        </p:txBody>
      </p:sp>
      <p:sp>
        <p:nvSpPr>
          <p:cNvPr id="10" name="TextBox 9"/>
          <p:cNvSpPr txBox="1"/>
          <p:nvPr/>
        </p:nvSpPr>
        <p:spPr>
          <a:xfrm>
            <a:off x="4818888" y="2560320"/>
            <a:ext cx="146304" cy="457200"/>
          </a:xfrm>
          <a:prstGeom prst="rect">
            <a:avLst/>
          </a:prstGeom>
          <a:noFill/>
        </p:spPr>
        <p:txBody>
          <a:bodyPr wrap="square" anchor="ctr" lIns="0" rIns="0" tIns="0" bIns="0">
            <a:spAutoFit/>
          </a:bodyPr>
          <a:lstStyle/>
          <a:p>
            <a:pPr algn="ctr">
              <a:spcBef>
                <a:spcPts val="0"/>
              </a:spcBef>
              <a:spcAft>
                <a:spcPts val="0"/>
              </a:spcAft>
            </a:pPr>
            <a:r>
              <a:rPr sz="1600" b="1">
                <a:solidFill>
                  <a:srgbClr val="F89739"/>
                </a:solidFill>
                <a:latin typeface="Calibri"/>
              </a:rPr>
              <a:t>&gt;</a:t>
            </a:r>
          </a:p>
        </p:txBody>
      </p:sp>
      <p:sp>
        <p:nvSpPr>
          <p:cNvPr id="11" name="Rounded Rectangle 10"/>
          <p:cNvSpPr/>
          <p:nvPr/>
        </p:nvSpPr>
        <p:spPr>
          <a:xfrm>
            <a:off x="4965192" y="2103120"/>
            <a:ext cx="1993392" cy="14630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1496" y="2304288"/>
            <a:ext cx="1700784" cy="1097280"/>
          </a:xfrm>
          <a:prstGeom prst="rect">
            <a:avLst/>
          </a:prstGeom>
          <a:noFill/>
        </p:spPr>
        <p:txBody>
          <a:bodyPr wrap="square" anchor="t" lIns="0" rIns="0" tIns="0" bIns="0">
            <a:spAutoFit/>
          </a:bodyPr>
          <a:lstStyle/>
          <a:p>
            <a:pPr algn="l">
              <a:spcBef>
                <a:spcPts val="0"/>
              </a:spcBef>
              <a:spcAft>
                <a:spcPts val="500"/>
              </a:spcAft>
            </a:pPr>
            <a:r>
              <a:rPr sz="1350" b="1">
                <a:solidFill>
                  <a:srgbClr val="09131B"/>
                </a:solidFill>
                <a:latin typeface="Calibri"/>
              </a:rPr>
              <a:t>KPI Catalogue</a:t>
            </a:r>
          </a:p>
          <a:p>
            <a:pPr algn="l">
              <a:spcBef>
                <a:spcPts val="0"/>
              </a:spcBef>
              <a:spcAft>
                <a:spcPts val="0"/>
              </a:spcAft>
            </a:pPr>
            <a:r>
              <a:rPr sz="1150" b="0">
                <a:solidFill>
                  <a:srgbClr val="595959"/>
                </a:solidFill>
                <a:latin typeface="Calibri"/>
              </a:rPr>
              <a:t>KPIs measure it</a:t>
            </a:r>
          </a:p>
        </p:txBody>
      </p:sp>
      <p:sp>
        <p:nvSpPr>
          <p:cNvPr id="13" name="TextBox 12"/>
          <p:cNvSpPr txBox="1"/>
          <p:nvPr/>
        </p:nvSpPr>
        <p:spPr>
          <a:xfrm>
            <a:off x="6958584" y="2560320"/>
            <a:ext cx="146304" cy="457200"/>
          </a:xfrm>
          <a:prstGeom prst="rect">
            <a:avLst/>
          </a:prstGeom>
          <a:noFill/>
        </p:spPr>
        <p:txBody>
          <a:bodyPr wrap="square" anchor="ctr" lIns="0" rIns="0" tIns="0" bIns="0">
            <a:spAutoFit/>
          </a:bodyPr>
          <a:lstStyle/>
          <a:p>
            <a:pPr algn="ctr">
              <a:spcBef>
                <a:spcPts val="0"/>
              </a:spcBef>
              <a:spcAft>
                <a:spcPts val="0"/>
              </a:spcAft>
            </a:pPr>
            <a:r>
              <a:rPr sz="1600" b="1">
                <a:solidFill>
                  <a:srgbClr val="F89739"/>
                </a:solidFill>
                <a:latin typeface="Calibri"/>
              </a:rPr>
              <a:t>&gt;</a:t>
            </a:r>
          </a:p>
        </p:txBody>
      </p:sp>
      <p:sp>
        <p:nvSpPr>
          <p:cNvPr id="14" name="Rounded Rectangle 13"/>
          <p:cNvSpPr/>
          <p:nvPr/>
        </p:nvSpPr>
        <p:spPr>
          <a:xfrm>
            <a:off x="7104888" y="2103120"/>
            <a:ext cx="1993392" cy="14630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51192" y="2304288"/>
            <a:ext cx="1700784" cy="1097280"/>
          </a:xfrm>
          <a:prstGeom prst="rect">
            <a:avLst/>
          </a:prstGeom>
          <a:noFill/>
        </p:spPr>
        <p:txBody>
          <a:bodyPr wrap="square" anchor="t" lIns="0" rIns="0" tIns="0" bIns="0">
            <a:spAutoFit/>
          </a:bodyPr>
          <a:lstStyle/>
          <a:p>
            <a:pPr algn="l">
              <a:spcBef>
                <a:spcPts val="0"/>
              </a:spcBef>
              <a:spcAft>
                <a:spcPts val="500"/>
              </a:spcAft>
            </a:pPr>
            <a:r>
              <a:rPr sz="1350" b="1">
                <a:solidFill>
                  <a:srgbClr val="09131B"/>
                </a:solidFill>
                <a:latin typeface="Calibri"/>
              </a:rPr>
              <a:t>Vendor Hub</a:t>
            </a:r>
          </a:p>
          <a:p>
            <a:pPr algn="l">
              <a:spcBef>
                <a:spcPts val="0"/>
              </a:spcBef>
              <a:spcAft>
                <a:spcPts val="0"/>
              </a:spcAft>
            </a:pPr>
            <a:r>
              <a:rPr sz="1150" b="0">
                <a:solidFill>
                  <a:srgbClr val="595959"/>
                </a:solidFill>
                <a:latin typeface="Calibri"/>
              </a:rPr>
              <a:t>a vendor supplies it</a:t>
            </a:r>
          </a:p>
        </p:txBody>
      </p:sp>
      <p:sp>
        <p:nvSpPr>
          <p:cNvPr id="16" name="TextBox 15"/>
          <p:cNvSpPr txBox="1"/>
          <p:nvPr/>
        </p:nvSpPr>
        <p:spPr>
          <a:xfrm>
            <a:off x="9098280" y="2560320"/>
            <a:ext cx="146304" cy="457200"/>
          </a:xfrm>
          <a:prstGeom prst="rect">
            <a:avLst/>
          </a:prstGeom>
          <a:noFill/>
        </p:spPr>
        <p:txBody>
          <a:bodyPr wrap="square" anchor="ctr" lIns="0" rIns="0" tIns="0" bIns="0">
            <a:spAutoFit/>
          </a:bodyPr>
          <a:lstStyle/>
          <a:p>
            <a:pPr algn="ctr">
              <a:spcBef>
                <a:spcPts val="0"/>
              </a:spcBef>
              <a:spcAft>
                <a:spcPts val="0"/>
              </a:spcAft>
            </a:pPr>
            <a:r>
              <a:rPr sz="1600" b="1">
                <a:solidFill>
                  <a:srgbClr val="F89739"/>
                </a:solidFill>
                <a:latin typeface="Calibri"/>
              </a:rPr>
              <a:t>&gt;</a:t>
            </a:r>
          </a:p>
        </p:txBody>
      </p:sp>
      <p:sp>
        <p:nvSpPr>
          <p:cNvPr id="17" name="Rounded Rectangle 16"/>
          <p:cNvSpPr/>
          <p:nvPr/>
        </p:nvSpPr>
        <p:spPr>
          <a:xfrm>
            <a:off x="9244584" y="2103120"/>
            <a:ext cx="1993392" cy="14630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90888" y="2304288"/>
            <a:ext cx="1700784" cy="1097280"/>
          </a:xfrm>
          <a:prstGeom prst="rect">
            <a:avLst/>
          </a:prstGeom>
          <a:noFill/>
        </p:spPr>
        <p:txBody>
          <a:bodyPr wrap="square" anchor="t" lIns="0" rIns="0" tIns="0" bIns="0">
            <a:spAutoFit/>
          </a:bodyPr>
          <a:lstStyle/>
          <a:p>
            <a:pPr algn="l">
              <a:spcBef>
                <a:spcPts val="0"/>
              </a:spcBef>
              <a:spcAft>
                <a:spcPts val="500"/>
              </a:spcAft>
            </a:pPr>
            <a:r>
              <a:rPr sz="1350" b="1">
                <a:solidFill>
                  <a:srgbClr val="09131B"/>
                </a:solidFill>
                <a:latin typeface="Calibri"/>
              </a:rPr>
              <a:t>TPA Hub</a:t>
            </a:r>
          </a:p>
          <a:p>
            <a:pPr algn="l">
              <a:spcBef>
                <a:spcPts val="0"/>
              </a:spcBef>
              <a:spcAft>
                <a:spcPts val="0"/>
              </a:spcAft>
            </a:pPr>
            <a:r>
              <a:rPr sz="1150" b="0">
                <a:solidFill>
                  <a:srgbClr val="595959"/>
                </a:solidFill>
                <a:latin typeface="Calibri"/>
              </a:rPr>
              <a:t>an agreement governs it</a:t>
            </a:r>
          </a:p>
        </p:txBody>
      </p:sp>
      <p:sp>
        <p:nvSpPr>
          <p:cNvPr id="19" name="TextBox 18"/>
          <p:cNvSpPr txBox="1"/>
          <p:nvPr/>
        </p:nvSpPr>
        <p:spPr>
          <a:xfrm>
            <a:off x="685800" y="3931920"/>
            <a:ext cx="10820095" cy="1097280"/>
          </a:xfrm>
          <a:prstGeom prst="rect">
            <a:avLst/>
          </a:prstGeom>
          <a:noFill/>
        </p:spPr>
        <p:txBody>
          <a:bodyPr wrap="square" anchor="t" lIns="0" rIns="0" tIns="0" bIns="0">
            <a:spAutoFit/>
          </a:bodyPr>
          <a:lstStyle/>
          <a:p>
            <a:pPr algn="l">
              <a:spcBef>
                <a:spcPts val="0"/>
              </a:spcBef>
              <a:spcAft>
                <a:spcPts val="700"/>
              </a:spcAft>
            </a:pPr>
            <a:r>
              <a:rPr sz="1600" b="1">
                <a:solidFill>
                  <a:srgbClr val="09131B"/>
                </a:solidFill>
                <a:latin typeface="Calibri"/>
              </a:rPr>
              <a:t>Because the five are connected, everything links to everything</a:t>
            </a:r>
            <a:r>
              <a:rPr sz="1350" b="1">
                <a:solidFill>
                  <a:srgbClr val="F89739"/>
                </a:solidFill>
                <a:latin typeface="Calibri"/>
              </a:rPr>
              <a:t>-  </a:t>
            </a:r>
            <a:r>
              <a:rPr sz="1350" b="1">
                <a:solidFill>
                  <a:srgbClr val="09131B"/>
                </a:solidFill>
                <a:latin typeface="Calibri"/>
              </a:rPr>
              <a:t>From a request,  </a:t>
            </a:r>
            <a:r>
              <a:rPr sz="1350">
                <a:solidFill>
                  <a:srgbClr val="595959"/>
                </a:solidFill>
                <a:latin typeface="Calibri"/>
              </a:rPr>
              <a:t>jump to the catalogue entry it creates.</a:t>
            </a:r>
          </a:p>
          <a:p>
            <a:pPr algn="l">
              <a:spcBef>
                <a:spcPts val="0"/>
              </a:spcBef>
              <a:spcAft>
                <a:spcPts val="700"/>
              </a:spcAft>
            </a:pPr>
            <a:r>
              <a:rPr sz="1350" b="1">
                <a:solidFill>
                  <a:srgbClr val="F89739"/>
                </a:solidFill>
                <a:latin typeface="Calibri"/>
              </a:rPr>
              <a:t>-  </a:t>
            </a:r>
            <a:r>
              <a:rPr sz="1350" b="1">
                <a:solidFill>
                  <a:srgbClr val="09131B"/>
                </a:solidFill>
                <a:latin typeface="Calibri"/>
              </a:rPr>
              <a:t>From an asset,  </a:t>
            </a:r>
            <a:r>
              <a:rPr sz="1350">
                <a:solidFill>
                  <a:srgbClr val="595959"/>
                </a:solidFill>
                <a:latin typeface="Calibri"/>
              </a:rPr>
              <a:t>jump to its KPIs, its vendor and its agreement.</a:t>
            </a:r>
          </a:p>
          <a:p>
            <a:pPr algn="l">
              <a:spcBef>
                <a:spcPts val="0"/>
              </a:spcBef>
              <a:spcAft>
                <a:spcPts val="700"/>
              </a:spcAft>
            </a:pPr>
            <a:r>
              <a:rPr sz="1350" b="1">
                <a:solidFill>
                  <a:srgbClr val="F89739"/>
                </a:solidFill>
                <a:latin typeface="Calibri"/>
              </a:rPr>
              <a:t>-  </a:t>
            </a:r>
            <a:r>
              <a:rPr sz="1350" b="1">
                <a:solidFill>
                  <a:srgbClr val="09131B"/>
                </a:solidFill>
                <a:latin typeface="Calibri"/>
              </a:rPr>
              <a:t>From a KPI,  </a:t>
            </a:r>
            <a:r>
              <a:rPr sz="1350">
                <a:solidFill>
                  <a:srgbClr val="595959"/>
                </a:solidFill>
                <a:latin typeface="Calibri"/>
              </a:rPr>
              <a:t>trace the exact asset and vendor behind the number.</a:t>
            </a:r>
          </a:p>
          <a:p>
            <a:pPr algn="l">
              <a:spcBef>
                <a:spcPts val="0"/>
              </a:spcBef>
              <a:spcAft>
                <a:spcPts val="700"/>
              </a:spcAft>
            </a:pPr>
            <a:r>
              <a:rPr sz="1350" b="1">
                <a:solidFill>
                  <a:srgbClr val="F89739"/>
                </a:solidFill>
                <a:latin typeface="Calibri"/>
              </a:rPr>
              <a:t>-  </a:t>
            </a:r>
            <a:r>
              <a:rPr sz="1350" b="1">
                <a:solidFill>
                  <a:srgbClr val="09131B"/>
                </a:solidFill>
                <a:latin typeface="Calibri"/>
              </a:rPr>
              <a:t>From an agreement,  </a:t>
            </a:r>
            <a:r>
              <a:rPr sz="1350">
                <a:solidFill>
                  <a:srgbClr val="595959"/>
                </a:solidFill>
                <a:latin typeface="Calibri"/>
              </a:rPr>
              <a:t>see the asset and the strategic KPI that depend on it.</a:t>
            </a:r>
          </a:p>
        </p:txBody>
      </p:sp>
      <p:sp>
        <p:nvSpPr>
          <p:cNvPr id="20" name="Rectangle 1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22" name="TextBox 2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HOW IT IS LAID OUT</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The screen, at a glance</a:t>
            </a:r>
          </a:p>
        </p:txBody>
      </p:sp>
      <p:sp>
        <p:nvSpPr>
          <p:cNvPr id="5" name="Rounded Rectangle 4"/>
          <p:cNvSpPr/>
          <p:nvPr/>
        </p:nvSpPr>
        <p:spPr>
          <a:xfrm>
            <a:off x="685800" y="1828800"/>
            <a:ext cx="7498079" cy="4206240"/>
          </a:xfrm>
          <a:prstGeom prst="roundRect">
            <a:avLst>
              <a:gd name="adj" fmla="val 3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28800"/>
            <a:ext cx="7498079" cy="457200"/>
          </a:xfrm>
          <a:prstGeom prst="roundRect">
            <a:avLst>
              <a:gd name="adj" fmla="val 4000"/>
            </a:avLst>
          </a:prstGeom>
          <a:solidFill>
            <a:srgbClr val="091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28800"/>
            <a:ext cx="3657600" cy="457200"/>
          </a:xfrm>
          <a:prstGeom prst="rect">
            <a:avLst/>
          </a:prstGeom>
          <a:noFill/>
        </p:spPr>
        <p:txBody>
          <a:bodyPr wrap="square" anchor="ctr" lIns="0" rIns="0" tIns="0" bIns="0">
            <a:spAutoFit/>
          </a:bodyPr>
          <a:lstStyle/>
          <a:p>
            <a:pPr algn="l">
              <a:spcBef>
                <a:spcPts val="0"/>
              </a:spcBef>
              <a:spcAft>
                <a:spcPts val="0"/>
              </a:spcAft>
            </a:pPr>
            <a:r>
              <a:rPr sz="1000" b="1">
                <a:solidFill>
                  <a:srgbClr val="FFFFFF"/>
                </a:solidFill>
                <a:latin typeface="Calibri"/>
              </a:rPr>
              <a:t>Suite   Cortex Atlas</a:t>
            </a:r>
          </a:p>
        </p:txBody>
      </p:sp>
      <p:sp>
        <p:nvSpPr>
          <p:cNvPr id="8" name="Rounded Rectangle 7"/>
          <p:cNvSpPr/>
          <p:nvPr/>
        </p:nvSpPr>
        <p:spPr>
          <a:xfrm>
            <a:off x="6355079" y="1938528"/>
            <a:ext cx="914400" cy="237744"/>
          </a:xfrm>
          <a:prstGeom prst="roundRect">
            <a:avLst>
              <a:gd name="adj" fmla="val 40000"/>
            </a:avLst>
          </a:prstGeom>
          <a:solidFill>
            <a:srgbClr val="0E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938528"/>
            <a:ext cx="914400" cy="237744"/>
          </a:xfrm>
          <a:prstGeom prst="rect">
            <a:avLst/>
          </a:prstGeom>
          <a:noFill/>
        </p:spPr>
        <p:txBody>
          <a:bodyPr wrap="square" anchor="ctr" lIns="0" rIns="0" tIns="0" bIns="0">
            <a:spAutoFit/>
          </a:bodyPr>
          <a:lstStyle/>
          <a:p>
            <a:pPr algn="ctr">
              <a:spcBef>
                <a:spcPts val="0"/>
              </a:spcBef>
              <a:spcAft>
                <a:spcPts val="0"/>
              </a:spcAft>
            </a:pPr>
            <a:r>
              <a:rPr sz="850" b="1">
                <a:solidFill>
                  <a:srgbClr val="A9AFB6"/>
                </a:solidFill>
                <a:latin typeface="Calibri"/>
              </a:rPr>
              <a:t>Filters</a:t>
            </a:r>
          </a:p>
        </p:txBody>
      </p:sp>
      <p:sp>
        <p:nvSpPr>
          <p:cNvPr id="10" name="Rectangle 9"/>
          <p:cNvSpPr/>
          <p:nvPr/>
        </p:nvSpPr>
        <p:spPr>
          <a:xfrm>
            <a:off x="685800" y="2286000"/>
            <a:ext cx="1737360" cy="3749040"/>
          </a:xfrm>
          <a:prstGeom prst="rect">
            <a:avLst/>
          </a:prstGeom>
          <a:solidFill>
            <a:srgbClr val="0E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23160"/>
            <a:ext cx="1554480" cy="3291840"/>
          </a:xfrm>
          <a:prstGeom prst="rect">
            <a:avLst/>
          </a:prstGeom>
          <a:noFill/>
        </p:spPr>
        <p:txBody>
          <a:bodyPr wrap="square" anchor="t" lIns="0" rIns="0" tIns="0" bIns="0">
            <a:spAutoFit/>
          </a:bodyPr>
          <a:lstStyle/>
          <a:p>
            <a:pPr algn="l">
              <a:spcBef>
                <a:spcPts val="0"/>
              </a:spcBef>
              <a:spcAft>
                <a:spcPts val="600"/>
              </a:spcAft>
            </a:pPr>
            <a:r>
              <a:rPr sz="950" b="1">
                <a:solidFill>
                  <a:srgbClr val="F89739"/>
                </a:solidFill>
                <a:latin typeface="Calibri"/>
              </a:rPr>
              <a:t>Command Centre</a:t>
            </a:r>
          </a:p>
          <a:p>
            <a:pPr algn="l">
              <a:spcBef>
                <a:spcPts val="0"/>
              </a:spcBef>
              <a:spcAft>
                <a:spcPts val="600"/>
              </a:spcAft>
            </a:pPr>
            <a:r>
              <a:rPr sz="950" b="0">
                <a:solidFill>
                  <a:srgbClr val="C7CCD3"/>
                </a:solidFill>
                <a:latin typeface="Calibri"/>
              </a:rPr>
              <a:t>Data Requests</a:t>
            </a:r>
          </a:p>
          <a:p>
            <a:pPr algn="l">
              <a:spcBef>
                <a:spcPts val="0"/>
              </a:spcBef>
              <a:spcAft>
                <a:spcPts val="600"/>
              </a:spcAft>
            </a:pPr>
            <a:r>
              <a:rPr sz="950" b="0">
                <a:solidFill>
                  <a:srgbClr val="C7CCD3"/>
                </a:solidFill>
                <a:latin typeface="Calibri"/>
              </a:rPr>
              <a:t>Data Catalogue</a:t>
            </a:r>
          </a:p>
          <a:p>
            <a:pPr algn="l">
              <a:spcBef>
                <a:spcPts val="0"/>
              </a:spcBef>
              <a:spcAft>
                <a:spcPts val="600"/>
              </a:spcAft>
            </a:pPr>
            <a:r>
              <a:rPr sz="950" b="0">
                <a:solidFill>
                  <a:srgbClr val="C7CCD3"/>
                </a:solidFill>
                <a:latin typeface="Calibri"/>
              </a:rPr>
              <a:t>KPI Catalogue</a:t>
            </a:r>
          </a:p>
          <a:p>
            <a:pPr algn="l">
              <a:spcBef>
                <a:spcPts val="0"/>
              </a:spcBef>
              <a:spcAft>
                <a:spcPts val="600"/>
              </a:spcAft>
            </a:pPr>
            <a:r>
              <a:rPr sz="950" b="0">
                <a:solidFill>
                  <a:srgbClr val="C7CCD3"/>
                </a:solidFill>
                <a:latin typeface="Calibri"/>
              </a:rPr>
              <a:t>Vendor Hub</a:t>
            </a:r>
          </a:p>
          <a:p>
            <a:pPr algn="l">
              <a:spcBef>
                <a:spcPts val="0"/>
              </a:spcBef>
              <a:spcAft>
                <a:spcPts val="600"/>
              </a:spcAft>
            </a:pPr>
            <a:r>
              <a:rPr sz="950" b="0">
                <a:solidFill>
                  <a:srgbClr val="C7CCD3"/>
                </a:solidFill>
                <a:latin typeface="Calibri"/>
              </a:rPr>
              <a:t>TPA Hub</a:t>
            </a:r>
          </a:p>
          <a:p>
            <a:pPr algn="l">
              <a:spcBef>
                <a:spcPts val="0"/>
              </a:spcBef>
              <a:spcAft>
                <a:spcPts val="600"/>
              </a:spcAft>
            </a:pPr>
            <a:r>
              <a:rPr sz="950" b="0">
                <a:solidFill>
                  <a:srgbClr val="C7CCD3"/>
                </a:solidFill>
                <a:latin typeface="Calibri"/>
              </a:rPr>
              <a:t>Vendor Hub Plus</a:t>
            </a:r>
          </a:p>
        </p:txBody>
      </p:sp>
      <p:sp>
        <p:nvSpPr>
          <p:cNvPr id="12" name="Rounded Rectangle 11"/>
          <p:cNvSpPr/>
          <p:nvPr/>
        </p:nvSpPr>
        <p:spPr>
          <a:xfrm>
            <a:off x="2606040" y="2468880"/>
            <a:ext cx="5349239" cy="960120"/>
          </a:xfrm>
          <a:prstGeom prst="roundRect">
            <a:avLst>
              <a:gd name="adj" fmla="val 6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606040" y="3611880"/>
            <a:ext cx="5349239" cy="960120"/>
          </a:xfrm>
          <a:prstGeom prst="roundRect">
            <a:avLst>
              <a:gd name="adj" fmla="val 6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606040" y="4754880"/>
            <a:ext cx="5349239" cy="960120"/>
          </a:xfrm>
          <a:prstGeom prst="roundRect">
            <a:avLst>
              <a:gd name="adj" fmla="val 6000"/>
            </a:avLst>
          </a:prstGeom>
          <a:solidFill>
            <a:srgbClr val="F4F4F4"/>
          </a:solidFill>
          <a:ln w="9525">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2542032"/>
            <a:ext cx="3657600" cy="274320"/>
          </a:xfrm>
          <a:prstGeom prst="rect">
            <a:avLst/>
          </a:prstGeom>
          <a:noFill/>
        </p:spPr>
        <p:txBody>
          <a:bodyPr wrap="square" anchor="t" lIns="0" rIns="0" tIns="0" bIns="0">
            <a:spAutoFit/>
          </a:bodyPr>
          <a:lstStyle/>
          <a:p>
            <a:pPr algn="l">
              <a:spcBef>
                <a:spcPts val="0"/>
              </a:spcBef>
              <a:spcAft>
                <a:spcPts val="0"/>
              </a:spcAft>
            </a:pPr>
            <a:r>
              <a:rPr sz="950" b="1">
                <a:solidFill>
                  <a:srgbClr val="595959"/>
                </a:solidFill>
                <a:latin typeface="Calibri"/>
              </a:rPr>
              <a:t>Working surface - tiles, charts, tables</a:t>
            </a:r>
          </a:p>
        </p:txBody>
      </p:sp>
      <p:sp>
        <p:nvSpPr>
          <p:cNvPr id="16" name="Rectangle 15"/>
          <p:cNvSpPr/>
          <p:nvPr/>
        </p:nvSpPr>
        <p:spPr>
          <a:xfrm>
            <a:off x="5897879" y="2286000"/>
            <a:ext cx="2286000" cy="3749040"/>
          </a:xfrm>
          <a:prstGeom prst="rect">
            <a:avLst/>
          </a:prstGeom>
          <a:solidFill>
            <a:srgbClr val="FFFFFF"/>
          </a:solidFill>
          <a:ln w="15875">
            <a:solidFill>
              <a:srgbClr val="F89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19" y="2395728"/>
            <a:ext cx="2103120" cy="365760"/>
          </a:xfrm>
          <a:prstGeom prst="rect">
            <a:avLst/>
          </a:prstGeom>
          <a:noFill/>
        </p:spPr>
        <p:txBody>
          <a:bodyPr wrap="square" anchor="t" lIns="0" rIns="0" tIns="0" bIns="0">
            <a:spAutoFit/>
          </a:bodyPr>
          <a:lstStyle/>
          <a:p>
            <a:pPr algn="l">
              <a:spcBef>
                <a:spcPts val="0"/>
              </a:spcBef>
              <a:spcAft>
                <a:spcPts val="0"/>
              </a:spcAft>
            </a:pPr>
            <a:r>
              <a:rPr sz="950" b="1">
                <a:solidFill>
                  <a:srgbClr val="9A5C12"/>
                </a:solidFill>
                <a:latin typeface="Calibri"/>
              </a:rPr>
              <a:t>Detail drawer</a:t>
            </a:r>
          </a:p>
        </p:txBody>
      </p:sp>
      <p:sp>
        <p:nvSpPr>
          <p:cNvPr id="18" name="TextBox 17"/>
          <p:cNvSpPr txBox="1"/>
          <p:nvPr/>
        </p:nvSpPr>
        <p:spPr>
          <a:xfrm>
            <a:off x="8458200" y="1874519"/>
            <a:ext cx="3291840" cy="86868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Top bar</a:t>
            </a:r>
          </a:p>
          <a:p>
            <a:pPr algn="l">
              <a:spcBef>
                <a:spcPts val="0"/>
              </a:spcBef>
              <a:spcAft>
                <a:spcPts val="0"/>
              </a:spcAft>
            </a:pPr>
            <a:r>
              <a:rPr sz="1050" b="0">
                <a:solidFill>
                  <a:srgbClr val="595959"/>
                </a:solidFill>
                <a:latin typeface="Calibri"/>
              </a:rPr>
              <a:t>module title, Live badge, and the Division / Financial-Year filters that apply everywhere.</a:t>
            </a:r>
          </a:p>
        </p:txBody>
      </p:sp>
      <p:sp>
        <p:nvSpPr>
          <p:cNvPr id="19" name="TextBox 18"/>
          <p:cNvSpPr txBox="1"/>
          <p:nvPr/>
        </p:nvSpPr>
        <p:spPr>
          <a:xfrm>
            <a:off x="8458200" y="2715767"/>
            <a:ext cx="3291840" cy="86868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Left navigation</a:t>
            </a:r>
          </a:p>
          <a:p>
            <a:pPr algn="l">
              <a:spcBef>
                <a:spcPts val="0"/>
              </a:spcBef>
              <a:spcAft>
                <a:spcPts val="0"/>
              </a:spcAft>
            </a:pPr>
            <a:r>
              <a:rPr sz="1050" b="0">
                <a:solidFill>
                  <a:srgbClr val="595959"/>
                </a:solidFill>
                <a:latin typeface="Calibri"/>
              </a:rPr>
              <a:t>grouped into Command Centre, The Estate (the 5 tools) and Intelligence.</a:t>
            </a:r>
          </a:p>
        </p:txBody>
      </p:sp>
      <p:sp>
        <p:nvSpPr>
          <p:cNvPr id="20" name="TextBox 19"/>
          <p:cNvSpPr txBox="1"/>
          <p:nvPr/>
        </p:nvSpPr>
        <p:spPr>
          <a:xfrm>
            <a:off x="8458200" y="3557015"/>
            <a:ext cx="3291840" cy="86868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Working surface</a:t>
            </a:r>
          </a:p>
          <a:p>
            <a:pPr algn="l">
              <a:spcBef>
                <a:spcPts val="0"/>
              </a:spcBef>
              <a:spcAft>
                <a:spcPts val="0"/>
              </a:spcAft>
            </a:pPr>
            <a:r>
              <a:rPr sz="1050" b="0">
                <a:solidFill>
                  <a:srgbClr val="595959"/>
                </a:solidFill>
                <a:latin typeface="Calibri"/>
              </a:rPr>
              <a:t>KPI tiles, charts and tables for the module you are in.</a:t>
            </a:r>
          </a:p>
        </p:txBody>
      </p:sp>
      <p:sp>
        <p:nvSpPr>
          <p:cNvPr id="21" name="TextBox 20"/>
          <p:cNvSpPr txBox="1"/>
          <p:nvPr/>
        </p:nvSpPr>
        <p:spPr>
          <a:xfrm>
            <a:off x="8458200" y="4398263"/>
            <a:ext cx="3291840" cy="86868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Detail drawer</a:t>
            </a:r>
          </a:p>
          <a:p>
            <a:pPr algn="l">
              <a:spcBef>
                <a:spcPts val="0"/>
              </a:spcBef>
              <a:spcAft>
                <a:spcPts val="0"/>
              </a:spcAft>
            </a:pPr>
            <a:r>
              <a:rPr sz="1050" b="0">
                <a:solidFill>
                  <a:srgbClr val="595959"/>
                </a:solidFill>
                <a:latin typeface="Calibri"/>
              </a:rPr>
              <a:t>slides in when you click a row - the full record, tabs and actions.</a:t>
            </a:r>
          </a:p>
        </p:txBody>
      </p:sp>
      <p:sp>
        <p:nvSpPr>
          <p:cNvPr id="22" name="TextBox 21"/>
          <p:cNvSpPr txBox="1"/>
          <p:nvPr/>
        </p:nvSpPr>
        <p:spPr>
          <a:xfrm>
            <a:off x="8458200" y="5239511"/>
            <a:ext cx="3291840" cy="868680"/>
          </a:xfrm>
          <a:prstGeom prst="rect">
            <a:avLst/>
          </a:prstGeom>
          <a:noFill/>
        </p:spPr>
        <p:txBody>
          <a:bodyPr wrap="square" anchor="t" lIns="0" rIns="0" tIns="0" bIns="0">
            <a:spAutoFit/>
          </a:bodyPr>
          <a:lstStyle/>
          <a:p>
            <a:pPr algn="l">
              <a:spcBef>
                <a:spcPts val="0"/>
              </a:spcBef>
              <a:spcAft>
                <a:spcPts val="200"/>
              </a:spcAft>
            </a:pPr>
            <a:r>
              <a:rPr sz="1250" b="1">
                <a:solidFill>
                  <a:srgbClr val="09131B"/>
                </a:solidFill>
                <a:latin typeface="Calibri"/>
              </a:rPr>
              <a:t>Ask Atlas</a:t>
            </a:r>
          </a:p>
          <a:p>
            <a:pPr algn="l">
              <a:spcBef>
                <a:spcPts val="0"/>
              </a:spcBef>
              <a:spcAft>
                <a:spcPts val="0"/>
              </a:spcAft>
            </a:pPr>
            <a:r>
              <a:rPr sz="1050" b="0">
                <a:solidFill>
                  <a:srgbClr val="595959"/>
                </a:solidFill>
                <a:latin typeface="Calibri"/>
              </a:rPr>
              <a:t>ask a question in plain English on the Command Centre.</a:t>
            </a:r>
          </a:p>
        </p:txBody>
      </p:sp>
      <p:sp>
        <p:nvSpPr>
          <p:cNvPr id="23" name="Rectangle 22"/>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25" name="TextBox 24"/>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WHAT IT DOES FOR YOU</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Three things, in every module</a:t>
            </a:r>
          </a:p>
        </p:txBody>
      </p:sp>
      <p:sp>
        <p:nvSpPr>
          <p:cNvPr id="5" name="Rounded Rectangle 4"/>
          <p:cNvSpPr/>
          <p:nvPr/>
        </p:nvSpPr>
        <p:spPr>
          <a:xfrm>
            <a:off x="685800" y="1920240"/>
            <a:ext cx="3502152"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920240"/>
            <a:ext cx="3502152" cy="128016"/>
          </a:xfrm>
          <a:prstGeom prst="roundRect">
            <a:avLst>
              <a:gd name="adj" fmla="val 50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2286000"/>
            <a:ext cx="457200" cy="457200"/>
          </a:xfrm>
          <a:prstGeom prst="roundRect">
            <a:avLst>
              <a:gd name="adj" fmla="val 25000"/>
            </a:avLst>
          </a:prstGeom>
          <a:solidFill>
            <a:srgbClr val="0563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FFFFFF"/>
                </a:solidFill>
                <a:latin typeface="Calibri"/>
              </a:rPr>
              <a:t>1</a:t>
            </a:r>
          </a:p>
        </p:txBody>
      </p:sp>
      <p:sp>
        <p:nvSpPr>
          <p:cNvPr id="9" name="TextBox 8"/>
          <p:cNvSpPr txBox="1"/>
          <p:nvPr/>
        </p:nvSpPr>
        <p:spPr>
          <a:xfrm>
            <a:off x="914400" y="2926080"/>
            <a:ext cx="3044952" cy="2743200"/>
          </a:xfrm>
          <a:prstGeom prst="rect">
            <a:avLst/>
          </a:prstGeom>
          <a:noFill/>
        </p:spPr>
        <p:txBody>
          <a:bodyPr wrap="square" anchor="t" lIns="0" rIns="0" tIns="0" bIns="0">
            <a:spAutoFit/>
          </a:bodyPr>
          <a:lstStyle/>
          <a:p>
            <a:pPr algn="l">
              <a:spcBef>
                <a:spcPts val="0"/>
              </a:spcBef>
              <a:spcAft>
                <a:spcPts val="800"/>
              </a:spcAft>
            </a:pPr>
            <a:r>
              <a:rPr sz="1800" b="1">
                <a:solidFill>
                  <a:srgbClr val="09131B"/>
                </a:solidFill>
                <a:latin typeface="Calibri"/>
              </a:rPr>
              <a:t>Keeps the record</a:t>
            </a:r>
          </a:p>
          <a:p>
            <a:pPr algn="l">
              <a:spcBef>
                <a:spcPts val="0"/>
              </a:spcBef>
              <a:spcAft>
                <a:spcPts val="0"/>
              </a:spcAft>
            </a:pPr>
            <a:r>
              <a:rPr sz="1300" b="0">
                <a:solidFill>
                  <a:srgbClr val="595959"/>
                </a:solidFill>
                <a:latin typeface="Calibri"/>
              </a:rPr>
              <a:t>The faithful as-is tool: forms, records, the approval workflow and the links between them. Your single source of truth.</a:t>
            </a:r>
          </a:p>
        </p:txBody>
      </p:sp>
      <p:sp>
        <p:nvSpPr>
          <p:cNvPr id="10" name="Rounded Rectangle 9"/>
          <p:cNvSpPr/>
          <p:nvPr/>
        </p:nvSpPr>
        <p:spPr>
          <a:xfrm>
            <a:off x="4279392" y="1920240"/>
            <a:ext cx="3502152"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79392" y="1920240"/>
            <a:ext cx="3502152" cy="128016"/>
          </a:xfrm>
          <a:prstGeom prst="roundRect">
            <a:avLst>
              <a:gd name="adj" fmla="val 50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07992" y="2286000"/>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2286000"/>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FFFFFF"/>
                </a:solidFill>
                <a:latin typeface="Calibri"/>
              </a:rPr>
              <a:t>2</a:t>
            </a:r>
          </a:p>
        </p:txBody>
      </p:sp>
      <p:sp>
        <p:nvSpPr>
          <p:cNvPr id="14" name="TextBox 13"/>
          <p:cNvSpPr txBox="1"/>
          <p:nvPr/>
        </p:nvSpPr>
        <p:spPr>
          <a:xfrm>
            <a:off x="4507992" y="2926080"/>
            <a:ext cx="3044952" cy="2743200"/>
          </a:xfrm>
          <a:prstGeom prst="rect">
            <a:avLst/>
          </a:prstGeom>
          <a:noFill/>
        </p:spPr>
        <p:txBody>
          <a:bodyPr wrap="square" anchor="t" lIns="0" rIns="0" tIns="0" bIns="0">
            <a:spAutoFit/>
          </a:bodyPr>
          <a:lstStyle/>
          <a:p>
            <a:pPr algn="l">
              <a:spcBef>
                <a:spcPts val="0"/>
              </a:spcBef>
              <a:spcAft>
                <a:spcPts val="800"/>
              </a:spcAft>
            </a:pPr>
            <a:r>
              <a:rPr sz="1800" b="1">
                <a:solidFill>
                  <a:srgbClr val="09131B"/>
                </a:solidFill>
                <a:latin typeface="Calibri"/>
              </a:rPr>
              <a:t>Does the busywork</a:t>
            </a:r>
          </a:p>
          <a:p>
            <a:pPr algn="l">
              <a:spcBef>
                <a:spcPts val="0"/>
              </a:spcBef>
              <a:spcAft>
                <a:spcPts val="0"/>
              </a:spcAft>
            </a:pPr>
            <a:r>
              <a:rPr sz="1300" b="0">
                <a:solidFill>
                  <a:srgbClr val="595959"/>
                </a:solidFill>
                <a:latin typeface="Calibri"/>
              </a:rPr>
              <a:t>Automation: auto-routing of requests, renewal pre-fill, write-to-catalogue, PII/PHI classification, and the 30/60/90-day reminders.</a:t>
            </a:r>
          </a:p>
        </p:txBody>
      </p:sp>
      <p:sp>
        <p:nvSpPr>
          <p:cNvPr id="15" name="Rounded Rectangle 14"/>
          <p:cNvSpPr/>
          <p:nvPr/>
        </p:nvSpPr>
        <p:spPr>
          <a:xfrm>
            <a:off x="7872984" y="1920240"/>
            <a:ext cx="3502152"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72984" y="1920240"/>
            <a:ext cx="3502152" cy="128016"/>
          </a:xfrm>
          <a:prstGeom prst="roundRect">
            <a:avLst>
              <a:gd name="adj" fmla="val 50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1584" y="2286000"/>
            <a:ext cx="457200" cy="457200"/>
          </a:xfrm>
          <a:prstGeom prst="roundRect">
            <a:avLst>
              <a:gd name="adj" fmla="val 25000"/>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286000"/>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FFFFFF"/>
                </a:solidFill>
                <a:latin typeface="Calibri"/>
              </a:rPr>
              <a:t>3</a:t>
            </a:r>
          </a:p>
        </p:txBody>
      </p:sp>
      <p:sp>
        <p:nvSpPr>
          <p:cNvPr id="19" name="TextBox 18"/>
          <p:cNvSpPr txBox="1"/>
          <p:nvPr/>
        </p:nvSpPr>
        <p:spPr>
          <a:xfrm>
            <a:off x="8101584" y="2926080"/>
            <a:ext cx="3044952" cy="2743200"/>
          </a:xfrm>
          <a:prstGeom prst="rect">
            <a:avLst/>
          </a:prstGeom>
          <a:noFill/>
        </p:spPr>
        <p:txBody>
          <a:bodyPr wrap="square" anchor="t" lIns="0" rIns="0" tIns="0" bIns="0">
            <a:spAutoFit/>
          </a:bodyPr>
          <a:lstStyle/>
          <a:p>
            <a:pPr algn="l">
              <a:spcBef>
                <a:spcPts val="0"/>
              </a:spcBef>
              <a:spcAft>
                <a:spcPts val="800"/>
              </a:spcAft>
            </a:pPr>
            <a:r>
              <a:rPr sz="1800" b="1">
                <a:solidFill>
                  <a:srgbClr val="09131B"/>
                </a:solidFill>
                <a:latin typeface="Calibri"/>
              </a:rPr>
              <a:t>Gives you the answer</a:t>
            </a:r>
          </a:p>
          <a:p>
            <a:pPr algn="l">
              <a:spcBef>
                <a:spcPts val="0"/>
              </a:spcBef>
              <a:spcAft>
                <a:spcPts val="0"/>
              </a:spcAft>
            </a:pPr>
            <a:r>
              <a:rPr sz="1300" b="0">
                <a:solidFill>
                  <a:srgbClr val="595959"/>
                </a:solidFill>
                <a:latin typeface="Calibri"/>
              </a:rPr>
              <a:t>Intelligence: duplicate-buy alerts, quality flags, vendor value analytics, renewal prediction and the Ask Atlas assistant.</a:t>
            </a:r>
          </a:p>
        </p:txBody>
      </p:sp>
      <p:sp>
        <p:nvSpPr>
          <p:cNvPr id="20" name="Rectangle 19"/>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22" name="TextBox 21"/>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COMMAND CENTRE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Your landing page and estate overview</a:t>
            </a:r>
          </a:p>
        </p:txBody>
      </p:sp>
      <p:sp>
        <p:nvSpPr>
          <p:cNvPr id="5" name="Rounded Rectangle 4"/>
          <p:cNvSpPr/>
          <p:nvPr/>
        </p:nvSpPr>
        <p:spPr>
          <a:xfrm>
            <a:off x="68580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What it shows</a:t>
            </a:r>
          </a:p>
        </p:txBody>
      </p:sp>
      <p:sp>
        <p:nvSpPr>
          <p:cNvPr id="8" name="TextBox 7"/>
          <p:cNvSpPr txBox="1"/>
          <p:nvPr/>
        </p:nvSpPr>
        <p:spPr>
          <a:xfrm>
            <a:off x="96012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Headline numbers,  </a:t>
            </a:r>
            <a:r>
              <a:rPr sz="1300">
                <a:solidFill>
                  <a:srgbClr val="595959"/>
                </a:solidFill>
                <a:latin typeface="Calibri"/>
              </a:rPr>
              <a:t>catalogued assets, contracted spend, in-flight requests, agreements expiring soon.</a:t>
            </a:r>
          </a:p>
          <a:p>
            <a:pPr algn="l">
              <a:spcBef>
                <a:spcPts val="0"/>
              </a:spcBef>
              <a:spcAft>
                <a:spcPts val="700"/>
              </a:spcAft>
            </a:pPr>
            <a:r>
              <a:rPr sz="1300" b="1">
                <a:solidFill>
                  <a:srgbClr val="F89739"/>
                </a:solidFill>
                <a:latin typeface="Calibri"/>
              </a:rPr>
              <a:t>-  </a:t>
            </a:r>
            <a:r>
              <a:rPr sz="1300" b="1">
                <a:solidFill>
                  <a:srgbClr val="09131B"/>
                </a:solidFill>
                <a:latin typeface="Calibri"/>
              </a:rPr>
              <a:t>The connected estate,  </a:t>
            </a:r>
            <a:r>
              <a:rPr sz="1300">
                <a:solidFill>
                  <a:srgbClr val="595959"/>
                </a:solidFill>
                <a:latin typeface="Calibri"/>
              </a:rPr>
              <a:t>the five tools as clickable tiles.</a:t>
            </a:r>
          </a:p>
          <a:p>
            <a:pPr algn="l">
              <a:spcBef>
                <a:spcPts val="0"/>
              </a:spcBef>
              <a:spcAft>
                <a:spcPts val="700"/>
              </a:spcAft>
            </a:pPr>
            <a:r>
              <a:rPr sz="1300" b="1">
                <a:solidFill>
                  <a:srgbClr val="F89739"/>
                </a:solidFill>
                <a:latin typeface="Calibri"/>
              </a:rPr>
              <a:t>-  </a:t>
            </a:r>
            <a:r>
              <a:rPr sz="1300" b="1">
                <a:solidFill>
                  <a:srgbClr val="09131B"/>
                </a:solidFill>
                <a:latin typeface="Calibri"/>
              </a:rPr>
              <a:t>Cross-tool signals,  </a:t>
            </a:r>
            <a:r>
              <a:rPr sz="1300">
                <a:solidFill>
                  <a:srgbClr val="595959"/>
                </a:solidFill>
                <a:latin typeface="Calibri"/>
              </a:rPr>
              <a:t>the handful of issues that need a decision, ranked by what is at stake.</a:t>
            </a:r>
          </a:p>
          <a:p>
            <a:pPr algn="l">
              <a:spcBef>
                <a:spcPts val="0"/>
              </a:spcBef>
              <a:spcAft>
                <a:spcPts val="700"/>
              </a:spcAft>
            </a:pPr>
            <a:r>
              <a:rPr sz="1300" b="1">
                <a:solidFill>
                  <a:srgbClr val="F89739"/>
                </a:solidFill>
                <a:latin typeface="Calibri"/>
              </a:rPr>
              <a:t>-  </a:t>
            </a:r>
            <a:r>
              <a:rPr sz="1300" b="1">
                <a:solidFill>
                  <a:srgbClr val="09131B"/>
                </a:solidFill>
                <a:latin typeface="Calibri"/>
              </a:rPr>
              <a:t>Ask Atlas,  </a:t>
            </a:r>
            <a:r>
              <a:rPr sz="1300">
                <a:solidFill>
                  <a:srgbClr val="595959"/>
                </a:solidFill>
                <a:latin typeface="Calibri"/>
              </a:rPr>
              <a:t>a question box that reads across all five tools.</a:t>
            </a:r>
          </a:p>
        </p:txBody>
      </p:sp>
      <p:sp>
        <p:nvSpPr>
          <p:cNvPr id="9" name="TextBox 8"/>
          <p:cNvSpPr txBox="1"/>
          <p:nvPr/>
        </p:nvSpPr>
        <p:spPr>
          <a:xfrm>
            <a:off x="658368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9A5C12"/>
                </a:solidFill>
                <a:latin typeface="Calibri"/>
              </a:rPr>
              <a:t>What you can do</a:t>
            </a:r>
          </a:p>
        </p:txBody>
      </p:sp>
      <p:sp>
        <p:nvSpPr>
          <p:cNvPr id="10" name="TextBox 9"/>
          <p:cNvSpPr txBox="1"/>
          <p:nvPr/>
        </p:nvSpPr>
        <p:spPr>
          <a:xfrm>
            <a:off x="658368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Click any estate tile  </a:t>
            </a:r>
            <a:r>
              <a:rPr sz="1300">
                <a:solidFill>
                  <a:srgbClr val="595959"/>
                </a:solidFill>
                <a:latin typeface="Calibri"/>
              </a:rPr>
              <a:t>to jump into that module.</a:t>
            </a:r>
          </a:p>
          <a:p>
            <a:pPr algn="l">
              <a:spcBef>
                <a:spcPts val="0"/>
              </a:spcBef>
              <a:spcAft>
                <a:spcPts val="700"/>
              </a:spcAft>
            </a:pPr>
            <a:r>
              <a:rPr sz="1300" b="1">
                <a:solidFill>
                  <a:srgbClr val="F89739"/>
                </a:solidFill>
                <a:latin typeface="Calibri"/>
              </a:rPr>
              <a:t>-  </a:t>
            </a:r>
            <a:r>
              <a:rPr sz="1300" b="1">
                <a:solidFill>
                  <a:srgbClr val="09131B"/>
                </a:solidFill>
                <a:latin typeface="Calibri"/>
              </a:rPr>
              <a:t>Click a signal  </a:t>
            </a:r>
            <a:r>
              <a:rPr sz="1300">
                <a:solidFill>
                  <a:srgbClr val="595959"/>
                </a:solidFill>
                <a:latin typeface="Calibri"/>
              </a:rPr>
              <a:t>to go straight to the record behind it.</a:t>
            </a:r>
          </a:p>
          <a:p>
            <a:pPr algn="l">
              <a:spcBef>
                <a:spcPts val="0"/>
              </a:spcBef>
              <a:spcAft>
                <a:spcPts val="700"/>
              </a:spcAft>
            </a:pPr>
            <a:r>
              <a:rPr sz="1300" b="1">
                <a:solidFill>
                  <a:srgbClr val="F89739"/>
                </a:solidFill>
                <a:latin typeface="Calibri"/>
              </a:rPr>
              <a:t>-  </a:t>
            </a:r>
            <a:r>
              <a:rPr sz="1300" b="1">
                <a:solidFill>
                  <a:srgbClr val="09131B"/>
                </a:solidFill>
                <a:latin typeface="Calibri"/>
              </a:rPr>
              <a:t>Ask a question  </a:t>
            </a:r>
            <a:r>
              <a:rPr sz="1300">
                <a:solidFill>
                  <a:srgbClr val="595959"/>
                </a:solidFill>
                <a:latin typeface="Calibri"/>
              </a:rPr>
              <a:t>by typing or using a suggested chip - you get a grounded answer with source chips.</a:t>
            </a:r>
          </a:p>
          <a:p>
            <a:pPr algn="l">
              <a:spcBef>
                <a:spcPts val="0"/>
              </a:spcBef>
              <a:spcAft>
                <a:spcPts val="700"/>
              </a:spcAft>
            </a:pPr>
            <a:r>
              <a:rPr sz="1300" b="1">
                <a:solidFill>
                  <a:srgbClr val="F89739"/>
                </a:solidFill>
                <a:latin typeface="Calibri"/>
              </a:rPr>
              <a:t>-  </a:t>
            </a:r>
            <a:r>
              <a:rPr sz="1300" b="1">
                <a:solidFill>
                  <a:srgbClr val="09131B"/>
                </a:solidFill>
                <a:latin typeface="Calibri"/>
              </a:rPr>
              <a:t>Read the disclaimer  </a:t>
            </a:r>
            <a:r>
              <a:rPr sz="1300">
                <a:solidFill>
                  <a:srgbClr val="595959"/>
                </a:solidFill>
                <a:latin typeface="Calibri"/>
              </a:rPr>
              <a:t>- figures are synthetic and illustrative.</a:t>
            </a:r>
          </a:p>
        </p:txBody>
      </p:sp>
      <p:sp>
        <p:nvSpPr>
          <p:cNvPr id="11" name="Rectangle 1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3" name="TextBox 1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DATA REQUESTS (DPRH)</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How the approval workflow works</a:t>
            </a:r>
          </a:p>
        </p:txBody>
      </p:sp>
      <p:sp>
        <p:nvSpPr>
          <p:cNvPr id="5" name="Rounded Rectangle 4"/>
          <p:cNvSpPr/>
          <p:nvPr/>
        </p:nvSpPr>
        <p:spPr>
          <a:xfrm>
            <a:off x="685800" y="1965960"/>
            <a:ext cx="1783080" cy="10058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12264"/>
            <a:ext cx="1563624" cy="777240"/>
          </a:xfrm>
          <a:prstGeom prst="rect">
            <a:avLst/>
          </a:prstGeom>
          <a:noFill/>
        </p:spPr>
        <p:txBody>
          <a:bodyPr wrap="square" anchor="t" lIns="0" rIns="0" tIns="0" bIns="0">
            <a:spAutoFit/>
          </a:bodyPr>
          <a:lstStyle/>
          <a:p>
            <a:pPr algn="l">
              <a:spcBef>
                <a:spcPts val="0"/>
              </a:spcBef>
              <a:spcAft>
                <a:spcPts val="200"/>
              </a:spcAft>
            </a:pPr>
            <a:r>
              <a:rPr sz="1150" b="1">
                <a:solidFill>
                  <a:srgbClr val="09131B"/>
                </a:solidFill>
                <a:latin typeface="Calibri"/>
              </a:rPr>
              <a:t>Submit</a:t>
            </a:r>
          </a:p>
          <a:p>
            <a:pPr algn="l">
              <a:spcBef>
                <a:spcPts val="0"/>
              </a:spcBef>
              <a:spcAft>
                <a:spcPts val="0"/>
              </a:spcAft>
            </a:pPr>
            <a:r>
              <a:rPr sz="950" b="0">
                <a:solidFill>
                  <a:srgbClr val="595959"/>
                </a:solidFill>
                <a:latin typeface="Calibri"/>
              </a:rPr>
              <a:t>auto-status set</a:t>
            </a:r>
          </a:p>
        </p:txBody>
      </p:sp>
      <p:sp>
        <p:nvSpPr>
          <p:cNvPr id="7" name="TextBox 6"/>
          <p:cNvSpPr txBox="1"/>
          <p:nvPr/>
        </p:nvSpPr>
        <p:spPr>
          <a:xfrm>
            <a:off x="2450592" y="2286000"/>
            <a:ext cx="109728" cy="365760"/>
          </a:xfrm>
          <a:prstGeom prst="rect">
            <a:avLst/>
          </a:prstGeom>
          <a:noFill/>
        </p:spPr>
        <p:txBody>
          <a:bodyPr wrap="square" anchor="ctr" lIns="0" rIns="0" tIns="0" bIns="0">
            <a:spAutoFit/>
          </a:bodyPr>
          <a:lstStyle/>
          <a:p>
            <a:pPr algn="ctr">
              <a:spcBef>
                <a:spcPts val="0"/>
              </a:spcBef>
              <a:spcAft>
                <a:spcPts val="0"/>
              </a:spcAft>
            </a:pPr>
            <a:r>
              <a:rPr sz="1200" b="1">
                <a:solidFill>
                  <a:srgbClr val="F89739"/>
                </a:solidFill>
                <a:latin typeface="Calibri"/>
              </a:rPr>
              <a:t>&gt;</a:t>
            </a:r>
          </a:p>
        </p:txBody>
      </p:sp>
      <p:sp>
        <p:nvSpPr>
          <p:cNvPr id="8" name="Rounded Rectangle 7"/>
          <p:cNvSpPr/>
          <p:nvPr/>
        </p:nvSpPr>
        <p:spPr>
          <a:xfrm>
            <a:off x="2505456" y="1965960"/>
            <a:ext cx="1783080" cy="10058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15184" y="2112264"/>
            <a:ext cx="1563624" cy="777240"/>
          </a:xfrm>
          <a:prstGeom prst="rect">
            <a:avLst/>
          </a:prstGeom>
          <a:noFill/>
        </p:spPr>
        <p:txBody>
          <a:bodyPr wrap="square" anchor="t" lIns="0" rIns="0" tIns="0" bIns="0">
            <a:spAutoFit/>
          </a:bodyPr>
          <a:lstStyle/>
          <a:p>
            <a:pPr algn="l">
              <a:spcBef>
                <a:spcPts val="0"/>
              </a:spcBef>
              <a:spcAft>
                <a:spcPts val="200"/>
              </a:spcAft>
            </a:pPr>
            <a:r>
              <a:rPr sz="1150" b="1">
                <a:solidFill>
                  <a:srgbClr val="09131B"/>
                </a:solidFill>
                <a:latin typeface="Calibri"/>
              </a:rPr>
              <a:t>Admin review</a:t>
            </a:r>
          </a:p>
          <a:p>
            <a:pPr algn="l">
              <a:spcBef>
                <a:spcPts val="0"/>
              </a:spcBef>
              <a:spcAft>
                <a:spcPts val="0"/>
              </a:spcAft>
            </a:pPr>
            <a:r>
              <a:rPr sz="950" b="0">
                <a:solidFill>
                  <a:srgbClr val="595959"/>
                </a:solidFill>
                <a:latin typeface="Calibri"/>
              </a:rPr>
              <a:t>routes it</a:t>
            </a:r>
          </a:p>
        </p:txBody>
      </p:sp>
      <p:sp>
        <p:nvSpPr>
          <p:cNvPr id="10" name="TextBox 9"/>
          <p:cNvSpPr txBox="1"/>
          <p:nvPr/>
        </p:nvSpPr>
        <p:spPr>
          <a:xfrm>
            <a:off x="4270248" y="2286000"/>
            <a:ext cx="109728" cy="365760"/>
          </a:xfrm>
          <a:prstGeom prst="rect">
            <a:avLst/>
          </a:prstGeom>
          <a:noFill/>
        </p:spPr>
        <p:txBody>
          <a:bodyPr wrap="square" anchor="ctr" lIns="0" rIns="0" tIns="0" bIns="0">
            <a:spAutoFit/>
          </a:bodyPr>
          <a:lstStyle/>
          <a:p>
            <a:pPr algn="ctr">
              <a:spcBef>
                <a:spcPts val="0"/>
              </a:spcBef>
              <a:spcAft>
                <a:spcPts val="0"/>
              </a:spcAft>
            </a:pPr>
            <a:r>
              <a:rPr sz="1200" b="1">
                <a:solidFill>
                  <a:srgbClr val="F89739"/>
                </a:solidFill>
                <a:latin typeface="Calibri"/>
              </a:rPr>
              <a:t>&gt;</a:t>
            </a:r>
          </a:p>
        </p:txBody>
      </p:sp>
      <p:sp>
        <p:nvSpPr>
          <p:cNvPr id="11" name="Rounded Rectangle 10"/>
          <p:cNvSpPr/>
          <p:nvPr/>
        </p:nvSpPr>
        <p:spPr>
          <a:xfrm>
            <a:off x="4325112" y="1965960"/>
            <a:ext cx="1783080" cy="10058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112264"/>
            <a:ext cx="1563624" cy="777240"/>
          </a:xfrm>
          <a:prstGeom prst="rect">
            <a:avLst/>
          </a:prstGeom>
          <a:noFill/>
        </p:spPr>
        <p:txBody>
          <a:bodyPr wrap="square" anchor="t" lIns="0" rIns="0" tIns="0" bIns="0">
            <a:spAutoFit/>
          </a:bodyPr>
          <a:lstStyle/>
          <a:p>
            <a:pPr algn="l">
              <a:spcBef>
                <a:spcPts val="0"/>
              </a:spcBef>
              <a:spcAft>
                <a:spcPts val="200"/>
              </a:spcAft>
            </a:pPr>
            <a:r>
              <a:rPr sz="1150" b="1">
                <a:solidFill>
                  <a:srgbClr val="09131B"/>
                </a:solidFill>
                <a:latin typeface="Calibri"/>
              </a:rPr>
              <a:t>Regional review</a:t>
            </a:r>
          </a:p>
          <a:p>
            <a:pPr algn="l">
              <a:spcBef>
                <a:spcPts val="0"/>
              </a:spcBef>
              <a:spcAft>
                <a:spcPts val="0"/>
              </a:spcAft>
            </a:pPr>
            <a:r>
              <a:rPr sz="950" b="0">
                <a:solidFill>
                  <a:srgbClr val="595959"/>
                </a:solidFill>
                <a:latin typeface="Calibri"/>
              </a:rPr>
              <a:t>region-scoped</a:t>
            </a:r>
          </a:p>
        </p:txBody>
      </p:sp>
      <p:sp>
        <p:nvSpPr>
          <p:cNvPr id="13" name="TextBox 12"/>
          <p:cNvSpPr txBox="1"/>
          <p:nvPr/>
        </p:nvSpPr>
        <p:spPr>
          <a:xfrm>
            <a:off x="6089904" y="2286000"/>
            <a:ext cx="109728" cy="365760"/>
          </a:xfrm>
          <a:prstGeom prst="rect">
            <a:avLst/>
          </a:prstGeom>
          <a:noFill/>
        </p:spPr>
        <p:txBody>
          <a:bodyPr wrap="square" anchor="ctr" lIns="0" rIns="0" tIns="0" bIns="0">
            <a:spAutoFit/>
          </a:bodyPr>
          <a:lstStyle/>
          <a:p>
            <a:pPr algn="ctr">
              <a:spcBef>
                <a:spcPts val="0"/>
              </a:spcBef>
              <a:spcAft>
                <a:spcPts val="0"/>
              </a:spcAft>
            </a:pPr>
            <a:r>
              <a:rPr sz="1200" b="1">
                <a:solidFill>
                  <a:srgbClr val="F89739"/>
                </a:solidFill>
                <a:latin typeface="Calibri"/>
              </a:rPr>
              <a:t>&gt;</a:t>
            </a:r>
          </a:p>
        </p:txBody>
      </p:sp>
      <p:sp>
        <p:nvSpPr>
          <p:cNvPr id="14" name="Rounded Rectangle 13"/>
          <p:cNvSpPr/>
          <p:nvPr/>
        </p:nvSpPr>
        <p:spPr>
          <a:xfrm>
            <a:off x="6144768" y="1965960"/>
            <a:ext cx="1783080" cy="10058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2112264"/>
            <a:ext cx="1563624" cy="777240"/>
          </a:xfrm>
          <a:prstGeom prst="rect">
            <a:avLst/>
          </a:prstGeom>
          <a:noFill/>
        </p:spPr>
        <p:txBody>
          <a:bodyPr wrap="square" anchor="t" lIns="0" rIns="0" tIns="0" bIns="0">
            <a:spAutoFit/>
          </a:bodyPr>
          <a:lstStyle/>
          <a:p>
            <a:pPr algn="l">
              <a:spcBef>
                <a:spcPts val="0"/>
              </a:spcBef>
              <a:spcAft>
                <a:spcPts val="200"/>
              </a:spcAft>
            </a:pPr>
            <a:r>
              <a:rPr sz="1150" b="1">
                <a:solidFill>
                  <a:srgbClr val="09131B"/>
                </a:solidFill>
                <a:latin typeface="Calibri"/>
              </a:rPr>
              <a:t>CDS committee</a:t>
            </a:r>
          </a:p>
          <a:p>
            <a:pPr algn="l">
              <a:spcBef>
                <a:spcPts val="0"/>
              </a:spcBef>
              <a:spcAft>
                <a:spcPts val="0"/>
              </a:spcAft>
            </a:pPr>
            <a:r>
              <a:rPr sz="950" b="0">
                <a:solidFill>
                  <a:srgbClr val="595959"/>
                </a:solidFill>
                <a:latin typeface="Calibri"/>
              </a:rPr>
              <a:t>reg + global</a:t>
            </a:r>
          </a:p>
        </p:txBody>
      </p:sp>
      <p:sp>
        <p:nvSpPr>
          <p:cNvPr id="16" name="TextBox 15"/>
          <p:cNvSpPr txBox="1"/>
          <p:nvPr/>
        </p:nvSpPr>
        <p:spPr>
          <a:xfrm>
            <a:off x="7909560" y="2286000"/>
            <a:ext cx="109728" cy="365760"/>
          </a:xfrm>
          <a:prstGeom prst="rect">
            <a:avLst/>
          </a:prstGeom>
          <a:noFill/>
        </p:spPr>
        <p:txBody>
          <a:bodyPr wrap="square" anchor="ctr" lIns="0" rIns="0" tIns="0" bIns="0">
            <a:spAutoFit/>
          </a:bodyPr>
          <a:lstStyle/>
          <a:p>
            <a:pPr algn="ctr">
              <a:spcBef>
                <a:spcPts val="0"/>
              </a:spcBef>
              <a:spcAft>
                <a:spcPts val="0"/>
              </a:spcAft>
            </a:pPr>
            <a:r>
              <a:rPr sz="1200" b="1">
                <a:solidFill>
                  <a:srgbClr val="F89739"/>
                </a:solidFill>
                <a:latin typeface="Calibri"/>
              </a:rPr>
              <a:t>&gt;</a:t>
            </a:r>
          </a:p>
        </p:txBody>
      </p:sp>
      <p:sp>
        <p:nvSpPr>
          <p:cNvPr id="17" name="Rounded Rectangle 16"/>
          <p:cNvSpPr/>
          <p:nvPr/>
        </p:nvSpPr>
        <p:spPr>
          <a:xfrm>
            <a:off x="7964424" y="1965960"/>
            <a:ext cx="1783080" cy="10058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4152" y="2112264"/>
            <a:ext cx="1563624" cy="777240"/>
          </a:xfrm>
          <a:prstGeom prst="rect">
            <a:avLst/>
          </a:prstGeom>
          <a:noFill/>
        </p:spPr>
        <p:txBody>
          <a:bodyPr wrap="square" anchor="t" lIns="0" rIns="0" tIns="0" bIns="0">
            <a:spAutoFit/>
          </a:bodyPr>
          <a:lstStyle/>
          <a:p>
            <a:pPr algn="l">
              <a:spcBef>
                <a:spcPts val="0"/>
              </a:spcBef>
              <a:spcAft>
                <a:spcPts val="200"/>
              </a:spcAft>
            </a:pPr>
            <a:r>
              <a:rPr sz="1150" b="1">
                <a:solidFill>
                  <a:srgbClr val="09131B"/>
                </a:solidFill>
                <a:latin typeface="Calibri"/>
              </a:rPr>
              <a:t>Admin final</a:t>
            </a:r>
          </a:p>
          <a:p>
            <a:pPr algn="l">
              <a:spcBef>
                <a:spcPts val="0"/>
              </a:spcBef>
              <a:spcAft>
                <a:spcPts val="0"/>
              </a:spcAft>
            </a:pPr>
            <a:r>
              <a:rPr sz="950" b="0">
                <a:solidFill>
                  <a:srgbClr val="595959"/>
                </a:solidFill>
                <a:latin typeface="Calibri"/>
              </a:rPr>
              <a:t>approves</a:t>
            </a:r>
          </a:p>
        </p:txBody>
      </p:sp>
      <p:sp>
        <p:nvSpPr>
          <p:cNvPr id="19" name="TextBox 18"/>
          <p:cNvSpPr txBox="1"/>
          <p:nvPr/>
        </p:nvSpPr>
        <p:spPr>
          <a:xfrm>
            <a:off x="9729216" y="2286000"/>
            <a:ext cx="109728" cy="365760"/>
          </a:xfrm>
          <a:prstGeom prst="rect">
            <a:avLst/>
          </a:prstGeom>
          <a:noFill/>
        </p:spPr>
        <p:txBody>
          <a:bodyPr wrap="square" anchor="ctr" lIns="0" rIns="0" tIns="0" bIns="0">
            <a:spAutoFit/>
          </a:bodyPr>
          <a:lstStyle/>
          <a:p>
            <a:pPr algn="ctr">
              <a:spcBef>
                <a:spcPts val="0"/>
              </a:spcBef>
              <a:spcAft>
                <a:spcPts val="0"/>
              </a:spcAft>
            </a:pPr>
            <a:r>
              <a:rPr sz="1200" b="1">
                <a:solidFill>
                  <a:srgbClr val="F89739"/>
                </a:solidFill>
                <a:latin typeface="Calibri"/>
              </a:rPr>
              <a:t>&gt;</a:t>
            </a:r>
          </a:p>
        </p:txBody>
      </p:sp>
      <p:sp>
        <p:nvSpPr>
          <p:cNvPr id="20" name="Rounded Rectangle 19"/>
          <p:cNvSpPr/>
          <p:nvPr/>
        </p:nvSpPr>
        <p:spPr>
          <a:xfrm>
            <a:off x="9784080" y="1965960"/>
            <a:ext cx="1783080" cy="10058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93808" y="2112264"/>
            <a:ext cx="1563624" cy="777240"/>
          </a:xfrm>
          <a:prstGeom prst="rect">
            <a:avLst/>
          </a:prstGeom>
          <a:noFill/>
        </p:spPr>
        <p:txBody>
          <a:bodyPr wrap="square" anchor="t" lIns="0" rIns="0" tIns="0" bIns="0">
            <a:spAutoFit/>
          </a:bodyPr>
          <a:lstStyle/>
          <a:p>
            <a:pPr algn="l">
              <a:spcBef>
                <a:spcPts val="0"/>
              </a:spcBef>
              <a:spcAft>
                <a:spcPts val="200"/>
              </a:spcAft>
            </a:pPr>
            <a:r>
              <a:rPr sz="1150" b="1">
                <a:solidFill>
                  <a:srgbClr val="09131B"/>
                </a:solidFill>
                <a:latin typeface="Calibri"/>
              </a:rPr>
              <a:t>Catalogue</a:t>
            </a:r>
          </a:p>
          <a:p>
            <a:pPr algn="l">
              <a:spcBef>
                <a:spcPts val="0"/>
              </a:spcBef>
              <a:spcAft>
                <a:spcPts val="0"/>
              </a:spcAft>
            </a:pPr>
            <a:r>
              <a:rPr sz="950" b="0">
                <a:solidFill>
                  <a:srgbClr val="595959"/>
                </a:solidFill>
                <a:latin typeface="Calibri"/>
              </a:rPr>
              <a:t>as a draft</a:t>
            </a:r>
          </a:p>
        </p:txBody>
      </p:sp>
      <p:sp>
        <p:nvSpPr>
          <p:cNvPr id="22" name="TextBox 21"/>
          <p:cNvSpPr txBox="1"/>
          <p:nvPr/>
        </p:nvSpPr>
        <p:spPr>
          <a:xfrm>
            <a:off x="685800" y="3200400"/>
            <a:ext cx="10820095" cy="2743200"/>
          </a:xfrm>
          <a:prstGeom prst="rect">
            <a:avLst/>
          </a:prstGeom>
          <a:noFill/>
        </p:spPr>
        <p:txBody>
          <a:bodyPr wrap="square" anchor="t" lIns="0" rIns="0" tIns="0" bIns="0">
            <a:spAutoFit/>
          </a:bodyPr>
          <a:lstStyle/>
          <a:p>
            <a:pPr algn="l">
              <a:spcBef>
                <a:spcPts val="0"/>
              </a:spcBef>
              <a:spcAft>
                <a:spcPts val="700"/>
              </a:spcAft>
            </a:pPr>
            <a:r>
              <a:rPr sz="1450" b="1">
                <a:solidFill>
                  <a:srgbClr val="09131B"/>
                </a:solidFill>
                <a:latin typeface="Calibri"/>
              </a:rPr>
              <a:t>Two things decide where a request goes - automatically, on submit:</a:t>
            </a:r>
            <a:r>
              <a:rPr sz="1250" b="1">
                <a:solidFill>
                  <a:srgbClr val="F89739"/>
                </a:solidFill>
                <a:latin typeface="Calibri"/>
              </a:rPr>
              <a:t>-  </a:t>
            </a:r>
            <a:r>
              <a:rPr sz="1250" b="1">
                <a:solidFill>
                  <a:srgbClr val="09131B"/>
                </a:solidFill>
                <a:latin typeface="Calibri"/>
              </a:rPr>
              <a:t>National vs Sub-national.  </a:t>
            </a:r>
            <a:r>
              <a:rPr sz="1250">
                <a:solidFill>
                  <a:srgbClr val="595959"/>
                </a:solidFill>
                <a:latin typeface="Calibri"/>
              </a:rPr>
              <a:t>Sub-national requests go to offline review with local teams - they skip the committee chain.</a:t>
            </a:r>
          </a:p>
          <a:p>
            <a:pPr algn="l">
              <a:spcBef>
                <a:spcPts val="0"/>
              </a:spcBef>
              <a:spcAft>
                <a:spcPts val="700"/>
              </a:spcAft>
            </a:pPr>
            <a:r>
              <a:rPr sz="1250" b="1">
                <a:solidFill>
                  <a:srgbClr val="F89739"/>
                </a:solidFill>
                <a:latin typeface="Calibri"/>
              </a:rPr>
              <a:t>-  </a:t>
            </a:r>
            <a:r>
              <a:rPr sz="1250" b="1">
                <a:solidFill>
                  <a:srgbClr val="09131B"/>
                </a:solidFill>
                <a:latin typeface="Calibri"/>
              </a:rPr>
              <a:t>Cost vs threshold.  </a:t>
            </a:r>
            <a:r>
              <a:rPr sz="1250">
                <a:solidFill>
                  <a:srgbClr val="595959"/>
                </a:solidFill>
                <a:latin typeface="Calibri"/>
              </a:rPr>
              <a:t>For national requests, if the anticipated cost is above your division's threshold it becomes In data sourcing pre review; if below, Submitted for CILT review.</a:t>
            </a:r>
          </a:p>
          <a:p>
            <a:pPr algn="l">
              <a:spcBef>
                <a:spcPts val="0"/>
              </a:spcBef>
              <a:spcAft>
                <a:spcPts val="700"/>
              </a:spcAft>
            </a:pPr>
            <a:r>
              <a:rPr sz="1250" b="1">
                <a:solidFill>
                  <a:srgbClr val="F89739"/>
                </a:solidFill>
                <a:latin typeface="Calibri"/>
              </a:rPr>
              <a:t>-  </a:t>
            </a:r>
            <a:r>
              <a:rPr sz="1250" b="1">
                <a:solidFill>
                  <a:srgbClr val="09131B"/>
                </a:solidFill>
                <a:latin typeface="Calibri"/>
              </a:rPr>
              <a:t>Roles see their own tab.  </a:t>
            </a:r>
            <a:r>
              <a:rPr sz="1250">
                <a:solidFill>
                  <a:srgbClr val="595959"/>
                </a:solidFill>
                <a:latin typeface="Calibri"/>
              </a:rPr>
              <a:t>Requester fills the form; Admin, Regional and Global reviewers each see and act on their own section, which opens only when the request reaches that step.</a:t>
            </a:r>
          </a:p>
          <a:p>
            <a:pPr algn="l">
              <a:spcBef>
                <a:spcPts val="0"/>
              </a:spcBef>
              <a:spcAft>
                <a:spcPts val="700"/>
              </a:spcAft>
            </a:pPr>
            <a:r>
              <a:rPr sz="1250" b="1">
                <a:solidFill>
                  <a:srgbClr val="F89739"/>
                </a:solidFill>
                <a:latin typeface="Calibri"/>
              </a:rPr>
              <a:t>-  </a:t>
            </a:r>
            <a:r>
              <a:rPr sz="1250" b="1">
                <a:solidFill>
                  <a:srgbClr val="09131B"/>
                </a:solidFill>
                <a:latin typeface="Calibri"/>
              </a:rPr>
              <a:t>Statuses are the language.  </a:t>
            </a:r>
            <a:r>
              <a:rPr sz="1250">
                <a:solidFill>
                  <a:srgbClr val="595959"/>
                </a:solidFill>
                <a:latin typeface="Calibri"/>
              </a:rPr>
              <a:t>Each request always shows exactly where it is - e.g. Submitted for validation, In CILT CDSP review, Recommendation available, Approved in contracting.</a:t>
            </a:r>
          </a:p>
        </p:txBody>
      </p:sp>
      <p:sp>
        <p:nvSpPr>
          <p:cNvPr id="23" name="Rectangle 22"/>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25" name="TextBox 24"/>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DATA REQUESTS (DPRH)</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What you can do</a:t>
            </a:r>
          </a:p>
        </p:txBody>
      </p:sp>
      <p:sp>
        <p:nvSpPr>
          <p:cNvPr id="5" name="Rounded Rectangle 4"/>
          <p:cNvSpPr/>
          <p:nvPr/>
        </p:nvSpPr>
        <p:spPr>
          <a:xfrm>
            <a:off x="68580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Everyday tasks</a:t>
            </a:r>
          </a:p>
        </p:txBody>
      </p:sp>
      <p:sp>
        <p:nvSpPr>
          <p:cNvPr id="8" name="TextBox 7"/>
          <p:cNvSpPr txBox="1"/>
          <p:nvPr/>
        </p:nvSpPr>
        <p:spPr>
          <a:xfrm>
            <a:off x="96012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Raise a request  </a:t>
            </a:r>
            <a:r>
              <a:rPr sz="1300">
                <a:solidFill>
                  <a:srgbClr val="595959"/>
                </a:solidFill>
                <a:latin typeface="Calibri"/>
              </a:rPr>
              <a:t>with New data request - the form shows the routing and flags duplicates as you type.</a:t>
            </a:r>
          </a:p>
          <a:p>
            <a:pPr algn="l">
              <a:spcBef>
                <a:spcPts val="0"/>
              </a:spcBef>
              <a:spcAft>
                <a:spcPts val="700"/>
              </a:spcAft>
            </a:pPr>
            <a:r>
              <a:rPr sz="1300" b="1">
                <a:solidFill>
                  <a:srgbClr val="F89739"/>
                </a:solidFill>
                <a:latin typeface="Calibri"/>
              </a:rPr>
              <a:t>-  </a:t>
            </a:r>
            <a:r>
              <a:rPr sz="1300" b="1">
                <a:solidFill>
                  <a:srgbClr val="09131B"/>
                </a:solidFill>
                <a:latin typeface="Calibri"/>
              </a:rPr>
              <a:t>Renew  </a:t>
            </a:r>
            <a:r>
              <a:rPr sz="1300">
                <a:solidFill>
                  <a:srgbClr val="595959"/>
                </a:solidFill>
                <a:latin typeface="Calibri"/>
              </a:rPr>
              <a:t>by choosing Continuing and the data being renewed - the form pre-fills from the catalogue.</a:t>
            </a:r>
          </a:p>
          <a:p>
            <a:pPr algn="l">
              <a:spcBef>
                <a:spcPts val="0"/>
              </a:spcBef>
              <a:spcAft>
                <a:spcPts val="700"/>
              </a:spcAft>
            </a:pPr>
            <a:r>
              <a:rPr sz="1300" b="1">
                <a:solidFill>
                  <a:srgbClr val="F89739"/>
                </a:solidFill>
                <a:latin typeface="Calibri"/>
              </a:rPr>
              <a:t>-  </a:t>
            </a:r>
            <a:r>
              <a:rPr sz="1300" b="1">
                <a:solidFill>
                  <a:srgbClr val="09131B"/>
                </a:solidFill>
                <a:latin typeface="Calibri"/>
              </a:rPr>
              <a:t>Review and act  </a:t>
            </a:r>
            <a:r>
              <a:rPr sz="1300">
                <a:solidFill>
                  <a:srgbClr val="595959"/>
                </a:solidFill>
                <a:latin typeface="Calibri"/>
              </a:rPr>
              <a:t>by switching your role and using the action buttons (route, recommend, approve, reject).</a:t>
            </a:r>
          </a:p>
          <a:p>
            <a:pPr algn="l">
              <a:spcBef>
                <a:spcPts val="0"/>
              </a:spcBef>
              <a:spcAft>
                <a:spcPts val="700"/>
              </a:spcAft>
            </a:pPr>
            <a:r>
              <a:rPr sz="1300" b="1">
                <a:solidFill>
                  <a:srgbClr val="F89739"/>
                </a:solidFill>
                <a:latin typeface="Calibri"/>
              </a:rPr>
              <a:t>-  </a:t>
            </a:r>
            <a:r>
              <a:rPr sz="1300" b="1">
                <a:solidFill>
                  <a:srgbClr val="09131B"/>
                </a:solidFill>
                <a:latin typeface="Calibri"/>
              </a:rPr>
              <a:t>Move to catalogue  </a:t>
            </a:r>
            <a:r>
              <a:rPr sz="1300">
                <a:solidFill>
                  <a:srgbClr val="595959"/>
                </a:solidFill>
                <a:latin typeface="Calibri"/>
              </a:rPr>
              <a:t>once approved - it creates a draft catalogue entry to complete.</a:t>
            </a:r>
          </a:p>
        </p:txBody>
      </p:sp>
      <p:sp>
        <p:nvSpPr>
          <p:cNvPr id="9" name="TextBox 8"/>
          <p:cNvSpPr txBox="1"/>
          <p:nvPr/>
        </p:nvSpPr>
        <p:spPr>
          <a:xfrm>
            <a:off x="658368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9A5C12"/>
                </a:solidFill>
                <a:latin typeface="Calibri"/>
              </a:rPr>
              <a:t>Helpful to know</a:t>
            </a:r>
          </a:p>
        </p:txBody>
      </p:sp>
      <p:sp>
        <p:nvSpPr>
          <p:cNvPr id="10" name="TextBox 9"/>
          <p:cNvSpPr txBox="1"/>
          <p:nvPr/>
        </p:nvSpPr>
        <p:spPr>
          <a:xfrm>
            <a:off x="658368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Duplicate alerts  </a:t>
            </a:r>
            <a:r>
              <a:rPr sz="1300">
                <a:solidFill>
                  <a:srgbClr val="595959"/>
                </a:solidFill>
                <a:latin typeface="Calibri"/>
              </a:rPr>
              <a:t>appear if your request overlaps something already owned - review before spending.</a:t>
            </a:r>
          </a:p>
          <a:p>
            <a:pPr algn="l">
              <a:spcBef>
                <a:spcPts val="0"/>
              </a:spcBef>
              <a:spcAft>
                <a:spcPts val="700"/>
              </a:spcAft>
            </a:pPr>
            <a:r>
              <a:rPr sz="1300" b="1">
                <a:solidFill>
                  <a:srgbClr val="F89739"/>
                </a:solidFill>
                <a:latin typeface="Calibri"/>
              </a:rPr>
              <a:t>-  </a:t>
            </a:r>
            <a:r>
              <a:rPr sz="1300" b="1">
                <a:solidFill>
                  <a:srgbClr val="09131B"/>
                </a:solidFill>
                <a:latin typeface="Calibri"/>
              </a:rPr>
              <a:t>Sub-national  </a:t>
            </a:r>
            <a:r>
              <a:rPr sz="1300">
                <a:solidFill>
                  <a:srgbClr val="595959"/>
                </a:solidFill>
                <a:latin typeface="Calibri"/>
              </a:rPr>
              <a:t>requests are handled offline by local teams.</a:t>
            </a:r>
          </a:p>
          <a:p>
            <a:pPr algn="l">
              <a:spcBef>
                <a:spcPts val="0"/>
              </a:spcBef>
              <a:spcAft>
                <a:spcPts val="700"/>
              </a:spcAft>
            </a:pPr>
            <a:r>
              <a:rPr sz="1300" b="1">
                <a:solidFill>
                  <a:srgbClr val="F89739"/>
                </a:solidFill>
                <a:latin typeface="Calibri"/>
              </a:rPr>
              <a:t>-  </a:t>
            </a:r>
            <a:r>
              <a:rPr sz="1300" b="1">
                <a:solidFill>
                  <a:srgbClr val="09131B"/>
                </a:solidFill>
                <a:latin typeface="Calibri"/>
              </a:rPr>
              <a:t>Every field is captured  </a:t>
            </a:r>
            <a:r>
              <a:rPr sz="1300">
                <a:solidFill>
                  <a:srgbClr val="595959"/>
                </a:solidFill>
                <a:latin typeface="Calibri"/>
              </a:rPr>
              <a:t>across the Request, Scope, and review tabs - nothing is re-entered later.</a:t>
            </a:r>
          </a:p>
          <a:p>
            <a:pPr algn="l">
              <a:spcBef>
                <a:spcPts val="0"/>
              </a:spcBef>
              <a:spcAft>
                <a:spcPts val="700"/>
              </a:spcAft>
            </a:pPr>
            <a:r>
              <a:rPr sz="1300" b="1">
                <a:solidFill>
                  <a:srgbClr val="F89739"/>
                </a:solidFill>
                <a:latin typeface="Calibri"/>
              </a:rPr>
              <a:t>-  </a:t>
            </a:r>
            <a:r>
              <a:rPr sz="1300" b="1">
                <a:solidFill>
                  <a:srgbClr val="09131B"/>
                </a:solidFill>
                <a:latin typeface="Calibri"/>
              </a:rPr>
              <a:t>Actions are role-based  </a:t>
            </a:r>
            <a:r>
              <a:rPr sz="1300">
                <a:solidFill>
                  <a:srgbClr val="595959"/>
                </a:solidFill>
                <a:latin typeface="Calibri"/>
              </a:rPr>
              <a:t>- if you see 'no actions for this role', switch to the role that owns this step.</a:t>
            </a:r>
          </a:p>
        </p:txBody>
      </p:sp>
      <p:sp>
        <p:nvSpPr>
          <p:cNvPr id="11" name="Rectangle 1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3" name="TextBox 1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DATA CATALOGUE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The record of everything purchased</a:t>
            </a:r>
          </a:p>
        </p:txBody>
      </p:sp>
      <p:sp>
        <p:nvSpPr>
          <p:cNvPr id="5" name="Rounded Rectangle 4"/>
          <p:cNvSpPr/>
          <p:nvPr/>
        </p:nvSpPr>
        <p:spPr>
          <a:xfrm>
            <a:off x="68580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What it shows</a:t>
            </a:r>
          </a:p>
        </p:txBody>
      </p:sp>
      <p:sp>
        <p:nvSpPr>
          <p:cNvPr id="8" name="TextBox 7"/>
          <p:cNvSpPr txBox="1"/>
          <p:nvPr/>
        </p:nvSpPr>
        <p:spPr>
          <a:xfrm>
            <a:off x="96012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Every purchased asset,  </a:t>
            </a:r>
            <a:r>
              <a:rPr sz="1300">
                <a:solidFill>
                  <a:srgbClr val="595959"/>
                </a:solidFill>
                <a:latin typeface="Calibri"/>
              </a:rPr>
              <a:t>with its vendor, therapeutic area and brand.</a:t>
            </a:r>
          </a:p>
          <a:p>
            <a:pPr algn="l">
              <a:spcBef>
                <a:spcPts val="0"/>
              </a:spcBef>
              <a:spcAft>
                <a:spcPts val="700"/>
              </a:spcAft>
            </a:pPr>
            <a:r>
              <a:rPr sz="1300" b="1">
                <a:solidFill>
                  <a:srgbClr val="F89739"/>
                </a:solidFill>
                <a:latin typeface="Calibri"/>
              </a:rPr>
              <a:t>-  </a:t>
            </a:r>
            <a:r>
              <a:rPr sz="1300" b="1">
                <a:solidFill>
                  <a:srgbClr val="09131B"/>
                </a:solidFill>
                <a:latin typeface="Calibri"/>
              </a:rPr>
              <a:t>A quality tier,  </a:t>
            </a:r>
            <a:r>
              <a:rPr sz="1300">
                <a:solidFill>
                  <a:srgbClr val="595959"/>
                </a:solidFill>
                <a:latin typeface="Calibri"/>
              </a:rPr>
              <a:t>Gold, Silver or Bronze, per asset.</a:t>
            </a:r>
          </a:p>
          <a:p>
            <a:pPr algn="l">
              <a:spcBef>
                <a:spcPts val="0"/>
              </a:spcBef>
              <a:spcAft>
                <a:spcPts val="700"/>
              </a:spcAft>
            </a:pPr>
            <a:r>
              <a:rPr sz="1300" b="1">
                <a:solidFill>
                  <a:srgbClr val="F89739"/>
                </a:solidFill>
                <a:latin typeface="Calibri"/>
              </a:rPr>
              <a:t>-  </a:t>
            </a:r>
            <a:r>
              <a:rPr sz="1300" b="1">
                <a:solidFill>
                  <a:srgbClr val="09131B"/>
                </a:solidFill>
                <a:latin typeface="Calibri"/>
              </a:rPr>
              <a:t>Sensitivity flags,  </a:t>
            </a:r>
            <a:r>
              <a:rPr sz="1300">
                <a:solidFill>
                  <a:srgbClr val="595959"/>
                </a:solidFill>
                <a:latin typeface="Calibri"/>
              </a:rPr>
              <a:t>PII and PHI.</a:t>
            </a:r>
          </a:p>
          <a:p>
            <a:pPr algn="l">
              <a:spcBef>
                <a:spcPts val="0"/>
              </a:spcBef>
              <a:spcAft>
                <a:spcPts val="700"/>
              </a:spcAft>
            </a:pPr>
            <a:r>
              <a:rPr sz="1300" b="1">
                <a:solidFill>
                  <a:srgbClr val="F89739"/>
                </a:solidFill>
                <a:latin typeface="Calibri"/>
              </a:rPr>
              <a:t>-  </a:t>
            </a:r>
            <a:r>
              <a:rPr sz="1300" b="1">
                <a:solidFill>
                  <a:srgbClr val="09131B"/>
                </a:solidFill>
                <a:latin typeface="Calibri"/>
              </a:rPr>
              <a:t>A full record,  </a:t>
            </a:r>
            <a:r>
              <a:rPr sz="1300">
                <a:solidFill>
                  <a:srgbClr val="595959"/>
                </a:solidFill>
                <a:latin typeface="Calibri"/>
              </a:rPr>
              <a:t>identity, classification, coverage, commercials and access - plus its lineage.</a:t>
            </a:r>
          </a:p>
          <a:p>
            <a:pPr algn="l">
              <a:spcBef>
                <a:spcPts val="0"/>
              </a:spcBef>
              <a:spcAft>
                <a:spcPts val="700"/>
              </a:spcAft>
            </a:pPr>
            <a:r>
              <a:rPr sz="1300" b="1">
                <a:solidFill>
                  <a:srgbClr val="F89739"/>
                </a:solidFill>
                <a:latin typeface="Calibri"/>
              </a:rPr>
              <a:t>-  </a:t>
            </a:r>
            <a:r>
              <a:rPr sz="1300" b="1">
                <a:solidFill>
                  <a:srgbClr val="09131B"/>
                </a:solidFill>
                <a:latin typeface="Calibri"/>
              </a:rPr>
              <a:t>Quality flags,  </a:t>
            </a:r>
            <a:r>
              <a:rPr sz="1300">
                <a:solidFill>
                  <a:srgbClr val="595959"/>
                </a:solidFill>
                <a:latin typeface="Calibri"/>
              </a:rPr>
              <a:t>when a low-tier asset feeds a strategic KPI.</a:t>
            </a:r>
          </a:p>
        </p:txBody>
      </p:sp>
      <p:sp>
        <p:nvSpPr>
          <p:cNvPr id="9" name="TextBox 8"/>
          <p:cNvSpPr txBox="1"/>
          <p:nvPr/>
        </p:nvSpPr>
        <p:spPr>
          <a:xfrm>
            <a:off x="658368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9A5C12"/>
                </a:solidFill>
                <a:latin typeface="Calibri"/>
              </a:rPr>
              <a:t>What you can do</a:t>
            </a:r>
          </a:p>
        </p:txBody>
      </p:sp>
      <p:sp>
        <p:nvSpPr>
          <p:cNvPr id="10" name="TextBox 9"/>
          <p:cNvSpPr txBox="1"/>
          <p:nvPr/>
        </p:nvSpPr>
        <p:spPr>
          <a:xfrm>
            <a:off x="658368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Search before you buy  </a:t>
            </a:r>
            <a:r>
              <a:rPr sz="1300">
                <a:solidFill>
                  <a:srgbClr val="595959"/>
                </a:solidFill>
                <a:latin typeface="Calibri"/>
              </a:rPr>
              <a:t>- check whether the data already exists.</a:t>
            </a:r>
          </a:p>
          <a:p>
            <a:pPr algn="l">
              <a:spcBef>
                <a:spcPts val="0"/>
              </a:spcBef>
              <a:spcAft>
                <a:spcPts val="700"/>
              </a:spcAft>
            </a:pPr>
            <a:r>
              <a:rPr sz="1300" b="1">
                <a:solidFill>
                  <a:srgbClr val="F89739"/>
                </a:solidFill>
                <a:latin typeface="Calibri"/>
              </a:rPr>
              <a:t>-  </a:t>
            </a:r>
            <a:r>
              <a:rPr sz="1300" b="1">
                <a:solidFill>
                  <a:srgbClr val="09131B"/>
                </a:solidFill>
                <a:latin typeface="Calibri"/>
              </a:rPr>
              <a:t>Add a manual entry  </a:t>
            </a:r>
            <a:r>
              <a:rPr sz="1300">
                <a:solidFill>
                  <a:srgbClr val="595959"/>
                </a:solidFill>
                <a:latin typeface="Calibri"/>
              </a:rPr>
              <a:t>- the tool auto-classifies PII/PHI and suggests a quality tier as you fill it in.</a:t>
            </a:r>
          </a:p>
          <a:p>
            <a:pPr algn="l">
              <a:spcBef>
                <a:spcPts val="0"/>
              </a:spcBef>
              <a:spcAft>
                <a:spcPts val="700"/>
              </a:spcAft>
            </a:pPr>
            <a:r>
              <a:rPr sz="1300" b="1">
                <a:solidFill>
                  <a:srgbClr val="F89739"/>
                </a:solidFill>
                <a:latin typeface="Calibri"/>
              </a:rPr>
              <a:t>-  </a:t>
            </a:r>
            <a:r>
              <a:rPr sz="1300" b="1">
                <a:solidFill>
                  <a:srgbClr val="09131B"/>
                </a:solidFill>
                <a:latin typeface="Calibri"/>
              </a:rPr>
              <a:t>Complete and publish  </a:t>
            </a:r>
            <a:r>
              <a:rPr sz="1300">
                <a:solidFill>
                  <a:srgbClr val="595959"/>
                </a:solidFill>
                <a:latin typeface="Calibri"/>
              </a:rPr>
              <a:t>a draft that arrived from an approved request.</a:t>
            </a:r>
          </a:p>
          <a:p>
            <a:pPr algn="l">
              <a:spcBef>
                <a:spcPts val="0"/>
              </a:spcBef>
              <a:spcAft>
                <a:spcPts val="700"/>
              </a:spcAft>
            </a:pPr>
            <a:r>
              <a:rPr sz="1300" b="1">
                <a:solidFill>
                  <a:srgbClr val="F89739"/>
                </a:solidFill>
                <a:latin typeface="Calibri"/>
              </a:rPr>
              <a:t>-  </a:t>
            </a:r>
            <a:r>
              <a:rPr sz="1300" b="1">
                <a:solidFill>
                  <a:srgbClr val="09131B"/>
                </a:solidFill>
                <a:latin typeface="Calibri"/>
              </a:rPr>
              <a:t>Jump to related records  </a:t>
            </a:r>
            <a:r>
              <a:rPr sz="1300">
                <a:solidFill>
                  <a:srgbClr val="595959"/>
                </a:solidFill>
                <a:latin typeface="Calibri"/>
              </a:rPr>
              <a:t>- the vendor, the KPIs it feeds, its agreement.</a:t>
            </a:r>
          </a:p>
        </p:txBody>
      </p:sp>
      <p:sp>
        <p:nvSpPr>
          <p:cNvPr id="11" name="Rectangle 1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3" name="TextBox 1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KPI CATALOGUE</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The metrics built on the data</a:t>
            </a:r>
          </a:p>
        </p:txBody>
      </p:sp>
      <p:sp>
        <p:nvSpPr>
          <p:cNvPr id="5" name="Rounded Rectangle 4"/>
          <p:cNvSpPr/>
          <p:nvPr/>
        </p:nvSpPr>
        <p:spPr>
          <a:xfrm>
            <a:off x="68580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What it shows</a:t>
            </a:r>
          </a:p>
        </p:txBody>
      </p:sp>
      <p:sp>
        <p:nvSpPr>
          <p:cNvPr id="8" name="TextBox 7"/>
          <p:cNvSpPr txBox="1"/>
          <p:nvPr/>
        </p:nvSpPr>
        <p:spPr>
          <a:xfrm>
            <a:off x="96012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Every KPI and metric,  </a:t>
            </a:r>
            <a:r>
              <a:rPr sz="1300">
                <a:solidFill>
                  <a:srgbClr val="595959"/>
                </a:solidFill>
                <a:latin typeface="Calibri"/>
              </a:rPr>
              <a:t>with definition, methodology, cadence and contacts.</a:t>
            </a:r>
          </a:p>
          <a:p>
            <a:pPr algn="l">
              <a:spcBef>
                <a:spcPts val="0"/>
              </a:spcBef>
              <a:spcAft>
                <a:spcPts val="700"/>
              </a:spcAft>
            </a:pPr>
            <a:r>
              <a:rPr sz="1300" b="1">
                <a:solidFill>
                  <a:srgbClr val="F89739"/>
                </a:solidFill>
                <a:latin typeface="Calibri"/>
              </a:rPr>
              <a:t>-  </a:t>
            </a:r>
            <a:r>
              <a:rPr sz="1300" b="1">
                <a:solidFill>
                  <a:srgbClr val="09131B"/>
                </a:solidFill>
                <a:latin typeface="Calibri"/>
              </a:rPr>
              <a:t>Scope,  </a:t>
            </a:r>
            <a:r>
              <a:rPr sz="1300">
                <a:solidFill>
                  <a:srgbClr val="595959"/>
                </a:solidFill>
                <a:latin typeface="Calibri"/>
              </a:rPr>
              <a:t>Global, Regional or Local.</a:t>
            </a:r>
          </a:p>
          <a:p>
            <a:pPr algn="l">
              <a:spcBef>
                <a:spcPts val="0"/>
              </a:spcBef>
              <a:spcAft>
                <a:spcPts val="700"/>
              </a:spcAft>
            </a:pPr>
            <a:r>
              <a:rPr sz="1300" b="1">
                <a:solidFill>
                  <a:srgbClr val="F89739"/>
                </a:solidFill>
                <a:latin typeface="Calibri"/>
              </a:rPr>
              <a:t>-  </a:t>
            </a:r>
            <a:r>
              <a:rPr sz="1300" b="1">
                <a:solidFill>
                  <a:srgbClr val="09131B"/>
                </a:solidFill>
                <a:latin typeface="Calibri"/>
              </a:rPr>
              <a:t>Lineage,  </a:t>
            </a:r>
            <a:r>
              <a:rPr sz="1300">
                <a:solidFill>
                  <a:srgbClr val="595959"/>
                </a:solidFill>
                <a:latin typeface="Calibri"/>
              </a:rPr>
              <a:t>the source asset (and therefore vendor) behind each number.</a:t>
            </a:r>
          </a:p>
          <a:p>
            <a:pPr algn="l">
              <a:spcBef>
                <a:spcPts val="0"/>
              </a:spcBef>
              <a:spcAft>
                <a:spcPts val="700"/>
              </a:spcAft>
            </a:pPr>
            <a:r>
              <a:rPr sz="1300" b="1">
                <a:solidFill>
                  <a:srgbClr val="F89739"/>
                </a:solidFill>
                <a:latin typeface="Calibri"/>
              </a:rPr>
              <a:t>-  </a:t>
            </a:r>
            <a:r>
              <a:rPr sz="1300" b="1">
                <a:solidFill>
                  <a:srgbClr val="09131B"/>
                </a:solidFill>
                <a:latin typeface="Calibri"/>
              </a:rPr>
              <a:t>Quality risk,  </a:t>
            </a:r>
            <a:r>
              <a:rPr sz="1300">
                <a:solidFill>
                  <a:srgbClr val="595959"/>
                </a:solidFill>
                <a:latin typeface="Calibri"/>
              </a:rPr>
              <a:t>a flag when a strategic KPI rests on a low-tier asset.</a:t>
            </a:r>
          </a:p>
        </p:txBody>
      </p:sp>
      <p:sp>
        <p:nvSpPr>
          <p:cNvPr id="9" name="TextBox 8"/>
          <p:cNvSpPr txBox="1"/>
          <p:nvPr/>
        </p:nvSpPr>
        <p:spPr>
          <a:xfrm>
            <a:off x="658368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9A5C12"/>
                </a:solidFill>
                <a:latin typeface="Calibri"/>
              </a:rPr>
              <a:t>What you can do</a:t>
            </a:r>
          </a:p>
        </p:txBody>
      </p:sp>
      <p:sp>
        <p:nvSpPr>
          <p:cNvPr id="10" name="TextBox 9"/>
          <p:cNvSpPr txBox="1"/>
          <p:nvPr/>
        </p:nvSpPr>
        <p:spPr>
          <a:xfrm>
            <a:off x="658368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Trace any number  </a:t>
            </a:r>
            <a:r>
              <a:rPr sz="1300">
                <a:solidFill>
                  <a:srgbClr val="595959"/>
                </a:solidFill>
                <a:latin typeface="Calibri"/>
              </a:rPr>
              <a:t>to its source in two clicks.</a:t>
            </a:r>
          </a:p>
          <a:p>
            <a:pPr algn="l">
              <a:spcBef>
                <a:spcPts val="0"/>
              </a:spcBef>
              <a:spcAft>
                <a:spcPts val="700"/>
              </a:spcAft>
            </a:pPr>
            <a:r>
              <a:rPr sz="1300" b="1">
                <a:solidFill>
                  <a:srgbClr val="F89739"/>
                </a:solidFill>
                <a:latin typeface="Calibri"/>
              </a:rPr>
              <a:t>-  </a:t>
            </a:r>
            <a:r>
              <a:rPr sz="1300" b="1">
                <a:solidFill>
                  <a:srgbClr val="09131B"/>
                </a:solidFill>
                <a:latin typeface="Calibri"/>
              </a:rPr>
              <a:t>Add a KPI or metric  </a:t>
            </a:r>
            <a:r>
              <a:rPr sz="1300">
                <a:solidFill>
                  <a:srgbClr val="595959"/>
                </a:solidFill>
                <a:latin typeface="Calibri"/>
              </a:rPr>
              <a:t>and link its source asset - lineage and quality risk compute automatically.</a:t>
            </a:r>
          </a:p>
          <a:p>
            <a:pPr algn="l">
              <a:spcBef>
                <a:spcPts val="0"/>
              </a:spcBef>
              <a:spcAft>
                <a:spcPts val="700"/>
              </a:spcAft>
            </a:pPr>
            <a:r>
              <a:rPr sz="1300" b="1">
                <a:solidFill>
                  <a:srgbClr val="F89739"/>
                </a:solidFill>
                <a:latin typeface="Calibri"/>
              </a:rPr>
              <a:t>-  </a:t>
            </a:r>
            <a:r>
              <a:rPr sz="1300" b="1">
                <a:solidFill>
                  <a:srgbClr val="09131B"/>
                </a:solidFill>
                <a:latin typeface="Calibri"/>
              </a:rPr>
              <a:t>Judge how much to trust a metric  </a:t>
            </a:r>
            <a:r>
              <a:rPr sz="1300">
                <a:solidFill>
                  <a:srgbClr val="595959"/>
                </a:solidFill>
                <a:latin typeface="Calibri"/>
              </a:rPr>
              <a:t>by seeing the quality of the data beneath it.</a:t>
            </a:r>
          </a:p>
        </p:txBody>
      </p:sp>
      <p:sp>
        <p:nvSpPr>
          <p:cNvPr id="11" name="Rectangle 1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3" name="TextBox 1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VENDOR HUB</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Who supplies your data</a:t>
            </a:r>
          </a:p>
        </p:txBody>
      </p:sp>
      <p:sp>
        <p:nvSpPr>
          <p:cNvPr id="5" name="Rounded Rectangle 4"/>
          <p:cNvSpPr/>
          <p:nvPr/>
        </p:nvSpPr>
        <p:spPr>
          <a:xfrm>
            <a:off x="68580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What it shows</a:t>
            </a:r>
          </a:p>
        </p:txBody>
      </p:sp>
      <p:sp>
        <p:nvSpPr>
          <p:cNvPr id="8" name="TextBox 7"/>
          <p:cNvSpPr txBox="1"/>
          <p:nvPr/>
        </p:nvSpPr>
        <p:spPr>
          <a:xfrm>
            <a:off x="96012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Every vendor,  </a:t>
            </a:r>
            <a:r>
              <a:rPr sz="1300">
                <a:solidFill>
                  <a:srgbClr val="595959"/>
                </a:solidFill>
                <a:latin typeface="Calibri"/>
              </a:rPr>
              <a:t>what data they hold and how to access it.</a:t>
            </a:r>
          </a:p>
          <a:p>
            <a:pPr algn="l">
              <a:spcBef>
                <a:spcPts val="0"/>
              </a:spcBef>
              <a:spcAft>
                <a:spcPts val="700"/>
              </a:spcAft>
            </a:pPr>
            <a:r>
              <a:rPr sz="1300" b="1">
                <a:solidFill>
                  <a:srgbClr val="F89739"/>
                </a:solidFill>
                <a:latin typeface="Calibri"/>
              </a:rPr>
              <a:t>-  </a:t>
            </a:r>
            <a:r>
              <a:rPr sz="1300" b="1">
                <a:solidFill>
                  <a:srgbClr val="09131B"/>
                </a:solidFill>
                <a:latin typeface="Calibri"/>
              </a:rPr>
              <a:t>Purchased vs available,  </a:t>
            </a:r>
            <a:r>
              <a:rPr sz="1300">
                <a:solidFill>
                  <a:srgbClr val="595959"/>
                </a:solidFill>
                <a:latin typeface="Calibri"/>
              </a:rPr>
              <a:t>what you buy versus everything they offer.</a:t>
            </a:r>
          </a:p>
          <a:p>
            <a:pPr algn="l">
              <a:spcBef>
                <a:spcPts val="0"/>
              </a:spcBef>
              <a:spcAft>
                <a:spcPts val="700"/>
              </a:spcAft>
            </a:pPr>
            <a:r>
              <a:rPr sz="1300" b="1">
                <a:solidFill>
                  <a:srgbClr val="F89739"/>
                </a:solidFill>
                <a:latin typeface="Calibri"/>
              </a:rPr>
              <a:t>-  </a:t>
            </a:r>
            <a:r>
              <a:rPr sz="1300" b="1">
                <a:solidFill>
                  <a:srgbClr val="09131B"/>
                </a:solidFill>
                <a:latin typeface="Calibri"/>
              </a:rPr>
              <a:t>Contacts and guidance,  </a:t>
            </a:r>
            <a:r>
              <a:rPr sz="1300">
                <a:solidFill>
                  <a:srgbClr val="595959"/>
                </a:solidFill>
                <a:latin typeface="Calibri"/>
              </a:rPr>
              <a:t>per vendor.</a:t>
            </a:r>
          </a:p>
          <a:p>
            <a:pPr algn="l">
              <a:spcBef>
                <a:spcPts val="0"/>
              </a:spcBef>
              <a:spcAft>
                <a:spcPts val="700"/>
              </a:spcAft>
            </a:pPr>
            <a:r>
              <a:rPr sz="1300" b="1">
                <a:solidFill>
                  <a:srgbClr val="F89739"/>
                </a:solidFill>
                <a:latin typeface="Calibri"/>
              </a:rPr>
              <a:t>-  </a:t>
            </a:r>
            <a:r>
              <a:rPr sz="1300" b="1">
                <a:solidFill>
                  <a:srgbClr val="09131B"/>
                </a:solidFill>
                <a:latin typeface="Calibri"/>
              </a:rPr>
              <a:t>A link up to the value layer  </a:t>
            </a:r>
            <a:r>
              <a:rPr sz="1300">
                <a:solidFill>
                  <a:srgbClr val="595959"/>
                </a:solidFill>
                <a:latin typeface="Calibri"/>
              </a:rPr>
              <a:t>- Vendor Hub Plus.</a:t>
            </a:r>
          </a:p>
        </p:txBody>
      </p:sp>
      <p:sp>
        <p:nvSpPr>
          <p:cNvPr id="9" name="TextBox 8"/>
          <p:cNvSpPr txBox="1"/>
          <p:nvPr/>
        </p:nvSpPr>
        <p:spPr>
          <a:xfrm>
            <a:off x="658368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9A5C12"/>
                </a:solidFill>
                <a:latin typeface="Calibri"/>
              </a:rPr>
              <a:t>What you can do</a:t>
            </a:r>
          </a:p>
        </p:txBody>
      </p:sp>
      <p:sp>
        <p:nvSpPr>
          <p:cNvPr id="10" name="TextBox 9"/>
          <p:cNvSpPr txBox="1"/>
          <p:nvPr/>
        </p:nvSpPr>
        <p:spPr>
          <a:xfrm>
            <a:off x="658368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Look up a vendor  </a:t>
            </a:r>
            <a:r>
              <a:rPr sz="1300">
                <a:solidFill>
                  <a:srgbClr val="595959"/>
                </a:solidFill>
                <a:latin typeface="Calibri"/>
              </a:rPr>
              <a:t>and what we license from them.</a:t>
            </a:r>
          </a:p>
          <a:p>
            <a:pPr algn="l">
              <a:spcBef>
                <a:spcPts val="0"/>
              </a:spcBef>
              <a:spcAft>
                <a:spcPts val="700"/>
              </a:spcAft>
            </a:pPr>
            <a:r>
              <a:rPr sz="1300" b="1">
                <a:solidFill>
                  <a:srgbClr val="F89739"/>
                </a:solidFill>
                <a:latin typeface="Calibri"/>
              </a:rPr>
              <a:t>-  </a:t>
            </a:r>
            <a:r>
              <a:rPr sz="1300" b="1">
                <a:solidFill>
                  <a:srgbClr val="09131B"/>
                </a:solidFill>
                <a:latin typeface="Calibri"/>
              </a:rPr>
              <a:t>Spot untapped coverage  </a:t>
            </a:r>
            <a:r>
              <a:rPr sz="1300">
                <a:solidFill>
                  <a:srgbClr val="595959"/>
                </a:solidFill>
                <a:latin typeface="Calibri"/>
              </a:rPr>
              <a:t>- offerings you do not yet buy.</a:t>
            </a:r>
          </a:p>
          <a:p>
            <a:pPr algn="l">
              <a:spcBef>
                <a:spcPts val="0"/>
              </a:spcBef>
              <a:spcAft>
                <a:spcPts val="700"/>
              </a:spcAft>
            </a:pPr>
            <a:r>
              <a:rPr sz="1300" b="1">
                <a:solidFill>
                  <a:srgbClr val="F89739"/>
                </a:solidFill>
                <a:latin typeface="Calibri"/>
              </a:rPr>
              <a:t>-  </a:t>
            </a:r>
            <a:r>
              <a:rPr sz="1300" b="1">
                <a:solidFill>
                  <a:srgbClr val="09131B"/>
                </a:solidFill>
                <a:latin typeface="Calibri"/>
              </a:rPr>
              <a:t>Open Vendor Hub Plus  </a:t>
            </a:r>
            <a:r>
              <a:rPr sz="1300">
                <a:solidFill>
                  <a:srgbClr val="595959"/>
                </a:solidFill>
                <a:latin typeface="Calibri"/>
              </a:rPr>
              <a:t>for the value and risk analytics.</a:t>
            </a:r>
          </a:p>
        </p:txBody>
      </p:sp>
      <p:sp>
        <p:nvSpPr>
          <p:cNvPr id="11" name="Rectangle 1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3" name="TextBox 1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VENDOR HUB PLUS</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The vendor value and risk layer</a:t>
            </a:r>
          </a:p>
        </p:txBody>
      </p:sp>
      <p:sp>
        <p:nvSpPr>
          <p:cNvPr id="5" name="Rounded Rectangle 4"/>
          <p:cNvSpPr/>
          <p:nvPr/>
        </p:nvSpPr>
        <p:spPr>
          <a:xfrm>
            <a:off x="685800" y="2011680"/>
            <a:ext cx="2103120" cy="28346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223113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31136"/>
            <a:ext cx="402336" cy="402336"/>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1</a:t>
            </a:r>
          </a:p>
        </p:txBody>
      </p:sp>
      <p:sp>
        <p:nvSpPr>
          <p:cNvPr id="8" name="TextBox 7"/>
          <p:cNvSpPr txBox="1"/>
          <p:nvPr/>
        </p:nvSpPr>
        <p:spPr>
          <a:xfrm>
            <a:off x="868680" y="2834640"/>
            <a:ext cx="1737360" cy="1828800"/>
          </a:xfrm>
          <a:prstGeom prst="rect">
            <a:avLst/>
          </a:prstGeom>
          <a:noFill/>
        </p:spPr>
        <p:txBody>
          <a:bodyPr wrap="square" anchor="t" lIns="0" rIns="0" tIns="0" bIns="0">
            <a:spAutoFit/>
          </a:bodyPr>
          <a:lstStyle/>
          <a:p>
            <a:pPr algn="l">
              <a:spcBef>
                <a:spcPts val="0"/>
              </a:spcBef>
              <a:spcAft>
                <a:spcPts val="600"/>
              </a:spcAft>
            </a:pPr>
            <a:r>
              <a:rPr sz="1300" b="1">
                <a:solidFill>
                  <a:srgbClr val="09131B"/>
                </a:solidFill>
                <a:latin typeface="Calibri"/>
              </a:rPr>
              <a:t>Quality score</a:t>
            </a:r>
          </a:p>
          <a:p>
            <a:pPr algn="l">
              <a:spcBef>
                <a:spcPts val="0"/>
              </a:spcBef>
              <a:spcAft>
                <a:spcPts val="0"/>
              </a:spcAft>
            </a:pPr>
            <a:r>
              <a:rPr sz="1100" b="0">
                <a:solidFill>
                  <a:srgbClr val="595959"/>
                </a:solidFill>
                <a:latin typeface="Calibri"/>
              </a:rPr>
              <a:t>each vendor's Gold/Silver/Bronze mix rolled up to a grade</a:t>
            </a:r>
          </a:p>
        </p:txBody>
      </p:sp>
      <p:sp>
        <p:nvSpPr>
          <p:cNvPr id="9" name="Rounded Rectangle 8"/>
          <p:cNvSpPr/>
          <p:nvPr/>
        </p:nvSpPr>
        <p:spPr>
          <a:xfrm>
            <a:off x="2880360" y="2011680"/>
            <a:ext cx="2103120" cy="28346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63240" y="223113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2231136"/>
            <a:ext cx="402336" cy="402336"/>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2</a:t>
            </a:r>
          </a:p>
        </p:txBody>
      </p:sp>
      <p:sp>
        <p:nvSpPr>
          <p:cNvPr id="12" name="TextBox 11"/>
          <p:cNvSpPr txBox="1"/>
          <p:nvPr/>
        </p:nvSpPr>
        <p:spPr>
          <a:xfrm>
            <a:off x="3063240" y="2834640"/>
            <a:ext cx="1737360" cy="1828800"/>
          </a:xfrm>
          <a:prstGeom prst="rect">
            <a:avLst/>
          </a:prstGeom>
          <a:noFill/>
        </p:spPr>
        <p:txBody>
          <a:bodyPr wrap="square" anchor="t" lIns="0" rIns="0" tIns="0" bIns="0">
            <a:spAutoFit/>
          </a:bodyPr>
          <a:lstStyle/>
          <a:p>
            <a:pPr algn="l">
              <a:spcBef>
                <a:spcPts val="0"/>
              </a:spcBef>
              <a:spcAft>
                <a:spcPts val="600"/>
              </a:spcAft>
            </a:pPr>
            <a:r>
              <a:rPr sz="1300" b="1">
                <a:solidFill>
                  <a:srgbClr val="09131B"/>
                </a:solidFill>
                <a:latin typeface="Calibri"/>
              </a:rPr>
              <a:t>Spend concentration</a:t>
            </a:r>
          </a:p>
          <a:p>
            <a:pPr algn="l">
              <a:spcBef>
                <a:spcPts val="0"/>
              </a:spcBef>
              <a:spcAft>
                <a:spcPts val="0"/>
              </a:spcAft>
            </a:pPr>
            <a:r>
              <a:rPr sz="1100" b="0">
                <a:solidFill>
                  <a:srgbClr val="595959"/>
                </a:solidFill>
                <a:latin typeface="Calibri"/>
              </a:rPr>
              <a:t>each vendor's share of spend, with an estate-wide HHI</a:t>
            </a:r>
          </a:p>
        </p:txBody>
      </p:sp>
      <p:sp>
        <p:nvSpPr>
          <p:cNvPr id="13" name="Rounded Rectangle 12"/>
          <p:cNvSpPr/>
          <p:nvPr/>
        </p:nvSpPr>
        <p:spPr>
          <a:xfrm>
            <a:off x="5074920" y="2011680"/>
            <a:ext cx="2103120" cy="28346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57800" y="223113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231136"/>
            <a:ext cx="402336" cy="402336"/>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3</a:t>
            </a:r>
          </a:p>
        </p:txBody>
      </p:sp>
      <p:sp>
        <p:nvSpPr>
          <p:cNvPr id="16" name="TextBox 15"/>
          <p:cNvSpPr txBox="1"/>
          <p:nvPr/>
        </p:nvSpPr>
        <p:spPr>
          <a:xfrm>
            <a:off x="5257800" y="2834640"/>
            <a:ext cx="1737360" cy="1828800"/>
          </a:xfrm>
          <a:prstGeom prst="rect">
            <a:avLst/>
          </a:prstGeom>
          <a:noFill/>
        </p:spPr>
        <p:txBody>
          <a:bodyPr wrap="square" anchor="t" lIns="0" rIns="0" tIns="0" bIns="0">
            <a:spAutoFit/>
          </a:bodyPr>
          <a:lstStyle/>
          <a:p>
            <a:pPr algn="l">
              <a:spcBef>
                <a:spcPts val="0"/>
              </a:spcBef>
              <a:spcAft>
                <a:spcPts val="600"/>
              </a:spcAft>
            </a:pPr>
            <a:r>
              <a:rPr sz="1300" b="1">
                <a:solidFill>
                  <a:srgbClr val="09131B"/>
                </a:solidFill>
                <a:latin typeface="Calibri"/>
              </a:rPr>
              <a:t>Irreplaceability</a:t>
            </a:r>
          </a:p>
          <a:p>
            <a:pPr algn="l">
              <a:spcBef>
                <a:spcPts val="0"/>
              </a:spcBef>
              <a:spcAft>
                <a:spcPts val="0"/>
              </a:spcAft>
            </a:pPr>
            <a:r>
              <a:rPr sz="1100" b="0">
                <a:solidFill>
                  <a:srgbClr val="595959"/>
                </a:solidFill>
                <a:latin typeface="Calibri"/>
              </a:rPr>
              <a:t>what breaks if a vendor leaves - assets and KPIs at stake</a:t>
            </a:r>
          </a:p>
        </p:txBody>
      </p:sp>
      <p:sp>
        <p:nvSpPr>
          <p:cNvPr id="17" name="Rounded Rectangle 16"/>
          <p:cNvSpPr/>
          <p:nvPr/>
        </p:nvSpPr>
        <p:spPr>
          <a:xfrm>
            <a:off x="7269480" y="2011680"/>
            <a:ext cx="2103120" cy="28346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52360" y="223113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2231136"/>
            <a:ext cx="402336" cy="402336"/>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4</a:t>
            </a:r>
          </a:p>
        </p:txBody>
      </p:sp>
      <p:sp>
        <p:nvSpPr>
          <p:cNvPr id="20" name="TextBox 19"/>
          <p:cNvSpPr txBox="1"/>
          <p:nvPr/>
        </p:nvSpPr>
        <p:spPr>
          <a:xfrm>
            <a:off x="7452360" y="2834640"/>
            <a:ext cx="1737360" cy="1828800"/>
          </a:xfrm>
          <a:prstGeom prst="rect">
            <a:avLst/>
          </a:prstGeom>
          <a:noFill/>
        </p:spPr>
        <p:txBody>
          <a:bodyPr wrap="square" anchor="t" lIns="0" rIns="0" tIns="0" bIns="0">
            <a:spAutoFit/>
          </a:bodyPr>
          <a:lstStyle/>
          <a:p>
            <a:pPr algn="l">
              <a:spcBef>
                <a:spcPts val="0"/>
              </a:spcBef>
              <a:spcAft>
                <a:spcPts val="600"/>
              </a:spcAft>
            </a:pPr>
            <a:r>
              <a:rPr sz="1300" b="1">
                <a:solidFill>
                  <a:srgbClr val="09131B"/>
                </a:solidFill>
                <a:latin typeface="Calibri"/>
              </a:rPr>
              <a:t>Cost-per-quality</a:t>
            </a:r>
          </a:p>
          <a:p>
            <a:pPr algn="l">
              <a:spcBef>
                <a:spcPts val="0"/>
              </a:spcBef>
              <a:spcAft>
                <a:spcPts val="0"/>
              </a:spcAft>
            </a:pPr>
            <a:r>
              <a:rPr sz="1100" b="0">
                <a:solidFill>
                  <a:srgbClr val="595959"/>
                </a:solidFill>
                <a:latin typeface="Calibri"/>
              </a:rPr>
              <a:t>whether we are overpaying for low-tier data</a:t>
            </a:r>
          </a:p>
        </p:txBody>
      </p:sp>
      <p:sp>
        <p:nvSpPr>
          <p:cNvPr id="21" name="Rounded Rectangle 20"/>
          <p:cNvSpPr/>
          <p:nvPr/>
        </p:nvSpPr>
        <p:spPr>
          <a:xfrm>
            <a:off x="9464040" y="2011680"/>
            <a:ext cx="2103120" cy="28346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46920" y="2231136"/>
            <a:ext cx="402336" cy="402336"/>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6920" y="2231136"/>
            <a:ext cx="402336" cy="402336"/>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5</a:t>
            </a:r>
          </a:p>
        </p:txBody>
      </p:sp>
      <p:sp>
        <p:nvSpPr>
          <p:cNvPr id="24" name="TextBox 23"/>
          <p:cNvSpPr txBox="1"/>
          <p:nvPr/>
        </p:nvSpPr>
        <p:spPr>
          <a:xfrm>
            <a:off x="9646920" y="2834640"/>
            <a:ext cx="1737360" cy="1828800"/>
          </a:xfrm>
          <a:prstGeom prst="rect">
            <a:avLst/>
          </a:prstGeom>
          <a:noFill/>
        </p:spPr>
        <p:txBody>
          <a:bodyPr wrap="square" anchor="t" lIns="0" rIns="0" tIns="0" bIns="0">
            <a:spAutoFit/>
          </a:bodyPr>
          <a:lstStyle/>
          <a:p>
            <a:pPr algn="l">
              <a:spcBef>
                <a:spcPts val="0"/>
              </a:spcBef>
              <a:spcAft>
                <a:spcPts val="600"/>
              </a:spcAft>
            </a:pPr>
            <a:r>
              <a:rPr sz="1300" b="1">
                <a:solidFill>
                  <a:srgbClr val="09131B"/>
                </a:solidFill>
                <a:latin typeface="Calibri"/>
              </a:rPr>
              <a:t>Leverage</a:t>
            </a:r>
          </a:p>
          <a:p>
            <a:pPr algn="l">
              <a:spcBef>
                <a:spcPts val="0"/>
              </a:spcBef>
              <a:spcAft>
                <a:spcPts val="0"/>
              </a:spcAft>
            </a:pPr>
            <a:r>
              <a:rPr sz="1100" b="0">
                <a:solidFill>
                  <a:srgbClr val="595959"/>
                </a:solidFill>
                <a:latin typeface="Calibri"/>
              </a:rPr>
              <a:t>purchased vs available, as a negotiation lever</a:t>
            </a:r>
          </a:p>
        </p:txBody>
      </p:sp>
      <p:sp>
        <p:nvSpPr>
          <p:cNvPr id="25" name="TextBox 24"/>
          <p:cNvSpPr txBox="1"/>
          <p:nvPr/>
        </p:nvSpPr>
        <p:spPr>
          <a:xfrm>
            <a:off x="685800" y="5120640"/>
            <a:ext cx="10820095" cy="640080"/>
          </a:xfrm>
          <a:prstGeom prst="rect">
            <a:avLst/>
          </a:prstGeom>
          <a:noFill/>
        </p:spPr>
        <p:txBody>
          <a:bodyPr wrap="square" anchor="t" lIns="0" rIns="0" tIns="0" bIns="0">
            <a:spAutoFit/>
          </a:bodyPr>
          <a:lstStyle/>
          <a:p>
            <a:pPr algn="l">
              <a:spcBef>
                <a:spcPts val="0"/>
              </a:spcBef>
              <a:spcAft>
                <a:spcPts val="0"/>
              </a:spcAft>
            </a:pPr>
            <a:r>
              <a:rPr sz="1300" b="1">
                <a:solidFill>
                  <a:srgbClr val="09131B"/>
                </a:solidFill>
                <a:latin typeface="Calibri"/>
              </a:rPr>
              <a:t>All five recompute automatically as the catalogue changes - and all are advisory; a human makes the call.</a:t>
            </a:r>
          </a:p>
        </p:txBody>
      </p:sp>
      <p:sp>
        <p:nvSpPr>
          <p:cNvPr id="26" name="Rectangle 25"/>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28" name="TextBox 27"/>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MODULE - TPA HUB</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Agreements and renewal reminders</a:t>
            </a:r>
          </a:p>
        </p:txBody>
      </p:sp>
      <p:sp>
        <p:nvSpPr>
          <p:cNvPr id="5" name="Rounded Rectangle 4"/>
          <p:cNvSpPr/>
          <p:nvPr/>
        </p:nvSpPr>
        <p:spPr>
          <a:xfrm>
            <a:off x="68580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What it shows</a:t>
            </a:r>
          </a:p>
        </p:txBody>
      </p:sp>
      <p:sp>
        <p:nvSpPr>
          <p:cNvPr id="8" name="TextBox 7"/>
          <p:cNvSpPr txBox="1"/>
          <p:nvPr/>
        </p:nvSpPr>
        <p:spPr>
          <a:xfrm>
            <a:off x="96012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Every agreement,  </a:t>
            </a:r>
            <a:r>
              <a:rPr sz="1300">
                <a:solidFill>
                  <a:srgbClr val="595959"/>
                </a:solidFill>
                <a:latin typeface="Calibri"/>
              </a:rPr>
              <a:t>scope, signatories, dates and owner.</a:t>
            </a:r>
          </a:p>
          <a:p>
            <a:pPr algn="l">
              <a:spcBef>
                <a:spcPts val="0"/>
              </a:spcBef>
              <a:spcAft>
                <a:spcPts val="700"/>
              </a:spcAft>
            </a:pPr>
            <a:r>
              <a:rPr sz="1300" b="1">
                <a:solidFill>
                  <a:srgbClr val="F89739"/>
                </a:solidFill>
                <a:latin typeface="Calibri"/>
              </a:rPr>
              <a:t>-  </a:t>
            </a:r>
            <a:r>
              <a:rPr sz="1300" b="1">
                <a:solidFill>
                  <a:srgbClr val="09131B"/>
                </a:solidFill>
                <a:latin typeface="Calibri"/>
              </a:rPr>
              <a:t>An expiry runway,  </a:t>
            </a:r>
            <a:r>
              <a:rPr sz="1300">
                <a:solidFill>
                  <a:srgbClr val="595959"/>
                </a:solidFill>
                <a:latin typeface="Calibri"/>
              </a:rPr>
              <a:t>what is due in 30, 60 and 90 days.</a:t>
            </a:r>
          </a:p>
          <a:p>
            <a:pPr algn="l">
              <a:spcBef>
                <a:spcPts val="0"/>
              </a:spcBef>
              <a:spcAft>
                <a:spcPts val="700"/>
              </a:spcAft>
            </a:pPr>
            <a:r>
              <a:rPr sz="1300" b="1">
                <a:solidFill>
                  <a:srgbClr val="F89739"/>
                </a:solidFill>
                <a:latin typeface="Calibri"/>
              </a:rPr>
              <a:t>-  </a:t>
            </a:r>
            <a:r>
              <a:rPr sz="1300" b="1">
                <a:solidFill>
                  <a:srgbClr val="09131B"/>
                </a:solidFill>
                <a:latin typeface="Calibri"/>
              </a:rPr>
              <a:t>Reminder status,  </a:t>
            </a:r>
            <a:r>
              <a:rPr sz="1300">
                <a:solidFill>
                  <a:srgbClr val="595959"/>
                </a:solidFill>
                <a:latin typeface="Calibri"/>
              </a:rPr>
              <a:t>which 30/60/90 reminders have fired.</a:t>
            </a:r>
          </a:p>
          <a:p>
            <a:pPr algn="l">
              <a:spcBef>
                <a:spcPts val="0"/>
              </a:spcBef>
              <a:spcAft>
                <a:spcPts val="700"/>
              </a:spcAft>
            </a:pPr>
            <a:r>
              <a:rPr sz="1300" b="1">
                <a:solidFill>
                  <a:srgbClr val="F89739"/>
                </a:solidFill>
                <a:latin typeface="Calibri"/>
              </a:rPr>
              <a:t>-  </a:t>
            </a:r>
            <a:r>
              <a:rPr sz="1300" b="1">
                <a:solidFill>
                  <a:srgbClr val="09131B"/>
                </a:solidFill>
                <a:latin typeface="Calibri"/>
              </a:rPr>
              <a:t>Cross-tool warnings,  </a:t>
            </a:r>
            <a:r>
              <a:rPr sz="1300">
                <a:solidFill>
                  <a:srgbClr val="595959"/>
                </a:solidFill>
                <a:latin typeface="Calibri"/>
              </a:rPr>
              <a:t>when an expiring agreement sits behind a strategic KPI.</a:t>
            </a:r>
          </a:p>
          <a:p>
            <a:pPr algn="l">
              <a:spcBef>
                <a:spcPts val="0"/>
              </a:spcBef>
              <a:spcAft>
                <a:spcPts val="700"/>
              </a:spcAft>
            </a:pPr>
            <a:r>
              <a:rPr sz="1300" b="1">
                <a:solidFill>
                  <a:srgbClr val="F89739"/>
                </a:solidFill>
                <a:latin typeface="Calibri"/>
              </a:rPr>
              <a:t>-  </a:t>
            </a:r>
            <a:r>
              <a:rPr sz="1300" b="1">
                <a:solidFill>
                  <a:srgbClr val="09131B"/>
                </a:solidFill>
                <a:latin typeface="Calibri"/>
              </a:rPr>
              <a:t>A renewal recommendation  </a:t>
            </a:r>
            <a:r>
              <a:rPr sz="1300">
                <a:solidFill>
                  <a:srgbClr val="595959"/>
                </a:solidFill>
                <a:latin typeface="Calibri"/>
              </a:rPr>
              <a:t>per agreement.</a:t>
            </a:r>
          </a:p>
        </p:txBody>
      </p:sp>
      <p:sp>
        <p:nvSpPr>
          <p:cNvPr id="9" name="TextBox 8"/>
          <p:cNvSpPr txBox="1"/>
          <p:nvPr/>
        </p:nvSpPr>
        <p:spPr>
          <a:xfrm>
            <a:off x="658368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9A5C12"/>
                </a:solidFill>
                <a:latin typeface="Calibri"/>
              </a:rPr>
              <a:t>What you can do</a:t>
            </a:r>
          </a:p>
        </p:txBody>
      </p:sp>
      <p:sp>
        <p:nvSpPr>
          <p:cNvPr id="10" name="TextBox 9"/>
          <p:cNvSpPr txBox="1"/>
          <p:nvPr/>
        </p:nvSpPr>
        <p:spPr>
          <a:xfrm>
            <a:off x="658368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See what is expiring  </a:t>
            </a:r>
            <a:r>
              <a:rPr sz="1300">
                <a:solidFill>
                  <a:srgbClr val="595959"/>
                </a:solidFill>
                <a:latin typeface="Calibri"/>
              </a:rPr>
              <a:t>and act before leverage is lost.</a:t>
            </a:r>
          </a:p>
          <a:p>
            <a:pPr algn="l">
              <a:spcBef>
                <a:spcPts val="0"/>
              </a:spcBef>
              <a:spcAft>
                <a:spcPts val="700"/>
              </a:spcAft>
            </a:pPr>
            <a:r>
              <a:rPr sz="1300" b="1">
                <a:solidFill>
                  <a:srgbClr val="F89739"/>
                </a:solidFill>
                <a:latin typeface="Calibri"/>
              </a:rPr>
              <a:t>-  </a:t>
            </a:r>
            <a:r>
              <a:rPr sz="1300" b="1">
                <a:solidFill>
                  <a:srgbClr val="09131B"/>
                </a:solidFill>
                <a:latin typeface="Calibri"/>
              </a:rPr>
              <a:t>Open an agreement  </a:t>
            </a:r>
            <a:r>
              <a:rPr sz="1300">
                <a:solidFill>
                  <a:srgbClr val="595959"/>
                </a:solidFill>
                <a:latin typeface="Calibri"/>
              </a:rPr>
              <a:t>for its full detail and reminder timeline.</a:t>
            </a:r>
          </a:p>
          <a:p>
            <a:pPr algn="l">
              <a:spcBef>
                <a:spcPts val="0"/>
              </a:spcBef>
              <a:spcAft>
                <a:spcPts val="700"/>
              </a:spcAft>
            </a:pPr>
            <a:r>
              <a:rPr sz="1300" b="1">
                <a:solidFill>
                  <a:srgbClr val="F89739"/>
                </a:solidFill>
                <a:latin typeface="Calibri"/>
              </a:rPr>
              <a:t>-  </a:t>
            </a:r>
            <a:r>
              <a:rPr sz="1300" b="1">
                <a:solidFill>
                  <a:srgbClr val="09131B"/>
                </a:solidFill>
                <a:latin typeface="Calibri"/>
              </a:rPr>
              <a:t>Create a renewal request  </a:t>
            </a:r>
            <a:r>
              <a:rPr sz="1300">
                <a:solidFill>
                  <a:srgbClr val="595959"/>
                </a:solidFill>
                <a:latin typeface="Calibri"/>
              </a:rPr>
              <a:t>- raises a pre-filled request in Data Requests.</a:t>
            </a:r>
          </a:p>
          <a:p>
            <a:pPr algn="l">
              <a:spcBef>
                <a:spcPts val="0"/>
              </a:spcBef>
              <a:spcAft>
                <a:spcPts val="700"/>
              </a:spcAft>
            </a:pPr>
            <a:r>
              <a:rPr sz="1300" b="1">
                <a:solidFill>
                  <a:srgbClr val="F89739"/>
                </a:solidFill>
                <a:latin typeface="Calibri"/>
              </a:rPr>
              <a:t>-  </a:t>
            </a:r>
            <a:r>
              <a:rPr sz="1300" b="1">
                <a:solidFill>
                  <a:srgbClr val="09131B"/>
                </a:solidFill>
                <a:latin typeface="Calibri"/>
              </a:rPr>
              <a:t>Follow the link  </a:t>
            </a:r>
            <a:r>
              <a:rPr sz="1300">
                <a:solidFill>
                  <a:srgbClr val="595959"/>
                </a:solidFill>
                <a:latin typeface="Calibri"/>
              </a:rPr>
              <a:t>to the asset and KPI that depend on it.</a:t>
            </a:r>
          </a:p>
        </p:txBody>
      </p:sp>
      <p:sp>
        <p:nvSpPr>
          <p:cNvPr id="11" name="Rectangle 1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3" name="TextBox 1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THE ASSISTANT</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Ask Atlas and the cross-tool signals</a:t>
            </a:r>
          </a:p>
        </p:txBody>
      </p:sp>
      <p:sp>
        <p:nvSpPr>
          <p:cNvPr id="5" name="Rounded Rectangle 4"/>
          <p:cNvSpPr/>
          <p:nvPr/>
        </p:nvSpPr>
        <p:spPr>
          <a:xfrm>
            <a:off x="68580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920240"/>
            <a:ext cx="5349240" cy="393192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09131B"/>
                </a:solidFill>
                <a:latin typeface="Calibri"/>
              </a:rPr>
              <a:t>Ask Atlas (Command Centre)</a:t>
            </a:r>
          </a:p>
        </p:txBody>
      </p:sp>
      <p:sp>
        <p:nvSpPr>
          <p:cNvPr id="8" name="TextBox 7"/>
          <p:cNvSpPr txBox="1"/>
          <p:nvPr/>
        </p:nvSpPr>
        <p:spPr>
          <a:xfrm>
            <a:off x="96012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Type a question  </a:t>
            </a:r>
            <a:r>
              <a:rPr sz="1300">
                <a:solidFill>
                  <a:srgbClr val="595959"/>
                </a:solidFill>
                <a:latin typeface="Calibri"/>
              </a:rPr>
              <a:t>in plain English, or tap a suggested one.</a:t>
            </a:r>
          </a:p>
          <a:p>
            <a:pPr algn="l">
              <a:spcBef>
                <a:spcPts val="0"/>
              </a:spcBef>
              <a:spcAft>
                <a:spcPts val="700"/>
              </a:spcAft>
            </a:pPr>
            <a:r>
              <a:rPr sz="1300" b="1">
                <a:solidFill>
                  <a:srgbClr val="F89739"/>
                </a:solidFill>
                <a:latin typeface="Calibri"/>
              </a:rPr>
              <a:t>-  </a:t>
            </a:r>
            <a:r>
              <a:rPr sz="1300" b="1">
                <a:solidFill>
                  <a:srgbClr val="09131B"/>
                </a:solidFill>
                <a:latin typeface="Calibri"/>
              </a:rPr>
              <a:t>Get a grounded answer  </a:t>
            </a:r>
            <a:r>
              <a:rPr sz="1300">
                <a:solidFill>
                  <a:srgbClr val="595959"/>
                </a:solidFill>
                <a:latin typeface="Calibri"/>
              </a:rPr>
              <a:t>that reads across all five tools.</a:t>
            </a:r>
          </a:p>
          <a:p>
            <a:pPr algn="l">
              <a:spcBef>
                <a:spcPts val="0"/>
              </a:spcBef>
              <a:spcAft>
                <a:spcPts val="700"/>
              </a:spcAft>
            </a:pPr>
            <a:r>
              <a:rPr sz="1300" b="1">
                <a:solidFill>
                  <a:srgbClr val="F89739"/>
                </a:solidFill>
                <a:latin typeface="Calibri"/>
              </a:rPr>
              <a:t>-  </a:t>
            </a:r>
            <a:r>
              <a:rPr sz="1300" b="1">
                <a:solidFill>
                  <a:srgbClr val="09131B"/>
                </a:solidFill>
                <a:latin typeface="Calibri"/>
              </a:rPr>
              <a:t>See the sources  </a:t>
            </a:r>
            <a:r>
              <a:rPr sz="1300">
                <a:solidFill>
                  <a:srgbClr val="595959"/>
                </a:solidFill>
                <a:latin typeface="Calibri"/>
              </a:rPr>
              <a:t>- the feeds the answer is based on.</a:t>
            </a:r>
          </a:p>
          <a:p>
            <a:pPr algn="l">
              <a:spcBef>
                <a:spcPts val="0"/>
              </a:spcBef>
              <a:spcAft>
                <a:spcPts val="700"/>
              </a:spcAft>
            </a:pPr>
            <a:r>
              <a:rPr sz="1300" b="1">
                <a:solidFill>
                  <a:srgbClr val="F89739"/>
                </a:solidFill>
                <a:latin typeface="Calibri"/>
              </a:rPr>
              <a:t>-  </a:t>
            </a:r>
            <a:r>
              <a:rPr sz="1300" b="1">
                <a:solidFill>
                  <a:srgbClr val="09131B"/>
                </a:solidFill>
                <a:latin typeface="Calibri"/>
              </a:rPr>
              <a:t>Follow the links  </a:t>
            </a:r>
            <a:r>
              <a:rPr sz="1300">
                <a:solidFill>
                  <a:srgbClr val="595959"/>
                </a:solidFill>
                <a:latin typeface="Calibri"/>
              </a:rPr>
              <a:t>in the answer to the records.</a:t>
            </a:r>
          </a:p>
        </p:txBody>
      </p:sp>
      <p:sp>
        <p:nvSpPr>
          <p:cNvPr id="9" name="TextBox 8"/>
          <p:cNvSpPr txBox="1"/>
          <p:nvPr/>
        </p:nvSpPr>
        <p:spPr>
          <a:xfrm>
            <a:off x="6583680" y="2121408"/>
            <a:ext cx="4846320" cy="365760"/>
          </a:xfrm>
          <a:prstGeom prst="rect">
            <a:avLst/>
          </a:prstGeom>
          <a:noFill/>
        </p:spPr>
        <p:txBody>
          <a:bodyPr wrap="square" anchor="t" lIns="0" rIns="0" tIns="0" bIns="0">
            <a:spAutoFit/>
          </a:bodyPr>
          <a:lstStyle/>
          <a:p>
            <a:pPr algn="l">
              <a:spcBef>
                <a:spcPts val="0"/>
              </a:spcBef>
              <a:spcAft>
                <a:spcPts val="0"/>
              </a:spcAft>
            </a:pPr>
            <a:r>
              <a:rPr sz="1450" b="1">
                <a:solidFill>
                  <a:srgbClr val="9A5C12"/>
                </a:solidFill>
                <a:latin typeface="Calibri"/>
              </a:rPr>
              <a:t>How to trust it</a:t>
            </a:r>
          </a:p>
        </p:txBody>
      </p:sp>
      <p:sp>
        <p:nvSpPr>
          <p:cNvPr id="10" name="TextBox 9"/>
          <p:cNvSpPr txBox="1"/>
          <p:nvPr/>
        </p:nvSpPr>
        <p:spPr>
          <a:xfrm>
            <a:off x="6583680" y="2560320"/>
            <a:ext cx="4846320" cy="3108960"/>
          </a:xfrm>
          <a:prstGeom prst="rect">
            <a:avLst/>
          </a:prstGeom>
          <a:noFill/>
        </p:spPr>
        <p:txBody>
          <a:bodyPr wrap="square" anchor="t" lIns="0" rIns="0" tIns="0" bIns="0">
            <a:spAutoFit/>
          </a:bodyPr>
          <a:lstStyle/>
          <a:p>
            <a:pPr algn="l">
              <a:spcBef>
                <a:spcPts val="0"/>
              </a:spcBef>
              <a:spcAft>
                <a:spcPts val="700"/>
              </a:spcAft>
            </a:pPr>
            <a:r>
              <a:rPr sz="1300" b="1">
                <a:solidFill>
                  <a:srgbClr val="F89739"/>
                </a:solidFill>
                <a:latin typeface="Calibri"/>
              </a:rPr>
              <a:t>-  </a:t>
            </a:r>
            <a:r>
              <a:rPr sz="1300" b="1">
                <a:solidFill>
                  <a:srgbClr val="09131B"/>
                </a:solidFill>
                <a:latin typeface="Calibri"/>
              </a:rPr>
              <a:t>Confidence read  </a:t>
            </a:r>
            <a:r>
              <a:rPr sz="1300">
                <a:solidFill>
                  <a:srgbClr val="595959"/>
                </a:solidFill>
                <a:latin typeface="Calibri"/>
              </a:rPr>
              <a:t>- every answer shows how confident it is.</a:t>
            </a:r>
          </a:p>
          <a:p>
            <a:pPr algn="l">
              <a:spcBef>
                <a:spcPts val="0"/>
              </a:spcBef>
              <a:spcAft>
                <a:spcPts val="700"/>
              </a:spcAft>
            </a:pPr>
            <a:r>
              <a:rPr sz="1300" b="1">
                <a:solidFill>
                  <a:srgbClr val="F89739"/>
                </a:solidFill>
                <a:latin typeface="Calibri"/>
              </a:rPr>
              <a:t>-  </a:t>
            </a:r>
            <a:r>
              <a:rPr sz="1300" b="1">
                <a:solidFill>
                  <a:srgbClr val="09131B"/>
                </a:solidFill>
                <a:latin typeface="Calibri"/>
              </a:rPr>
              <a:t>Advisory only  </a:t>
            </a:r>
            <a:r>
              <a:rPr sz="1300">
                <a:solidFill>
                  <a:srgbClr val="595959"/>
                </a:solidFill>
                <a:latin typeface="Calibri"/>
              </a:rPr>
              <a:t>- it informs you; it never acts on its own.</a:t>
            </a:r>
          </a:p>
          <a:p>
            <a:pPr algn="l">
              <a:spcBef>
                <a:spcPts val="0"/>
              </a:spcBef>
              <a:spcAft>
                <a:spcPts val="700"/>
              </a:spcAft>
            </a:pPr>
            <a:r>
              <a:rPr sz="1300" b="1">
                <a:solidFill>
                  <a:srgbClr val="F89739"/>
                </a:solidFill>
                <a:latin typeface="Calibri"/>
              </a:rPr>
              <a:t>-  </a:t>
            </a:r>
            <a:r>
              <a:rPr sz="1300" b="1">
                <a:solidFill>
                  <a:srgbClr val="09131B"/>
                </a:solidFill>
                <a:latin typeface="Calibri"/>
              </a:rPr>
              <a:t>A human approves  </a:t>
            </a:r>
            <a:r>
              <a:rPr sz="1300">
                <a:solidFill>
                  <a:srgbClr val="595959"/>
                </a:solidFill>
                <a:latin typeface="Calibri"/>
              </a:rPr>
              <a:t>any action that follows.</a:t>
            </a:r>
          </a:p>
          <a:p>
            <a:pPr algn="l">
              <a:spcBef>
                <a:spcPts val="0"/>
              </a:spcBef>
              <a:spcAft>
                <a:spcPts val="700"/>
              </a:spcAft>
            </a:pPr>
            <a:r>
              <a:rPr sz="1300" b="1">
                <a:solidFill>
                  <a:srgbClr val="F89739"/>
                </a:solidFill>
                <a:latin typeface="Calibri"/>
              </a:rPr>
              <a:t>-  </a:t>
            </a:r>
            <a:r>
              <a:rPr sz="1300" b="1">
                <a:solidFill>
                  <a:srgbClr val="09131B"/>
                </a:solidFill>
                <a:latin typeface="Calibri"/>
              </a:rPr>
              <a:t>Grounded, not invented  </a:t>
            </a:r>
            <a:r>
              <a:rPr sz="1300">
                <a:solidFill>
                  <a:srgbClr val="595959"/>
                </a:solidFill>
                <a:latin typeface="Calibri"/>
              </a:rPr>
              <a:t>- it cites the source rows.</a:t>
            </a:r>
          </a:p>
        </p:txBody>
      </p:sp>
      <p:sp>
        <p:nvSpPr>
          <p:cNvPr id="11" name="Rectangle 10"/>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3" name="TextBox 12"/>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Rectangle 1"/>
          <p:cNvSpPr/>
          <p:nvPr/>
        </p:nvSpPr>
        <p:spPr>
          <a:xfrm>
            <a:off x="685800" y="566928"/>
            <a:ext cx="310896" cy="82296"/>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457200"/>
            <a:ext cx="10408615" cy="320040"/>
          </a:xfrm>
          <a:prstGeom prst="rect">
            <a:avLst/>
          </a:prstGeom>
          <a:noFill/>
        </p:spPr>
        <p:txBody>
          <a:bodyPr wrap="square" anchor="t" lIns="0" rIns="0" tIns="0" bIns="0">
            <a:spAutoFit/>
          </a:bodyPr>
          <a:lstStyle/>
          <a:p>
            <a:pPr algn="l">
              <a:spcBef>
                <a:spcPts val="0"/>
              </a:spcBef>
              <a:spcAft>
                <a:spcPts val="0"/>
              </a:spcAft>
            </a:pPr>
            <a:r>
              <a:rPr sz="1250" b="1">
                <a:solidFill>
                  <a:srgbClr val="F89739"/>
                </a:solidFill>
                <a:latin typeface="Calibri"/>
              </a:rPr>
              <a:t>GOOD TO KNOW</a:t>
            </a:r>
          </a:p>
        </p:txBody>
      </p:sp>
      <p:sp>
        <p:nvSpPr>
          <p:cNvPr id="4" name="TextBox 3"/>
          <p:cNvSpPr txBox="1"/>
          <p:nvPr/>
        </p:nvSpPr>
        <p:spPr>
          <a:xfrm>
            <a:off x="685800" y="841248"/>
            <a:ext cx="10820095" cy="640080"/>
          </a:xfrm>
          <a:prstGeom prst="rect">
            <a:avLst/>
          </a:prstGeom>
          <a:noFill/>
        </p:spPr>
        <p:txBody>
          <a:bodyPr wrap="square" anchor="t" lIns="0" rIns="0" tIns="0" bIns="0">
            <a:spAutoFit/>
          </a:bodyPr>
          <a:lstStyle/>
          <a:p>
            <a:pPr algn="l">
              <a:spcBef>
                <a:spcPts val="0"/>
              </a:spcBef>
              <a:spcAft>
                <a:spcPts val="0"/>
              </a:spcAft>
            </a:pPr>
            <a:r>
              <a:rPr sz="2900" b="1">
                <a:solidFill>
                  <a:srgbClr val="09131B"/>
                </a:solidFill>
                <a:latin typeface="Calibri"/>
              </a:rPr>
              <a:t>A few things that apply everywhere</a:t>
            </a:r>
          </a:p>
        </p:txBody>
      </p:sp>
      <p:sp>
        <p:nvSpPr>
          <p:cNvPr id="5" name="Rounded Rectangle 4"/>
          <p:cNvSpPr/>
          <p:nvPr/>
        </p:nvSpPr>
        <p:spPr>
          <a:xfrm>
            <a:off x="685800" y="1874519"/>
            <a:ext cx="5349240" cy="12344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399"/>
            <a:ext cx="4892040" cy="914400"/>
          </a:xfrm>
          <a:prstGeom prst="rect">
            <a:avLst/>
          </a:prstGeom>
          <a:noFill/>
        </p:spPr>
        <p:txBody>
          <a:bodyPr wrap="square" anchor="t" lIns="0" rIns="0" tIns="0" bIns="0">
            <a:spAutoFit/>
          </a:bodyPr>
          <a:lstStyle/>
          <a:p>
            <a:pPr algn="l">
              <a:spcBef>
                <a:spcPts val="0"/>
              </a:spcBef>
              <a:spcAft>
                <a:spcPts val="300"/>
              </a:spcAft>
            </a:pPr>
            <a:r>
              <a:rPr sz="1350" b="1">
                <a:solidFill>
                  <a:srgbClr val="09131B"/>
                </a:solidFill>
                <a:latin typeface="Calibri"/>
              </a:rPr>
              <a:t>Filters apply across modules</a:t>
            </a:r>
          </a:p>
          <a:p>
            <a:pPr algn="l">
              <a:spcBef>
                <a:spcPts val="0"/>
              </a:spcBef>
              <a:spcAft>
                <a:spcPts val="0"/>
              </a:spcAft>
            </a:pPr>
            <a:r>
              <a:rPr sz="1150" b="0">
                <a:solidFill>
                  <a:srgbClr val="595959"/>
                </a:solidFill>
                <a:latin typeface="Calibri"/>
              </a:rPr>
              <a:t>The Division and Financial-Year selectors in the top bar filter the tables and charts in every module.</a:t>
            </a:r>
          </a:p>
        </p:txBody>
      </p:sp>
      <p:sp>
        <p:nvSpPr>
          <p:cNvPr id="7" name="Rounded Rectangle 6"/>
          <p:cNvSpPr/>
          <p:nvPr/>
        </p:nvSpPr>
        <p:spPr>
          <a:xfrm>
            <a:off x="6309360" y="1874519"/>
            <a:ext cx="5349240" cy="12344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057399"/>
            <a:ext cx="4892040" cy="914400"/>
          </a:xfrm>
          <a:prstGeom prst="rect">
            <a:avLst/>
          </a:prstGeom>
          <a:noFill/>
        </p:spPr>
        <p:txBody>
          <a:bodyPr wrap="square" anchor="t" lIns="0" rIns="0" tIns="0" bIns="0">
            <a:spAutoFit/>
          </a:bodyPr>
          <a:lstStyle/>
          <a:p>
            <a:pPr algn="l">
              <a:spcBef>
                <a:spcPts val="0"/>
              </a:spcBef>
              <a:spcAft>
                <a:spcPts val="300"/>
              </a:spcAft>
            </a:pPr>
            <a:r>
              <a:rPr sz="1350" b="1">
                <a:solidFill>
                  <a:srgbClr val="09131B"/>
                </a:solidFill>
                <a:latin typeface="Calibri"/>
              </a:rPr>
              <a:t>Everything is linked</a:t>
            </a:r>
          </a:p>
          <a:p>
            <a:pPr algn="l">
              <a:spcBef>
                <a:spcPts val="0"/>
              </a:spcBef>
              <a:spcAft>
                <a:spcPts val="0"/>
              </a:spcAft>
            </a:pPr>
            <a:r>
              <a:rPr sz="1150" b="0">
                <a:solidFill>
                  <a:srgbClr val="595959"/>
                </a:solidFill>
                <a:latin typeface="Calibri"/>
              </a:rPr>
              <a:t>Blue links and clickable rows jump you to the related record; the drawer closes when you navigate.</a:t>
            </a:r>
          </a:p>
        </p:txBody>
      </p:sp>
      <p:sp>
        <p:nvSpPr>
          <p:cNvPr id="9" name="Rounded Rectangle 8"/>
          <p:cNvSpPr/>
          <p:nvPr/>
        </p:nvSpPr>
        <p:spPr>
          <a:xfrm>
            <a:off x="685800" y="3246119"/>
            <a:ext cx="5349240" cy="12344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28999"/>
            <a:ext cx="4892040" cy="914400"/>
          </a:xfrm>
          <a:prstGeom prst="rect">
            <a:avLst/>
          </a:prstGeom>
          <a:noFill/>
        </p:spPr>
        <p:txBody>
          <a:bodyPr wrap="square" anchor="t" lIns="0" rIns="0" tIns="0" bIns="0">
            <a:spAutoFit/>
          </a:bodyPr>
          <a:lstStyle/>
          <a:p>
            <a:pPr algn="l">
              <a:spcBef>
                <a:spcPts val="0"/>
              </a:spcBef>
              <a:spcAft>
                <a:spcPts val="300"/>
              </a:spcAft>
            </a:pPr>
            <a:r>
              <a:rPr sz="1350" b="1">
                <a:solidFill>
                  <a:srgbClr val="09131B"/>
                </a:solidFill>
                <a:latin typeface="Calibri"/>
              </a:rPr>
              <a:t>Close the drawer easily</a:t>
            </a:r>
          </a:p>
          <a:p>
            <a:pPr algn="l">
              <a:spcBef>
                <a:spcPts val="0"/>
              </a:spcBef>
              <a:spcAft>
                <a:spcPts val="0"/>
              </a:spcAft>
            </a:pPr>
            <a:r>
              <a:rPr sz="1150" b="0">
                <a:solidFill>
                  <a:srgbClr val="595959"/>
                </a:solidFill>
                <a:latin typeface="Calibri"/>
              </a:rPr>
              <a:t>Use the X, click the dark area outside it, or press Escape.</a:t>
            </a:r>
          </a:p>
        </p:txBody>
      </p:sp>
      <p:sp>
        <p:nvSpPr>
          <p:cNvPr id="11" name="Rounded Rectangle 10"/>
          <p:cNvSpPr/>
          <p:nvPr/>
        </p:nvSpPr>
        <p:spPr>
          <a:xfrm>
            <a:off x="6309360" y="3246119"/>
            <a:ext cx="5349240" cy="12344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3428999"/>
            <a:ext cx="4892040" cy="914400"/>
          </a:xfrm>
          <a:prstGeom prst="rect">
            <a:avLst/>
          </a:prstGeom>
          <a:noFill/>
        </p:spPr>
        <p:txBody>
          <a:bodyPr wrap="square" anchor="t" lIns="0" rIns="0" tIns="0" bIns="0">
            <a:spAutoFit/>
          </a:bodyPr>
          <a:lstStyle/>
          <a:p>
            <a:pPr algn="l">
              <a:spcBef>
                <a:spcPts val="0"/>
              </a:spcBef>
              <a:spcAft>
                <a:spcPts val="300"/>
              </a:spcAft>
            </a:pPr>
            <a:r>
              <a:rPr sz="1350" b="1">
                <a:solidFill>
                  <a:srgbClr val="09131B"/>
                </a:solidFill>
                <a:latin typeface="Calibri"/>
              </a:rPr>
              <a:t>AI is advisory</a:t>
            </a:r>
          </a:p>
          <a:p>
            <a:pPr algn="l">
              <a:spcBef>
                <a:spcPts val="0"/>
              </a:spcBef>
              <a:spcAft>
                <a:spcPts val="0"/>
              </a:spcAft>
            </a:pPr>
            <a:r>
              <a:rPr sz="1150" b="0">
                <a:solidFill>
                  <a:srgbClr val="595959"/>
                </a:solidFill>
                <a:latin typeface="Calibri"/>
              </a:rPr>
              <a:t>Insights show a confidence read; a human always approves the action.</a:t>
            </a:r>
          </a:p>
        </p:txBody>
      </p:sp>
      <p:sp>
        <p:nvSpPr>
          <p:cNvPr id="13" name="Rounded Rectangle 12"/>
          <p:cNvSpPr/>
          <p:nvPr/>
        </p:nvSpPr>
        <p:spPr>
          <a:xfrm>
            <a:off x="685800" y="4617719"/>
            <a:ext cx="5349240" cy="12344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00599"/>
            <a:ext cx="4892040" cy="914400"/>
          </a:xfrm>
          <a:prstGeom prst="rect">
            <a:avLst/>
          </a:prstGeom>
          <a:noFill/>
        </p:spPr>
        <p:txBody>
          <a:bodyPr wrap="square" anchor="t" lIns="0" rIns="0" tIns="0" bIns="0">
            <a:spAutoFit/>
          </a:bodyPr>
          <a:lstStyle/>
          <a:p>
            <a:pPr algn="l">
              <a:spcBef>
                <a:spcPts val="0"/>
              </a:spcBef>
              <a:spcAft>
                <a:spcPts val="300"/>
              </a:spcAft>
            </a:pPr>
            <a:r>
              <a:rPr sz="1350" b="1">
                <a:solidFill>
                  <a:srgbClr val="09131B"/>
                </a:solidFill>
                <a:latin typeface="Calibri"/>
              </a:rPr>
              <a:t>Synthetic data</a:t>
            </a:r>
          </a:p>
          <a:p>
            <a:pPr algn="l">
              <a:spcBef>
                <a:spcPts val="0"/>
              </a:spcBef>
              <a:spcAft>
                <a:spcPts val="0"/>
              </a:spcAft>
            </a:pPr>
            <a:r>
              <a:rPr sz="1150" b="0">
                <a:solidFill>
                  <a:srgbClr val="595959"/>
                </a:solidFill>
                <a:latin typeface="Calibri"/>
              </a:rPr>
              <a:t>All names and figures are illustrative for training - not live client data.</a:t>
            </a:r>
          </a:p>
        </p:txBody>
      </p:sp>
      <p:sp>
        <p:nvSpPr>
          <p:cNvPr id="15" name="Rounded Rectangle 14"/>
          <p:cNvSpPr/>
          <p:nvPr/>
        </p:nvSpPr>
        <p:spPr>
          <a:xfrm>
            <a:off x="6309360" y="4617719"/>
            <a:ext cx="5349240" cy="1234440"/>
          </a:xfrm>
          <a:prstGeom prst="roundRect">
            <a:avLst>
              <a:gd name="adj" fmla="val 5000"/>
            </a:avLst>
          </a:prstGeom>
          <a:solidFill>
            <a:srgbClr val="FFFFFF"/>
          </a:solidFill>
          <a:ln w="12700">
            <a:solidFill>
              <a:srgbClr val="D6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800599"/>
            <a:ext cx="4892040" cy="914400"/>
          </a:xfrm>
          <a:prstGeom prst="rect">
            <a:avLst/>
          </a:prstGeom>
          <a:noFill/>
        </p:spPr>
        <p:txBody>
          <a:bodyPr wrap="square" anchor="t" lIns="0" rIns="0" tIns="0" bIns="0">
            <a:spAutoFit/>
          </a:bodyPr>
          <a:lstStyle/>
          <a:p>
            <a:pPr algn="l">
              <a:spcBef>
                <a:spcPts val="0"/>
              </a:spcBef>
              <a:spcAft>
                <a:spcPts val="300"/>
              </a:spcAft>
            </a:pPr>
            <a:r>
              <a:rPr sz="1350" b="1">
                <a:solidFill>
                  <a:srgbClr val="09131B"/>
                </a:solidFill>
                <a:latin typeface="Calibri"/>
              </a:rPr>
              <a:t>Need detail?</a:t>
            </a:r>
          </a:p>
          <a:p>
            <a:pPr algn="l">
              <a:spcBef>
                <a:spcPts val="0"/>
              </a:spcBef>
              <a:spcAft>
                <a:spcPts val="0"/>
              </a:spcAft>
            </a:pPr>
            <a:r>
              <a:rPr sz="1150" b="0">
                <a:solidFill>
                  <a:srgbClr val="595959"/>
                </a:solidFill>
                <a:latin typeface="Calibri"/>
              </a:rPr>
              <a:t>The User Training Guide has step-by-step instructions for every task.</a:t>
            </a:r>
          </a:p>
        </p:txBody>
      </p:sp>
      <p:sp>
        <p:nvSpPr>
          <p:cNvPr id="17" name="Rectangle 16"/>
          <p:cNvSpPr/>
          <p:nvPr/>
        </p:nvSpPr>
        <p:spPr>
          <a:xfrm>
            <a:off x="685800" y="6419088"/>
            <a:ext cx="10820095" cy="952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473952"/>
            <a:ext cx="8229600" cy="274320"/>
          </a:xfrm>
          <a:prstGeom prst="rect">
            <a:avLst/>
          </a:prstGeom>
          <a:noFill/>
        </p:spPr>
        <p:txBody>
          <a:bodyPr wrap="square" anchor="t" lIns="0" rIns="0" tIns="0" bIns="0">
            <a:spAutoFit/>
          </a:bodyPr>
          <a:lstStyle/>
          <a:p>
            <a:pPr algn="l">
              <a:spcBef>
                <a:spcPts val="0"/>
              </a:spcBef>
              <a:spcAft>
                <a:spcPts val="0"/>
              </a:spcAft>
            </a:pPr>
            <a:r>
              <a:rPr sz="900" b="0">
                <a:solidFill>
                  <a:srgbClr val="A9AFB6"/>
                </a:solidFill>
                <a:latin typeface="Calibri"/>
              </a:rPr>
              <a:t>Cortex Atlas  -  User explainer  -  Illustrative prototype, synthetic data</a:t>
            </a:r>
          </a:p>
        </p:txBody>
      </p:sp>
      <p:sp>
        <p:nvSpPr>
          <p:cNvPr id="19" name="TextBox 18"/>
          <p:cNvSpPr txBox="1"/>
          <p:nvPr/>
        </p:nvSpPr>
        <p:spPr>
          <a:xfrm>
            <a:off x="10591495" y="6473952"/>
            <a:ext cx="914400" cy="274320"/>
          </a:xfrm>
          <a:prstGeom prst="rect">
            <a:avLst/>
          </a:prstGeom>
          <a:noFill/>
        </p:spPr>
        <p:txBody>
          <a:bodyPr wrap="square" anchor="t" lIns="0" rIns="0" tIns="0" bIns="0">
            <a:spAutoFit/>
          </a:bodyPr>
          <a:lstStyle/>
          <a:p>
            <a:pPr algn="r">
              <a:spcBef>
                <a:spcPts val="0"/>
              </a:spcBef>
              <a:spcAft>
                <a:spcPts val="0"/>
              </a:spcAft>
            </a:pPr>
            <a:r>
              <a:rPr sz="900" b="0">
                <a:solidFill>
                  <a:srgbClr val="A9AFB6"/>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131B"/>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640080"/>
            <a:ext cx="9144000" cy="365760"/>
          </a:xfrm>
          <a:prstGeom prst="rect">
            <a:avLst/>
          </a:prstGeom>
          <a:noFill/>
        </p:spPr>
        <p:txBody>
          <a:bodyPr wrap="square" anchor="t" lIns="0" rIns="0" tIns="0" bIns="0">
            <a:spAutoFit/>
          </a:bodyPr>
          <a:lstStyle/>
          <a:p>
            <a:pPr algn="l">
              <a:spcBef>
                <a:spcPts val="0"/>
              </a:spcBef>
              <a:spcAft>
                <a:spcPts val="0"/>
              </a:spcAft>
            </a:pPr>
            <a:r>
              <a:rPr sz="1300" b="1">
                <a:solidFill>
                  <a:srgbClr val="F89739"/>
                </a:solidFill>
                <a:latin typeface="Calibri"/>
              </a:rPr>
              <a:t>QUICK START</a:t>
            </a:r>
          </a:p>
        </p:txBody>
      </p:sp>
      <p:sp>
        <p:nvSpPr>
          <p:cNvPr id="4" name="TextBox 3"/>
          <p:cNvSpPr txBox="1"/>
          <p:nvPr/>
        </p:nvSpPr>
        <p:spPr>
          <a:xfrm>
            <a:off x="685800" y="1005840"/>
            <a:ext cx="10789920" cy="731520"/>
          </a:xfrm>
          <a:prstGeom prst="rect">
            <a:avLst/>
          </a:prstGeom>
          <a:noFill/>
        </p:spPr>
        <p:txBody>
          <a:bodyPr wrap="square" anchor="t" lIns="0" rIns="0" tIns="0" bIns="0">
            <a:spAutoFit/>
          </a:bodyPr>
          <a:lstStyle/>
          <a:p>
            <a:pPr algn="l">
              <a:spcBef>
                <a:spcPts val="0"/>
              </a:spcBef>
              <a:spcAft>
                <a:spcPts val="0"/>
              </a:spcAft>
            </a:pPr>
            <a:r>
              <a:rPr sz="3400" b="1">
                <a:solidFill>
                  <a:srgbClr val="FFFFFF"/>
                </a:solidFill>
                <a:latin typeface="Calibri"/>
              </a:rPr>
              <a:t>Try these five things</a:t>
            </a:r>
          </a:p>
        </p:txBody>
      </p:sp>
      <p:sp>
        <p:nvSpPr>
          <p:cNvPr id="5" name="Rounded Rectangle 4"/>
          <p:cNvSpPr/>
          <p:nvPr/>
        </p:nvSpPr>
        <p:spPr>
          <a:xfrm>
            <a:off x="685800" y="2011680"/>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11680"/>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1</a:t>
            </a:r>
          </a:p>
        </p:txBody>
      </p:sp>
      <p:sp>
        <p:nvSpPr>
          <p:cNvPr id="7" name="TextBox 6"/>
          <p:cNvSpPr txBox="1"/>
          <p:nvPr/>
        </p:nvSpPr>
        <p:spPr>
          <a:xfrm>
            <a:off x="1417320" y="1993392"/>
            <a:ext cx="10058400" cy="822960"/>
          </a:xfrm>
          <a:prstGeom prst="rect">
            <a:avLst/>
          </a:prstGeom>
          <a:noFill/>
        </p:spPr>
        <p:txBody>
          <a:bodyPr wrap="square" anchor="t" lIns="0" rIns="0" tIns="0" bIns="0">
            <a:spAutoFit/>
          </a:bodyPr>
          <a:lstStyle/>
          <a:p>
            <a:pPr algn="l">
              <a:spcBef>
                <a:spcPts val="0"/>
              </a:spcBef>
              <a:spcAft>
                <a:spcPts val="200"/>
              </a:spcAft>
            </a:pPr>
            <a:r>
              <a:rPr sz="1650" b="1">
                <a:solidFill>
                  <a:srgbClr val="FFFFFF"/>
                </a:solidFill>
                <a:latin typeface="Calibri"/>
              </a:rPr>
              <a:t>Open the Command Centre</a:t>
            </a:r>
          </a:p>
          <a:p>
            <a:pPr algn="l">
              <a:spcBef>
                <a:spcPts val="0"/>
              </a:spcBef>
              <a:spcAft>
                <a:spcPts val="0"/>
              </a:spcAft>
            </a:pPr>
            <a:r>
              <a:rPr sz="1250" b="0">
                <a:solidFill>
                  <a:srgbClr val="C7CCD3"/>
                </a:solidFill>
                <a:latin typeface="Calibri"/>
              </a:rPr>
              <a:t>read the signals and ask Atlas a question.</a:t>
            </a:r>
          </a:p>
        </p:txBody>
      </p:sp>
      <p:sp>
        <p:nvSpPr>
          <p:cNvPr id="8" name="Rounded Rectangle 7"/>
          <p:cNvSpPr/>
          <p:nvPr/>
        </p:nvSpPr>
        <p:spPr>
          <a:xfrm>
            <a:off x="685800" y="2852928"/>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852928"/>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2</a:t>
            </a:r>
          </a:p>
        </p:txBody>
      </p:sp>
      <p:sp>
        <p:nvSpPr>
          <p:cNvPr id="10" name="TextBox 9"/>
          <p:cNvSpPr txBox="1"/>
          <p:nvPr/>
        </p:nvSpPr>
        <p:spPr>
          <a:xfrm>
            <a:off x="1417320" y="2834640"/>
            <a:ext cx="10058400" cy="822960"/>
          </a:xfrm>
          <a:prstGeom prst="rect">
            <a:avLst/>
          </a:prstGeom>
          <a:noFill/>
        </p:spPr>
        <p:txBody>
          <a:bodyPr wrap="square" anchor="t" lIns="0" rIns="0" tIns="0" bIns="0">
            <a:spAutoFit/>
          </a:bodyPr>
          <a:lstStyle/>
          <a:p>
            <a:pPr algn="l">
              <a:spcBef>
                <a:spcPts val="0"/>
              </a:spcBef>
              <a:spcAft>
                <a:spcPts val="200"/>
              </a:spcAft>
            </a:pPr>
            <a:r>
              <a:rPr sz="1650" b="1">
                <a:solidFill>
                  <a:srgbClr val="FFFFFF"/>
                </a:solidFill>
                <a:latin typeface="Calibri"/>
              </a:rPr>
              <a:t>Raise a request</a:t>
            </a:r>
          </a:p>
          <a:p>
            <a:pPr algn="l">
              <a:spcBef>
                <a:spcPts val="0"/>
              </a:spcBef>
              <a:spcAft>
                <a:spcPts val="0"/>
              </a:spcAft>
            </a:pPr>
            <a:r>
              <a:rPr sz="1250" b="0">
                <a:solidFill>
                  <a:srgbClr val="C7CCD3"/>
                </a:solidFill>
                <a:latin typeface="Calibri"/>
              </a:rPr>
              <a:t>Data Requests &gt; New data request; watch the routing and duplicate check.</a:t>
            </a:r>
          </a:p>
        </p:txBody>
      </p:sp>
      <p:sp>
        <p:nvSpPr>
          <p:cNvPr id="11" name="Rounded Rectangle 10"/>
          <p:cNvSpPr/>
          <p:nvPr/>
        </p:nvSpPr>
        <p:spPr>
          <a:xfrm>
            <a:off x="685800" y="3694176"/>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694176"/>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3</a:t>
            </a:r>
          </a:p>
        </p:txBody>
      </p:sp>
      <p:sp>
        <p:nvSpPr>
          <p:cNvPr id="13" name="TextBox 12"/>
          <p:cNvSpPr txBox="1"/>
          <p:nvPr/>
        </p:nvSpPr>
        <p:spPr>
          <a:xfrm>
            <a:off x="1417320" y="3675888"/>
            <a:ext cx="10058400" cy="822960"/>
          </a:xfrm>
          <a:prstGeom prst="rect">
            <a:avLst/>
          </a:prstGeom>
          <a:noFill/>
        </p:spPr>
        <p:txBody>
          <a:bodyPr wrap="square" anchor="t" lIns="0" rIns="0" tIns="0" bIns="0">
            <a:spAutoFit/>
          </a:bodyPr>
          <a:lstStyle/>
          <a:p>
            <a:pPr algn="l">
              <a:spcBef>
                <a:spcPts val="0"/>
              </a:spcBef>
              <a:spcAft>
                <a:spcPts val="200"/>
              </a:spcAft>
            </a:pPr>
            <a:r>
              <a:rPr sz="1650" b="1">
                <a:solidFill>
                  <a:srgbClr val="FFFFFF"/>
                </a:solidFill>
                <a:latin typeface="Calibri"/>
              </a:rPr>
              <a:t>Walk it through</a:t>
            </a:r>
          </a:p>
          <a:p>
            <a:pPr algn="l">
              <a:spcBef>
                <a:spcPts val="0"/>
              </a:spcBef>
              <a:spcAft>
                <a:spcPts val="0"/>
              </a:spcAft>
            </a:pPr>
            <a:r>
              <a:rPr sz="1250" b="0">
                <a:solidFill>
                  <a:srgbClr val="C7CCD3"/>
                </a:solidFill>
                <a:latin typeface="Calibri"/>
              </a:rPr>
              <a:t>open a request, switch roles, and use the action buttons to approve it.</a:t>
            </a:r>
          </a:p>
        </p:txBody>
      </p:sp>
      <p:sp>
        <p:nvSpPr>
          <p:cNvPr id="14" name="Rounded Rectangle 13"/>
          <p:cNvSpPr/>
          <p:nvPr/>
        </p:nvSpPr>
        <p:spPr>
          <a:xfrm>
            <a:off x="685800" y="4535424"/>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35424"/>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4</a:t>
            </a:r>
          </a:p>
        </p:txBody>
      </p:sp>
      <p:sp>
        <p:nvSpPr>
          <p:cNvPr id="16" name="TextBox 15"/>
          <p:cNvSpPr txBox="1"/>
          <p:nvPr/>
        </p:nvSpPr>
        <p:spPr>
          <a:xfrm>
            <a:off x="1417320" y="4517136"/>
            <a:ext cx="10058400" cy="822960"/>
          </a:xfrm>
          <a:prstGeom prst="rect">
            <a:avLst/>
          </a:prstGeom>
          <a:noFill/>
        </p:spPr>
        <p:txBody>
          <a:bodyPr wrap="square" anchor="t" lIns="0" rIns="0" tIns="0" bIns="0">
            <a:spAutoFit/>
          </a:bodyPr>
          <a:lstStyle/>
          <a:p>
            <a:pPr algn="l">
              <a:spcBef>
                <a:spcPts val="0"/>
              </a:spcBef>
              <a:spcAft>
                <a:spcPts val="200"/>
              </a:spcAft>
            </a:pPr>
            <a:r>
              <a:rPr sz="1650" b="1">
                <a:solidFill>
                  <a:srgbClr val="FFFFFF"/>
                </a:solidFill>
                <a:latin typeface="Calibri"/>
              </a:rPr>
              <a:t>Move it to the catalogue</a:t>
            </a:r>
          </a:p>
          <a:p>
            <a:pPr algn="l">
              <a:spcBef>
                <a:spcPts val="0"/>
              </a:spcBef>
              <a:spcAft>
                <a:spcPts val="0"/>
              </a:spcAft>
            </a:pPr>
            <a:r>
              <a:rPr sz="1250" b="0">
                <a:solidFill>
                  <a:srgbClr val="C7CCD3"/>
                </a:solidFill>
                <a:latin typeface="Calibri"/>
              </a:rPr>
              <a:t>then Complete &amp; publish the draft.</a:t>
            </a:r>
          </a:p>
        </p:txBody>
      </p:sp>
      <p:sp>
        <p:nvSpPr>
          <p:cNvPr id="17" name="Rounded Rectangle 16"/>
          <p:cNvSpPr/>
          <p:nvPr/>
        </p:nvSpPr>
        <p:spPr>
          <a:xfrm>
            <a:off x="685800" y="5376672"/>
            <a:ext cx="457200" cy="457200"/>
          </a:xfrm>
          <a:prstGeom prst="roundRect">
            <a:avLst>
              <a:gd name="adj" fmla="val 25000"/>
            </a:avLst>
          </a:prstGeom>
          <a:solidFill>
            <a:srgbClr val="F89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376672"/>
            <a:ext cx="457200" cy="457200"/>
          </a:xfrm>
          <a:prstGeom prst="rect">
            <a:avLst/>
          </a:prstGeom>
          <a:noFill/>
        </p:spPr>
        <p:txBody>
          <a:bodyPr wrap="square" anchor="ctr" lIns="0" rIns="0" tIns="0" bIns="0">
            <a:spAutoFit/>
          </a:bodyPr>
          <a:lstStyle/>
          <a:p>
            <a:pPr algn="ctr">
              <a:spcBef>
                <a:spcPts val="0"/>
              </a:spcBef>
              <a:spcAft>
                <a:spcPts val="0"/>
              </a:spcAft>
            </a:pPr>
            <a:r>
              <a:rPr sz="1350" b="1">
                <a:solidFill>
                  <a:srgbClr val="09131B"/>
                </a:solidFill>
                <a:latin typeface="Calibri"/>
              </a:rPr>
              <a:t>5</a:t>
            </a:r>
          </a:p>
        </p:txBody>
      </p:sp>
      <p:sp>
        <p:nvSpPr>
          <p:cNvPr id="19" name="TextBox 18"/>
          <p:cNvSpPr txBox="1"/>
          <p:nvPr/>
        </p:nvSpPr>
        <p:spPr>
          <a:xfrm>
            <a:off x="1417320" y="5358384"/>
            <a:ext cx="10058400" cy="822960"/>
          </a:xfrm>
          <a:prstGeom prst="rect">
            <a:avLst/>
          </a:prstGeom>
          <a:noFill/>
        </p:spPr>
        <p:txBody>
          <a:bodyPr wrap="square" anchor="t" lIns="0" rIns="0" tIns="0" bIns="0">
            <a:spAutoFit/>
          </a:bodyPr>
          <a:lstStyle/>
          <a:p>
            <a:pPr algn="l">
              <a:spcBef>
                <a:spcPts val="0"/>
              </a:spcBef>
              <a:spcAft>
                <a:spcPts val="200"/>
              </a:spcAft>
            </a:pPr>
            <a:r>
              <a:rPr sz="1650" b="1">
                <a:solidFill>
                  <a:srgbClr val="FFFFFF"/>
                </a:solidFill>
                <a:latin typeface="Calibri"/>
              </a:rPr>
              <a:t>Explore the intelligence</a:t>
            </a:r>
          </a:p>
          <a:p>
            <a:pPr algn="l">
              <a:spcBef>
                <a:spcPts val="0"/>
              </a:spcBef>
              <a:spcAft>
                <a:spcPts val="0"/>
              </a:spcAft>
            </a:pPr>
            <a:r>
              <a:rPr sz="1250" b="0">
                <a:solidFill>
                  <a:srgbClr val="C7CCD3"/>
                </a:solidFill>
                <a:latin typeface="Calibri"/>
              </a:rPr>
              <a:t>Vendor Hub Plus, KPI lineage and the TPA runway.</a:t>
            </a:r>
          </a:p>
        </p:txBody>
      </p:sp>
      <p:sp>
        <p:nvSpPr>
          <p:cNvPr id="20" name="TextBox 19"/>
          <p:cNvSpPr txBox="1"/>
          <p:nvPr/>
        </p:nvSpPr>
        <p:spPr>
          <a:xfrm>
            <a:off x="685800" y="6309360"/>
            <a:ext cx="10789920" cy="365760"/>
          </a:xfrm>
          <a:prstGeom prst="rect">
            <a:avLst/>
          </a:prstGeom>
          <a:noFill/>
        </p:spPr>
        <p:txBody>
          <a:bodyPr wrap="square" anchor="t" lIns="0" rIns="0" tIns="0" bIns="0">
            <a:spAutoFit/>
          </a:bodyPr>
          <a:lstStyle/>
          <a:p>
            <a:pPr algn="l">
              <a:spcBef>
                <a:spcPts val="0"/>
              </a:spcBef>
              <a:spcAft>
                <a:spcPts val="0"/>
              </a:spcAft>
            </a:pPr>
            <a:r>
              <a:rPr sz="1150" b="0">
                <a:solidFill>
                  <a:srgbClr val="A9AFB6"/>
                </a:solidFill>
                <a:latin typeface="Calibri"/>
              </a:rPr>
              <a:t>For step-by-step instructions on every feature, see the Cortex Atlas User Training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