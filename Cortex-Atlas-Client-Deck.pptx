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one-liner: 'We took the five SharePoint tools your team uses to buy and govern commercial data, and rebuilt them as one connected platform — Cortex Atlas.' Set expectations: this is a working, clickable prototype on synthetic data, not slides of screenshots. Today I'll show what it does, why it matters commercially, and how we'd deliver it. Note it shares the exact design language and architecture as the other Cortex modules — Compass, Vantage, Meridian — so it slots into the suite.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roadmap of the conversation. Keep it to 20 seconds. Signal that the bulk of the time (sections 3-4) is the tool itself, and that we'll close on commercials and how we'd deliver. Invite them to stop you with questions at any point — this is meant to be interactive, ideally alongside the live prototype.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'Before the solution, let's be clear on the problem we keep hearing.' The team already has good tools — this isn't a criticism of what exists. The issue is they're disconnected SharePoint forms and lists, so the organisation can't see across them. That gap is where money leaks and risk hides. Keep this empathetic — we're solving their pain, not selling them something new for its own sake.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this is the lifecycle of a data asset — it's requested (DPRH), recorded (Catalogue), measured (KPIs), supplied by a vendor (Vendor Hub), and governed by an agreement (TPA). Each tool is fine on its own. But because they're separate SharePoint forms, the connections — the dots between them — only exist in people's heads. Then land the four bullets as the lived pain. These are the exact problems Atlas is built to remove, so foreshadow that.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your 'cost of inaction' slide — it earns the right to propose change. You don't need hard client numbers yet (that's the baseline audit later); frame these as the categories of leakage every CI function recognises. Tie each to a P&amp;L or risk owner: duplicate buys = procurement budget; renewals = legal/continuity; concentration = supply risk; audit = compliance. The closing line reframes it as fixable structure, not blame — that lowers defensiveness and sets up the solution.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Pivot to the upside. The core idea in one sentence: 'one asset, five tools.' Everything from here shows how connecting the five tools turns a set of forms into a decision layer. Say the product name deliberately — Cortex Atlas — and that 'Atlas' is about seeing the whole map, not another dashboard.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the flow tangible: trace one asset end to end out loud — 'OncoNova's prescription data is requested in DPRH, recorded in the Catalogue, feeds the New-to-Brand Rx Share KPI, comes from vendor Helix, and is governed by a TPA expiring in three weeks.' That single sentence is impossible to say with today's tools and trivial with Atlas. The bottom row is the payoff: the cross-links are live navigation in the prototype — offer to click any of them during the demo.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mental model to anchor the whole demo. Stress that it's ONE tool delivered together, not three products — the layers describe depth, not phases the client has to buy separately. Layer 1 earns trust (it mirrors their reality). Layer 2 removes manual effort. Layer 3 is where it stops being a system of record and becomes a decision layer. If a client is sceptical of 'AI', reassure: every intelligence output is advisory, with a confidence read, and a human always approves — we'll see that cue on every panel.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up the walkthrough. If you have the live prototype, this is where you switch to it and use the slides as a backstop. Tell them you'll go in the order data actually flows: request, catalogue, KPI, vendor, value layer, agreements — then the cross-estate intelligence that ties it together.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front door — the highest-value place to stop waste, because it's before the money is spent. Land three things: (1) the form is status-driven — on submit it auto-routes by national/sub-national and the divisional cost threshold, and each reviewer tab (Admin, region-scoped Regional, CDS committee of regional+global reviewers, Admin final) opens progressively and is visible only to that role — demo the Requester/Admin/Regional/Global toggle. (2) Automation kills the re-keying that causes catalogue drift; on approval the record moves to the catalogue as a draft to complete. (3) The duplicate flag is the headline — show DP-2042 overlapping the existing Oncology EMR asset. That one flag can pay for the platform. The flag is advisory; a human decides. (This mirrors the live CDSP-DPRH portal.)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catalogue as the heart — it's the system of record the other four tools point at. Two demo moments: open a full asset record and scroll the grouped fields so they see it's complete, not a stub; then hit 'New manual entry', pick a patient-level claims archetype, and watch PHI flip to Yes with a Gold suggestion in real time — that's the active-metadata idea (Purview thinking) made concrete. Close on the quality flag: this is where the catalogue starts giving advice, not just storing facts.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question this answers: 'when leadership challenges a number in a meeting, can we say where it came from and how good it is?' Today that's tribal knowledge; here it's two clicks. Demo the lineage chain on a KPI drawer. The strategic point: lineage isn't just governance hygiene — it's confidence. Knowing a metric leans on Bronze data changes how you use it. That's the difference between a report and a decision layer.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one short — it's the setup for the star slide that follows. The key design decision to mention: we made each vendor a first-class record that assets link UP to. That sounds technical, but it's what makes the value analytics possible. Today the Vendor Hub is a flat list; tee up that 'flat list becomes a decision tool' in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Slow down — this is the slide that separates Atlas from a generic catalogue (Collibra/Atlan) and from their status quo. Borrow the Data Value Tracker framing: instead of only knowing WHO our vendors are, we know what each is WORTH, what depends on them, and where our leverage is. Walk the five layers as a story: quality → concentration → irreplaceability → efficiency → leverage. Use the concrete reads (HHI, top-two 50%, the cost-per-quality outlier) but label them illustrative. This is the slide procurement leadership will remember — it directly arms their next renewal negotiation.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tool with the clearest, most defensible ROI because the reminder automation already exists in their world — we're making it intelligent. The leap from today: today a reminder says 'TPA expires in 30 days.' Atlas says 'this expires in 21 days AND it's the only agreement feeding your New-to-Brand Rx Share KPI for OncoNova — renew now.' That's continuous, risk-tiered monitoring, the direction third-party-risk tooling has gone. Show the runway view and the red cross-tool warning. Renewal prediction is advisory — a recommendation, not an auto-renew.</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answers 'what have you enhanced?' across the board. Read it as: every one of the five tools keeps its as-is job (Layer 1) and now carries Layer 2 automation and Layer 3 intelligence — not just one or two tools. Point out the consistent pattern: each has automation that removes manual effort, an AI/analytics capability, a dashboard view, and Ask Atlas. The bottom line is the next-gen integration story — cross-connectivity between tools, a unified dashboard layer, and AI (Azure OpenAI) woven in. Reassure: every AI output stays advisory with a human in the loop.</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the pieces become a decision layer. Left: Atlas doesn't make you hunt — it pushes the handful of cross-tool issues that need a decision, ranked by stakes, each linking to the record. Right: for everything else, ask in plain English and it reads across all five tools. Demo one chip live. Crucial trust message for a pharma audience: it's grounded (no hallucinated numbers — it cites the source rows), it shows its confidence, and it's advisory only — a human always approves. No autonomous decisions. That sentence often unlocks the room.</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from 'what it does' to 'why it pays and how we deliver.' Keep momentum — the demo has done the convincing; now make it easy to say yes.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Translate features into outcomes and name the owner who cares about each — that's how you build a coalition of sponsors in the room. Lead with 'stop duplicate spend' and 'never miss a renewal' because they're the easiest to quantify in a baseline audit. If asked for ROI numbers, be honest: the prototype shows the mechanism; the baseline audit (next steps) quantifies it against their actual spend and agreements. Avoid over-claiming hard figures on synthetic data.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Reassure IT and architecture stakeholders. Two messages. Left: the prototype is deliberately a single offline file so anyone can evaluate it without procurement or installs — and it reuses the proven Cortex pattern, so it's not bespoke risk. Right: the production target maps cleanly onto tools they already own and trust — SharePoint, Power Automate, Purview, Azure OpenAI. We're not asking them to adopt a new platform; we're orchestrating their existing Microsoft estate. That lowers security, procurement and change-management friction enormously.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Phasing makes a big programme feel safe and fundable. Key reframe: although we're showing all three layers working today in the prototype, we deliver them in sequence so the client gets usable value early and each phase proves the ground for the next. Phase 1 alone — connected tools with real cross-links — already beats today. Don't commit to calendar durations here unless you've scoped them; talk in phases and let the next-steps/scoping conversation set dates.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Pre-empt the 'why you / why this way' questions. The strongest card is the first — this isn't a science project; it's the same pattern we've already shipped as other Cortex modules, so the delivery risk is low. Pair that with 'it runs on what you already own' and 'you can try it today' and you've removed the three usual objections: risk, cost of change, and uncertainty. Keep this brisk; it's reinforcement before the ask.</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a clear, low-commitment ask: the next step is just a live walkthrough with their people — easy to say yes to. The baseline audit is the real hook: it converts every illustrative number in this deck into their actual exposure, which is what unlocks budget. End by inviting them into the prototype — finish on the product, not a slide. Hand over to the live demo or open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Leave-behind / governance slide — you may not present it, but it protects you and answers the compliance reviewer who reads the deck afterwards. The three points: data is synthetic; figures are directional pending a baseline audit; AI is advisory with human approval. If anyone asks 'are these our numbers?' this is your reference.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9131B"/>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1371600"/>
            <a:ext cx="2286000" cy="457200"/>
          </a:xfrm>
          <a:prstGeom prst="roundRect">
            <a:avLst>
              <a:gd name="adj" fmla="val 50000"/>
            </a:avLst>
          </a:prstGeom>
          <a:solidFill>
            <a:srgbClr val="0E1A22"/>
          </a:solidFill>
          <a:ln w="12700">
            <a:solidFill>
              <a:srgbClr val="2A3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2286000" cy="457200"/>
          </a:xfrm>
          <a:prstGeom prst="rect">
            <a:avLst/>
          </a:prstGeom>
          <a:noFill/>
        </p:spPr>
        <p:txBody>
          <a:bodyPr wrap="square" anchor="ctr" lIns="0" rIns="0" tIns="0" bIns="0">
            <a:spAutoFit/>
          </a:bodyPr>
          <a:lstStyle/>
          <a:p>
            <a:pPr algn="ctr">
              <a:spcBef>
                <a:spcPts val="0"/>
              </a:spcBef>
              <a:spcAft>
                <a:spcPts val="0"/>
              </a:spcAft>
            </a:pPr>
            <a:r>
              <a:rPr sz="1100" b="1" i="0">
                <a:solidFill>
                  <a:srgbClr val="F89739"/>
                </a:solidFill>
                <a:latin typeface="Calibri"/>
              </a:rPr>
              <a:t>C O R T E X   S U I T E</a:t>
            </a:r>
          </a:p>
        </p:txBody>
      </p:sp>
      <p:sp>
        <p:nvSpPr>
          <p:cNvPr id="5" name="TextBox 4"/>
          <p:cNvSpPr txBox="1"/>
          <p:nvPr/>
        </p:nvSpPr>
        <p:spPr>
          <a:xfrm>
            <a:off x="685800" y="2240280"/>
            <a:ext cx="10515600" cy="1280160"/>
          </a:xfrm>
          <a:prstGeom prst="rect">
            <a:avLst/>
          </a:prstGeom>
          <a:noFill/>
        </p:spPr>
        <p:txBody>
          <a:bodyPr wrap="square" anchor="t" lIns="0" rIns="0" tIns="0" bIns="0">
            <a:spAutoFit/>
          </a:bodyPr>
          <a:lstStyle/>
          <a:p>
            <a:pPr algn="l">
              <a:spcBef>
                <a:spcPts val="0"/>
              </a:spcBef>
              <a:spcAft>
                <a:spcPts val="200"/>
              </a:spcAft>
            </a:pPr>
            <a:r>
              <a:rPr sz="6000" b="1" i="0">
                <a:solidFill>
                  <a:srgbClr val="FFFFFF"/>
                </a:solidFill>
                <a:latin typeface="Calibri"/>
              </a:rPr>
              <a:t>Cortex Atlas</a:t>
            </a:r>
          </a:p>
        </p:txBody>
      </p:sp>
      <p:sp>
        <p:nvSpPr>
          <p:cNvPr id="6" name="TextBox 5"/>
          <p:cNvSpPr txBox="1"/>
          <p:nvPr/>
        </p:nvSpPr>
        <p:spPr>
          <a:xfrm>
            <a:off x="685800" y="3383280"/>
            <a:ext cx="10515600" cy="822960"/>
          </a:xfrm>
          <a:prstGeom prst="rect">
            <a:avLst/>
          </a:prstGeom>
          <a:noFill/>
        </p:spPr>
        <p:txBody>
          <a:bodyPr wrap="square" anchor="t" lIns="0" rIns="0" tIns="0" bIns="0">
            <a:spAutoFit/>
          </a:bodyPr>
          <a:lstStyle/>
          <a:p>
            <a:pPr algn="l">
              <a:spcBef>
                <a:spcPts val="0"/>
              </a:spcBef>
              <a:spcAft>
                <a:spcPts val="0"/>
              </a:spcAft>
            </a:pPr>
            <a:r>
              <a:rPr sz="2600" b="0" i="0">
                <a:solidFill>
                  <a:srgbClr val="C7CCD3"/>
                </a:solidFill>
                <a:latin typeface="Calibri"/>
              </a:rPr>
              <a:t>Commercial data governance, connected.</a:t>
            </a:r>
          </a:p>
        </p:txBody>
      </p:sp>
      <p:sp>
        <p:nvSpPr>
          <p:cNvPr id="7" name="TextBox 6"/>
          <p:cNvSpPr txBox="1"/>
          <p:nvPr/>
        </p:nvSpPr>
        <p:spPr>
          <a:xfrm>
            <a:off x="685800" y="4297680"/>
            <a:ext cx="10515600" cy="914400"/>
          </a:xfrm>
          <a:prstGeom prst="rect">
            <a:avLst/>
          </a:prstGeom>
          <a:noFill/>
        </p:spPr>
        <p:txBody>
          <a:bodyPr wrap="square" anchor="t" lIns="0" rIns="0" tIns="0" bIns="0">
            <a:spAutoFit/>
          </a:bodyPr>
          <a:lstStyle/>
          <a:p>
            <a:pPr algn="l">
              <a:spcBef>
                <a:spcPts val="0"/>
              </a:spcBef>
              <a:spcAft>
                <a:spcPts val="0"/>
              </a:spcAft>
            </a:pPr>
            <a:r>
              <a:rPr sz="1500" b="0" i="0">
                <a:solidFill>
                  <a:srgbClr val="A9AFB6"/>
                </a:solidFill>
                <a:latin typeface="Calibri"/>
              </a:rPr>
              <a:t>Five interlinked tools — requests, catalogue, KPIs, vendors and agreements — rebuilt as one decision layer for Commercial Insights &amp; Data Procurement.</a:t>
            </a:r>
          </a:p>
        </p:txBody>
      </p:sp>
      <p:sp>
        <p:nvSpPr>
          <p:cNvPr id="8" name="Rectangle 7"/>
          <p:cNvSpPr/>
          <p:nvPr/>
        </p:nvSpPr>
        <p:spPr>
          <a:xfrm>
            <a:off x="685800" y="5852160"/>
            <a:ext cx="10820095" cy="9525"/>
          </a:xfrm>
          <a:prstGeom prst="rect">
            <a:avLst/>
          </a:prstGeom>
          <a:solidFill>
            <a:srgbClr val="2A3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989320"/>
            <a:ext cx="10515600" cy="457200"/>
          </a:xfrm>
          <a:prstGeom prst="rect">
            <a:avLst/>
          </a:prstGeom>
          <a:noFill/>
        </p:spPr>
        <p:txBody>
          <a:bodyPr wrap="square" anchor="t" lIns="0" rIns="0" tIns="0" bIns="0">
            <a:spAutoFit/>
          </a:bodyPr>
          <a:lstStyle/>
          <a:p>
            <a:pPr algn="l">
              <a:spcBef>
                <a:spcPts val="0"/>
              </a:spcBef>
              <a:spcAft>
                <a:spcPts val="0"/>
              </a:spcAft>
            </a:pPr>
            <a:r>
              <a:rPr sz="1150" b="0" i="0">
                <a:solidFill>
                  <a:srgbClr val="A9AFB6"/>
                </a:solidFill>
                <a:latin typeface="Calibri"/>
              </a:rPr>
              <a:t>Prepared for: NovaCura Pharmaceuticals (illustrative)   ·   Working prototype walkthrough   ·   Synthetic data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4F4"/>
        </a:solidFill>
        <a:effectLst/>
      </p:bgPr>
    </p:bg>
    <p:spTree>
      <p:nvGrpSpPr>
        <p:cNvPr id="1" name=""/>
        <p:cNvGrpSpPr/>
        <p:nvPr/>
      </p:nvGrpSpPr>
      <p:grpSpPr/>
      <p:sp>
        <p:nvSpPr>
          <p:cNvPr id="2" name="Rectangle 1"/>
          <p:cNvSpPr/>
          <p:nvPr/>
        </p:nvSpPr>
        <p:spPr>
          <a:xfrm>
            <a:off x="685800" y="566928"/>
            <a:ext cx="310896" cy="82296"/>
          </a:xfrm>
          <a:prstGeom prst="rect">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457200"/>
            <a:ext cx="10408615" cy="320040"/>
          </a:xfrm>
          <a:prstGeom prst="rect">
            <a:avLst/>
          </a:prstGeom>
          <a:noFill/>
        </p:spPr>
        <p:txBody>
          <a:bodyPr wrap="square" anchor="t" lIns="0" rIns="0" tIns="0" bIns="0">
            <a:spAutoFit/>
          </a:bodyPr>
          <a:lstStyle/>
          <a:p>
            <a:pPr algn="l">
              <a:spcBef>
                <a:spcPts val="0"/>
              </a:spcBef>
              <a:spcAft>
                <a:spcPts val="0"/>
              </a:spcAft>
            </a:pPr>
            <a:r>
              <a:rPr sz="1250" b="1" i="0">
                <a:solidFill>
                  <a:srgbClr val="F89739"/>
                </a:solidFill>
                <a:latin typeface="Calibri"/>
              </a:rPr>
              <a:t>AGENDA</a:t>
            </a:r>
          </a:p>
        </p:txBody>
      </p:sp>
      <p:sp>
        <p:nvSpPr>
          <p:cNvPr id="4" name="TextBox 3"/>
          <p:cNvSpPr txBox="1"/>
          <p:nvPr/>
        </p:nvSpPr>
        <p:spPr>
          <a:xfrm>
            <a:off x="685800" y="841248"/>
            <a:ext cx="10820095" cy="640080"/>
          </a:xfrm>
          <a:prstGeom prst="rect">
            <a:avLst/>
          </a:prstGeom>
          <a:noFill/>
        </p:spPr>
        <p:txBody>
          <a:bodyPr wrap="square" anchor="t" lIns="0" rIns="0" tIns="0" bIns="0">
            <a:spAutoFit/>
          </a:bodyPr>
          <a:lstStyle/>
          <a:p>
            <a:pPr algn="l">
              <a:spcBef>
                <a:spcPts val="0"/>
              </a:spcBef>
              <a:spcAft>
                <a:spcPts val="0"/>
              </a:spcAft>
            </a:pPr>
            <a:r>
              <a:rPr sz="2900" b="1" i="0">
                <a:solidFill>
                  <a:srgbClr val="09131B"/>
                </a:solidFill>
                <a:latin typeface="Calibri"/>
              </a:rPr>
              <a:t>What we'll cover today</a:t>
            </a:r>
          </a:p>
        </p:txBody>
      </p:sp>
      <p:sp>
        <p:nvSpPr>
          <p:cNvPr id="5" name="Rounded Rectangle 4"/>
          <p:cNvSpPr/>
          <p:nvPr/>
        </p:nvSpPr>
        <p:spPr>
          <a:xfrm>
            <a:off x="685800" y="1783080"/>
            <a:ext cx="5349240" cy="109728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2112264"/>
            <a:ext cx="457200" cy="457200"/>
          </a:xfrm>
          <a:prstGeom prst="roundRect">
            <a:avLst>
              <a:gd name="adj" fmla="val 25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112264"/>
            <a:ext cx="457200" cy="457200"/>
          </a:xfrm>
          <a:prstGeom prst="rect">
            <a:avLst/>
          </a:prstGeom>
          <a:noFill/>
        </p:spPr>
        <p:txBody>
          <a:bodyPr wrap="square" anchor="ctr" lIns="0" rIns="0" tIns="0" bIns="0">
            <a:spAutoFit/>
          </a:bodyPr>
          <a:lstStyle/>
          <a:p>
            <a:pPr algn="ctr">
              <a:spcBef>
                <a:spcPts val="0"/>
              </a:spcBef>
              <a:spcAft>
                <a:spcPts val="0"/>
              </a:spcAft>
            </a:pPr>
            <a:r>
              <a:rPr sz="1400" b="1" i="0">
                <a:solidFill>
                  <a:srgbClr val="09131B"/>
                </a:solidFill>
                <a:latin typeface="Calibri"/>
              </a:rPr>
              <a:t>01</a:t>
            </a:r>
          </a:p>
        </p:txBody>
      </p:sp>
      <p:sp>
        <p:nvSpPr>
          <p:cNvPr id="8" name="TextBox 7"/>
          <p:cNvSpPr txBox="1"/>
          <p:nvPr/>
        </p:nvSpPr>
        <p:spPr>
          <a:xfrm>
            <a:off x="1645920" y="1984248"/>
            <a:ext cx="4160520" cy="822960"/>
          </a:xfrm>
          <a:prstGeom prst="rect">
            <a:avLst/>
          </a:prstGeom>
          <a:noFill/>
        </p:spPr>
        <p:txBody>
          <a:bodyPr wrap="square" anchor="ctr" lIns="0" rIns="0" tIns="0" bIns="0">
            <a:spAutoFit/>
          </a:bodyPr>
          <a:lstStyle/>
          <a:p>
            <a:pPr algn="l">
              <a:spcBef>
                <a:spcPts val="0"/>
              </a:spcBef>
              <a:spcAft>
                <a:spcPts val="200"/>
              </a:spcAft>
            </a:pPr>
            <a:r>
              <a:rPr sz="1700" b="1" i="0">
                <a:solidFill>
                  <a:srgbClr val="09131B"/>
                </a:solidFill>
                <a:latin typeface="Calibri"/>
              </a:rPr>
              <a:t>The challenge</a:t>
            </a:r>
          </a:p>
          <a:p>
            <a:pPr algn="l">
              <a:spcBef>
                <a:spcPts val="0"/>
              </a:spcBef>
              <a:spcAft>
                <a:spcPts val="0"/>
              </a:spcAft>
            </a:pPr>
            <a:r>
              <a:rPr sz="1250" b="0" i="0">
                <a:solidFill>
                  <a:srgbClr val="595959"/>
                </a:solidFill>
                <a:latin typeface="Calibri"/>
              </a:rPr>
              <a:t>Five tools, five silos — and what that costs</a:t>
            </a:r>
          </a:p>
        </p:txBody>
      </p:sp>
      <p:sp>
        <p:nvSpPr>
          <p:cNvPr id="9" name="Rounded Rectangle 8"/>
          <p:cNvSpPr/>
          <p:nvPr/>
        </p:nvSpPr>
        <p:spPr>
          <a:xfrm>
            <a:off x="6309360" y="1783080"/>
            <a:ext cx="5349240" cy="109728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83680" y="2112264"/>
            <a:ext cx="457200" cy="457200"/>
          </a:xfrm>
          <a:prstGeom prst="roundRect">
            <a:avLst>
              <a:gd name="adj" fmla="val 25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0" y="2112264"/>
            <a:ext cx="457200" cy="457200"/>
          </a:xfrm>
          <a:prstGeom prst="rect">
            <a:avLst/>
          </a:prstGeom>
          <a:noFill/>
        </p:spPr>
        <p:txBody>
          <a:bodyPr wrap="square" anchor="ctr" lIns="0" rIns="0" tIns="0" bIns="0">
            <a:spAutoFit/>
          </a:bodyPr>
          <a:lstStyle/>
          <a:p>
            <a:pPr algn="ctr">
              <a:spcBef>
                <a:spcPts val="0"/>
              </a:spcBef>
              <a:spcAft>
                <a:spcPts val="0"/>
              </a:spcAft>
            </a:pPr>
            <a:r>
              <a:rPr sz="1400" b="1" i="0">
                <a:solidFill>
                  <a:srgbClr val="09131B"/>
                </a:solidFill>
                <a:latin typeface="Calibri"/>
              </a:rPr>
              <a:t>02</a:t>
            </a:r>
          </a:p>
        </p:txBody>
      </p:sp>
      <p:sp>
        <p:nvSpPr>
          <p:cNvPr id="12" name="TextBox 11"/>
          <p:cNvSpPr txBox="1"/>
          <p:nvPr/>
        </p:nvSpPr>
        <p:spPr>
          <a:xfrm>
            <a:off x="7269480" y="1984248"/>
            <a:ext cx="4160520" cy="822960"/>
          </a:xfrm>
          <a:prstGeom prst="rect">
            <a:avLst/>
          </a:prstGeom>
          <a:noFill/>
        </p:spPr>
        <p:txBody>
          <a:bodyPr wrap="square" anchor="ctr" lIns="0" rIns="0" tIns="0" bIns="0">
            <a:spAutoFit/>
          </a:bodyPr>
          <a:lstStyle/>
          <a:p>
            <a:pPr algn="l">
              <a:spcBef>
                <a:spcPts val="0"/>
              </a:spcBef>
              <a:spcAft>
                <a:spcPts val="200"/>
              </a:spcAft>
            </a:pPr>
            <a:r>
              <a:rPr sz="1700" b="1" i="0">
                <a:solidFill>
                  <a:srgbClr val="09131B"/>
                </a:solidFill>
                <a:latin typeface="Calibri"/>
              </a:rPr>
              <a:t>The solution</a:t>
            </a:r>
          </a:p>
          <a:p>
            <a:pPr algn="l">
              <a:spcBef>
                <a:spcPts val="0"/>
              </a:spcBef>
              <a:spcAft>
                <a:spcPts val="0"/>
              </a:spcAft>
            </a:pPr>
            <a:r>
              <a:rPr sz="1250" b="0" i="0">
                <a:solidFill>
                  <a:srgbClr val="595959"/>
                </a:solidFill>
                <a:latin typeface="Calibri"/>
              </a:rPr>
              <a:t>Cortex Atlas: one connected estate</a:t>
            </a:r>
          </a:p>
        </p:txBody>
      </p:sp>
      <p:sp>
        <p:nvSpPr>
          <p:cNvPr id="13" name="Rounded Rectangle 12"/>
          <p:cNvSpPr/>
          <p:nvPr/>
        </p:nvSpPr>
        <p:spPr>
          <a:xfrm>
            <a:off x="685800" y="3108960"/>
            <a:ext cx="5349240" cy="109728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60120" y="3438144"/>
            <a:ext cx="457200" cy="457200"/>
          </a:xfrm>
          <a:prstGeom prst="roundRect">
            <a:avLst>
              <a:gd name="adj" fmla="val 25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438144"/>
            <a:ext cx="457200" cy="457200"/>
          </a:xfrm>
          <a:prstGeom prst="rect">
            <a:avLst/>
          </a:prstGeom>
          <a:noFill/>
        </p:spPr>
        <p:txBody>
          <a:bodyPr wrap="square" anchor="ctr" lIns="0" rIns="0" tIns="0" bIns="0">
            <a:spAutoFit/>
          </a:bodyPr>
          <a:lstStyle/>
          <a:p>
            <a:pPr algn="ctr">
              <a:spcBef>
                <a:spcPts val="0"/>
              </a:spcBef>
              <a:spcAft>
                <a:spcPts val="0"/>
              </a:spcAft>
            </a:pPr>
            <a:r>
              <a:rPr sz="1400" b="1" i="0">
                <a:solidFill>
                  <a:srgbClr val="09131B"/>
                </a:solidFill>
                <a:latin typeface="Calibri"/>
              </a:rPr>
              <a:t>03</a:t>
            </a:r>
          </a:p>
        </p:txBody>
      </p:sp>
      <p:sp>
        <p:nvSpPr>
          <p:cNvPr id="16" name="TextBox 15"/>
          <p:cNvSpPr txBox="1"/>
          <p:nvPr/>
        </p:nvSpPr>
        <p:spPr>
          <a:xfrm>
            <a:off x="1645920" y="3310128"/>
            <a:ext cx="4160520" cy="822960"/>
          </a:xfrm>
          <a:prstGeom prst="rect">
            <a:avLst/>
          </a:prstGeom>
          <a:noFill/>
        </p:spPr>
        <p:txBody>
          <a:bodyPr wrap="square" anchor="ctr" lIns="0" rIns="0" tIns="0" bIns="0">
            <a:spAutoFit/>
          </a:bodyPr>
          <a:lstStyle/>
          <a:p>
            <a:pPr algn="l">
              <a:spcBef>
                <a:spcPts val="0"/>
              </a:spcBef>
              <a:spcAft>
                <a:spcPts val="200"/>
              </a:spcAft>
            </a:pPr>
            <a:r>
              <a:rPr sz="1700" b="1" i="0">
                <a:solidFill>
                  <a:srgbClr val="09131B"/>
                </a:solidFill>
                <a:latin typeface="Calibri"/>
              </a:rPr>
              <a:t>Inside the platform</a:t>
            </a:r>
          </a:p>
          <a:p>
            <a:pPr algn="l">
              <a:spcBef>
                <a:spcPts val="0"/>
              </a:spcBef>
              <a:spcAft>
                <a:spcPts val="0"/>
              </a:spcAft>
            </a:pPr>
            <a:r>
              <a:rPr sz="1250" b="0" i="0">
                <a:solidFill>
                  <a:srgbClr val="595959"/>
                </a:solidFill>
                <a:latin typeface="Calibri"/>
              </a:rPr>
              <a:t>A guided walk through all five tools</a:t>
            </a:r>
          </a:p>
        </p:txBody>
      </p:sp>
      <p:sp>
        <p:nvSpPr>
          <p:cNvPr id="17" name="Rounded Rectangle 16"/>
          <p:cNvSpPr/>
          <p:nvPr/>
        </p:nvSpPr>
        <p:spPr>
          <a:xfrm>
            <a:off x="6309360" y="3108960"/>
            <a:ext cx="5349240" cy="109728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583680" y="3438144"/>
            <a:ext cx="457200" cy="457200"/>
          </a:xfrm>
          <a:prstGeom prst="roundRect">
            <a:avLst>
              <a:gd name="adj" fmla="val 25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0" y="3438144"/>
            <a:ext cx="457200" cy="457200"/>
          </a:xfrm>
          <a:prstGeom prst="rect">
            <a:avLst/>
          </a:prstGeom>
          <a:noFill/>
        </p:spPr>
        <p:txBody>
          <a:bodyPr wrap="square" anchor="ctr" lIns="0" rIns="0" tIns="0" bIns="0">
            <a:spAutoFit/>
          </a:bodyPr>
          <a:lstStyle/>
          <a:p>
            <a:pPr algn="ctr">
              <a:spcBef>
                <a:spcPts val="0"/>
              </a:spcBef>
              <a:spcAft>
                <a:spcPts val="0"/>
              </a:spcAft>
            </a:pPr>
            <a:r>
              <a:rPr sz="1400" b="1" i="0">
                <a:solidFill>
                  <a:srgbClr val="09131B"/>
                </a:solidFill>
                <a:latin typeface="Calibri"/>
              </a:rPr>
              <a:t>04</a:t>
            </a:r>
          </a:p>
        </p:txBody>
      </p:sp>
      <p:sp>
        <p:nvSpPr>
          <p:cNvPr id="20" name="TextBox 19"/>
          <p:cNvSpPr txBox="1"/>
          <p:nvPr/>
        </p:nvSpPr>
        <p:spPr>
          <a:xfrm>
            <a:off x="7269480" y="3310128"/>
            <a:ext cx="4160520" cy="822960"/>
          </a:xfrm>
          <a:prstGeom prst="rect">
            <a:avLst/>
          </a:prstGeom>
          <a:noFill/>
        </p:spPr>
        <p:txBody>
          <a:bodyPr wrap="square" anchor="ctr" lIns="0" rIns="0" tIns="0" bIns="0">
            <a:spAutoFit/>
          </a:bodyPr>
          <a:lstStyle/>
          <a:p>
            <a:pPr algn="l">
              <a:spcBef>
                <a:spcPts val="0"/>
              </a:spcBef>
              <a:spcAft>
                <a:spcPts val="200"/>
              </a:spcAft>
            </a:pPr>
            <a:r>
              <a:rPr sz="1700" b="1" i="0">
                <a:solidFill>
                  <a:srgbClr val="09131B"/>
                </a:solidFill>
                <a:latin typeface="Calibri"/>
              </a:rPr>
              <a:t>The decision layer</a:t>
            </a:r>
          </a:p>
          <a:p>
            <a:pPr algn="l">
              <a:spcBef>
                <a:spcPts val="0"/>
              </a:spcBef>
              <a:spcAft>
                <a:spcPts val="0"/>
              </a:spcAft>
            </a:pPr>
            <a:r>
              <a:rPr sz="1250" b="0" i="0">
                <a:solidFill>
                  <a:srgbClr val="595959"/>
                </a:solidFill>
                <a:latin typeface="Calibri"/>
              </a:rPr>
              <a:t>Automation and intelligence built in</a:t>
            </a:r>
          </a:p>
        </p:txBody>
      </p:sp>
      <p:sp>
        <p:nvSpPr>
          <p:cNvPr id="21" name="Rounded Rectangle 20"/>
          <p:cNvSpPr/>
          <p:nvPr/>
        </p:nvSpPr>
        <p:spPr>
          <a:xfrm>
            <a:off x="685800" y="4434840"/>
            <a:ext cx="5349240" cy="109728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60120" y="4764024"/>
            <a:ext cx="457200" cy="457200"/>
          </a:xfrm>
          <a:prstGeom prst="roundRect">
            <a:avLst>
              <a:gd name="adj" fmla="val 25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0120" y="4764024"/>
            <a:ext cx="457200" cy="457200"/>
          </a:xfrm>
          <a:prstGeom prst="rect">
            <a:avLst/>
          </a:prstGeom>
          <a:noFill/>
        </p:spPr>
        <p:txBody>
          <a:bodyPr wrap="square" anchor="ctr" lIns="0" rIns="0" tIns="0" bIns="0">
            <a:spAutoFit/>
          </a:bodyPr>
          <a:lstStyle/>
          <a:p>
            <a:pPr algn="ctr">
              <a:spcBef>
                <a:spcPts val="0"/>
              </a:spcBef>
              <a:spcAft>
                <a:spcPts val="0"/>
              </a:spcAft>
            </a:pPr>
            <a:r>
              <a:rPr sz="1400" b="1" i="0">
                <a:solidFill>
                  <a:srgbClr val="09131B"/>
                </a:solidFill>
                <a:latin typeface="Calibri"/>
              </a:rPr>
              <a:t>05</a:t>
            </a:r>
          </a:p>
        </p:txBody>
      </p:sp>
      <p:sp>
        <p:nvSpPr>
          <p:cNvPr id="24" name="TextBox 23"/>
          <p:cNvSpPr txBox="1"/>
          <p:nvPr/>
        </p:nvSpPr>
        <p:spPr>
          <a:xfrm>
            <a:off x="1645920" y="4636008"/>
            <a:ext cx="4160520" cy="822960"/>
          </a:xfrm>
          <a:prstGeom prst="rect">
            <a:avLst/>
          </a:prstGeom>
          <a:noFill/>
        </p:spPr>
        <p:txBody>
          <a:bodyPr wrap="square" anchor="ctr" lIns="0" rIns="0" tIns="0" bIns="0">
            <a:spAutoFit/>
          </a:bodyPr>
          <a:lstStyle/>
          <a:p>
            <a:pPr algn="l">
              <a:spcBef>
                <a:spcPts val="0"/>
              </a:spcBef>
              <a:spcAft>
                <a:spcPts val="200"/>
              </a:spcAft>
            </a:pPr>
            <a:r>
              <a:rPr sz="1700" b="1" i="0">
                <a:solidFill>
                  <a:srgbClr val="09131B"/>
                </a:solidFill>
                <a:latin typeface="Calibri"/>
              </a:rPr>
              <a:t>Value &amp; outcomes</a:t>
            </a:r>
          </a:p>
          <a:p>
            <a:pPr algn="l">
              <a:spcBef>
                <a:spcPts val="0"/>
              </a:spcBef>
              <a:spcAft>
                <a:spcPts val="0"/>
              </a:spcAft>
            </a:pPr>
            <a:r>
              <a:rPr sz="1250" b="0" i="0">
                <a:solidFill>
                  <a:srgbClr val="595959"/>
                </a:solidFill>
                <a:latin typeface="Calibri"/>
              </a:rPr>
              <a:t>What the business gets</a:t>
            </a:r>
          </a:p>
        </p:txBody>
      </p:sp>
      <p:sp>
        <p:nvSpPr>
          <p:cNvPr id="25" name="Rounded Rectangle 24"/>
          <p:cNvSpPr/>
          <p:nvPr/>
        </p:nvSpPr>
        <p:spPr>
          <a:xfrm>
            <a:off x="6309360" y="4434840"/>
            <a:ext cx="5349240" cy="109728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583680" y="4764024"/>
            <a:ext cx="457200" cy="457200"/>
          </a:xfrm>
          <a:prstGeom prst="roundRect">
            <a:avLst>
              <a:gd name="adj" fmla="val 25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83680" y="4764024"/>
            <a:ext cx="457200" cy="457200"/>
          </a:xfrm>
          <a:prstGeom prst="rect">
            <a:avLst/>
          </a:prstGeom>
          <a:noFill/>
        </p:spPr>
        <p:txBody>
          <a:bodyPr wrap="square" anchor="ctr" lIns="0" rIns="0" tIns="0" bIns="0">
            <a:spAutoFit/>
          </a:bodyPr>
          <a:lstStyle/>
          <a:p>
            <a:pPr algn="ctr">
              <a:spcBef>
                <a:spcPts val="0"/>
              </a:spcBef>
              <a:spcAft>
                <a:spcPts val="0"/>
              </a:spcAft>
            </a:pPr>
            <a:r>
              <a:rPr sz="1400" b="1" i="0">
                <a:solidFill>
                  <a:srgbClr val="09131B"/>
                </a:solidFill>
                <a:latin typeface="Calibri"/>
              </a:rPr>
              <a:t>06</a:t>
            </a:r>
          </a:p>
        </p:txBody>
      </p:sp>
      <p:sp>
        <p:nvSpPr>
          <p:cNvPr id="28" name="TextBox 27"/>
          <p:cNvSpPr txBox="1"/>
          <p:nvPr/>
        </p:nvSpPr>
        <p:spPr>
          <a:xfrm>
            <a:off x="7269480" y="4636008"/>
            <a:ext cx="4160520" cy="822960"/>
          </a:xfrm>
          <a:prstGeom prst="rect">
            <a:avLst/>
          </a:prstGeom>
          <a:noFill/>
        </p:spPr>
        <p:txBody>
          <a:bodyPr wrap="square" anchor="ctr" lIns="0" rIns="0" tIns="0" bIns="0">
            <a:spAutoFit/>
          </a:bodyPr>
          <a:lstStyle/>
          <a:p>
            <a:pPr algn="l">
              <a:spcBef>
                <a:spcPts val="0"/>
              </a:spcBef>
              <a:spcAft>
                <a:spcPts val="200"/>
              </a:spcAft>
            </a:pPr>
            <a:r>
              <a:rPr sz="1700" b="1" i="0">
                <a:solidFill>
                  <a:srgbClr val="09131B"/>
                </a:solidFill>
                <a:latin typeface="Calibri"/>
              </a:rPr>
              <a:t>Delivery &amp; next steps</a:t>
            </a:r>
          </a:p>
          <a:p>
            <a:pPr algn="l">
              <a:spcBef>
                <a:spcPts val="0"/>
              </a:spcBef>
              <a:spcAft>
                <a:spcPts val="0"/>
              </a:spcAft>
            </a:pPr>
            <a:r>
              <a:rPr sz="1250" b="0" i="0">
                <a:solidFill>
                  <a:srgbClr val="595959"/>
                </a:solidFill>
                <a:latin typeface="Calibri"/>
              </a:rPr>
              <a:t>Architecture, roadmap, and how we start</a:t>
            </a:r>
          </a:p>
        </p:txBody>
      </p:sp>
      <p:sp>
        <p:nvSpPr>
          <p:cNvPr id="29" name="Rectangle 28"/>
          <p:cNvSpPr/>
          <p:nvPr/>
        </p:nvSpPr>
        <p:spPr>
          <a:xfrm>
            <a:off x="685800" y="6419088"/>
            <a:ext cx="10820095" cy="952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6473952"/>
            <a:ext cx="7315200" cy="274320"/>
          </a:xfrm>
          <a:prstGeom prst="rect">
            <a:avLst/>
          </a:prstGeom>
          <a:noFill/>
        </p:spPr>
        <p:txBody>
          <a:bodyPr wrap="square" anchor="t" lIns="0" rIns="0" tIns="0" bIns="0">
            <a:spAutoFit/>
          </a:bodyPr>
          <a:lstStyle/>
          <a:p>
            <a:pPr algn="l">
              <a:spcBef>
                <a:spcPts val="0"/>
              </a:spcBef>
              <a:spcAft>
                <a:spcPts val="0"/>
              </a:spcAft>
            </a:pPr>
            <a:r>
              <a:rPr sz="900" b="0" i="0">
                <a:solidFill>
                  <a:srgbClr val="A9AFB6"/>
                </a:solidFill>
                <a:latin typeface="Calibri"/>
              </a:rPr>
              <a:t>Cortex Atlas  ·  Illustrative prototype, synthetic data  ·  Confidential</a:t>
            </a:r>
          </a:p>
        </p:txBody>
      </p:sp>
      <p:sp>
        <p:nvSpPr>
          <p:cNvPr id="31" name="TextBox 30"/>
          <p:cNvSpPr txBox="1"/>
          <p:nvPr/>
        </p:nvSpPr>
        <p:spPr>
          <a:xfrm>
            <a:off x="10591495" y="6473952"/>
            <a:ext cx="914400" cy="274320"/>
          </a:xfrm>
          <a:prstGeom prst="rect">
            <a:avLst/>
          </a:prstGeom>
          <a:noFill/>
        </p:spPr>
        <p:txBody>
          <a:bodyPr wrap="square" anchor="t" lIns="0" rIns="0" tIns="0" bIns="0">
            <a:spAutoFit/>
          </a:bodyPr>
          <a:lstStyle/>
          <a:p>
            <a:pPr algn="r">
              <a:spcBef>
                <a:spcPts val="0"/>
              </a:spcBef>
              <a:spcAft>
                <a:spcPts val="0"/>
              </a:spcAft>
            </a:pPr>
            <a:r>
              <a:rPr sz="900" b="0" i="0">
                <a:solidFill>
                  <a:srgbClr val="A9AFB6"/>
                </a:solidFill>
                <a:latin typeface="Calibri"/>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9131B"/>
        </a:solidFill>
        <a:effectLst/>
      </p:bgPr>
    </p:bg>
    <p:spTree>
      <p:nvGrpSpPr>
        <p:cNvPr id="1" name=""/>
        <p:cNvGrpSpPr/>
        <p:nvPr/>
      </p:nvGrpSpPr>
      <p:grpSpPr/>
      <p:sp>
        <p:nvSpPr>
          <p:cNvPr id="2" name="Rectangle 1"/>
          <p:cNvSpPr/>
          <p:nvPr/>
        </p:nvSpPr>
        <p:spPr>
          <a:xfrm>
            <a:off x="685800" y="2286000"/>
            <a:ext cx="310896" cy="82296"/>
          </a:xfrm>
          <a:prstGeom prst="rect">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176272"/>
            <a:ext cx="9144000" cy="365760"/>
          </a:xfrm>
          <a:prstGeom prst="rect">
            <a:avLst/>
          </a:prstGeom>
          <a:noFill/>
        </p:spPr>
        <p:txBody>
          <a:bodyPr wrap="square" anchor="t" lIns="0" rIns="0" tIns="0" bIns="0">
            <a:spAutoFit/>
          </a:bodyPr>
          <a:lstStyle/>
          <a:p>
            <a:pPr algn="l">
              <a:spcBef>
                <a:spcPts val="0"/>
              </a:spcBef>
              <a:spcAft>
                <a:spcPts val="0"/>
              </a:spcAft>
            </a:pPr>
            <a:r>
              <a:rPr sz="1300" b="1" i="0">
                <a:solidFill>
                  <a:srgbClr val="F89739"/>
                </a:solidFill>
                <a:latin typeface="Calibri"/>
              </a:rPr>
              <a:t>THE CHALLENGE</a:t>
            </a:r>
          </a:p>
        </p:txBody>
      </p:sp>
      <p:sp>
        <p:nvSpPr>
          <p:cNvPr id="4" name="TextBox 3"/>
          <p:cNvSpPr txBox="1"/>
          <p:nvPr/>
        </p:nvSpPr>
        <p:spPr>
          <a:xfrm>
            <a:off x="685800" y="2560320"/>
            <a:ext cx="10789920" cy="1280160"/>
          </a:xfrm>
          <a:prstGeom prst="rect">
            <a:avLst/>
          </a:prstGeom>
          <a:noFill/>
        </p:spPr>
        <p:txBody>
          <a:bodyPr wrap="square" anchor="t" lIns="0" rIns="0" tIns="0" bIns="0">
            <a:spAutoFit/>
          </a:bodyPr>
          <a:lstStyle/>
          <a:p>
            <a:pPr algn="l">
              <a:spcBef>
                <a:spcPts val="0"/>
              </a:spcBef>
              <a:spcAft>
                <a:spcPts val="0"/>
              </a:spcAft>
            </a:pPr>
            <a:r>
              <a:rPr sz="4000" b="1" i="0">
                <a:solidFill>
                  <a:srgbClr val="FFFFFF"/>
                </a:solidFill>
                <a:latin typeface="Calibri"/>
              </a:rPr>
              <a:t>Five tools. Five silos.</a:t>
            </a:r>
          </a:p>
        </p:txBody>
      </p:sp>
      <p:sp>
        <p:nvSpPr>
          <p:cNvPr id="5" name="TextBox 4"/>
          <p:cNvSpPr txBox="1"/>
          <p:nvPr/>
        </p:nvSpPr>
        <p:spPr>
          <a:xfrm>
            <a:off x="685800" y="3840480"/>
            <a:ext cx="10058400" cy="914400"/>
          </a:xfrm>
          <a:prstGeom prst="rect">
            <a:avLst/>
          </a:prstGeom>
          <a:noFill/>
        </p:spPr>
        <p:txBody>
          <a:bodyPr wrap="square" anchor="t" lIns="0" rIns="0" tIns="0" bIns="0">
            <a:spAutoFit/>
          </a:bodyPr>
          <a:lstStyle/>
          <a:p>
            <a:pPr algn="l">
              <a:spcBef>
                <a:spcPts val="0"/>
              </a:spcBef>
              <a:spcAft>
                <a:spcPts val="0"/>
              </a:spcAft>
            </a:pPr>
            <a:r>
              <a:rPr sz="1600" b="0" i="0">
                <a:solidFill>
                  <a:srgbClr val="A9AFB6"/>
                </a:solidFill>
                <a:latin typeface="Calibri"/>
              </a:rPr>
              <a:t>The pieces are all there today — they just don't talk to each other.</a:t>
            </a:r>
          </a:p>
        </p:txBody>
      </p:sp>
      <p:sp>
        <p:nvSpPr>
          <p:cNvPr id="6" name="TextBox 5"/>
          <p:cNvSpPr txBox="1"/>
          <p:nvPr/>
        </p:nvSpPr>
        <p:spPr>
          <a:xfrm>
            <a:off x="9494215" y="548640"/>
            <a:ext cx="2011680" cy="457200"/>
          </a:xfrm>
          <a:prstGeom prst="rect">
            <a:avLst/>
          </a:prstGeom>
          <a:noFill/>
        </p:spPr>
        <p:txBody>
          <a:bodyPr wrap="square" anchor="t" lIns="0" rIns="0" tIns="0" bIns="0">
            <a:spAutoFit/>
          </a:bodyPr>
          <a:lstStyle/>
          <a:p>
            <a:pPr algn="r">
              <a:spcBef>
                <a:spcPts val="0"/>
              </a:spcBef>
              <a:spcAft>
                <a:spcPts val="0"/>
              </a:spcAft>
            </a:pPr>
            <a:r>
              <a:rPr sz="1500" b="1" i="0">
                <a:solidFill>
                  <a:srgbClr val="3A4A54"/>
                </a:solidFill>
                <a:latin typeface="Calibri"/>
              </a:rPr>
              <a:t>01 / 06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4F4"/>
        </a:solidFill>
        <a:effectLst/>
      </p:bgPr>
    </p:bg>
    <p:spTree>
      <p:nvGrpSpPr>
        <p:cNvPr id="1" name=""/>
        <p:cNvGrpSpPr/>
        <p:nvPr/>
      </p:nvGrpSpPr>
      <p:grpSpPr/>
      <p:sp>
        <p:nvSpPr>
          <p:cNvPr id="2" name="Rectangle 1"/>
          <p:cNvSpPr/>
          <p:nvPr/>
        </p:nvSpPr>
        <p:spPr>
          <a:xfrm>
            <a:off x="685800" y="566928"/>
            <a:ext cx="310896" cy="82296"/>
          </a:xfrm>
          <a:prstGeom prst="rect">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457200"/>
            <a:ext cx="10408615" cy="320040"/>
          </a:xfrm>
          <a:prstGeom prst="rect">
            <a:avLst/>
          </a:prstGeom>
          <a:noFill/>
        </p:spPr>
        <p:txBody>
          <a:bodyPr wrap="square" anchor="t" lIns="0" rIns="0" tIns="0" bIns="0">
            <a:spAutoFit/>
          </a:bodyPr>
          <a:lstStyle/>
          <a:p>
            <a:pPr algn="l">
              <a:spcBef>
                <a:spcPts val="0"/>
              </a:spcBef>
              <a:spcAft>
                <a:spcPts val="0"/>
              </a:spcAft>
            </a:pPr>
            <a:r>
              <a:rPr sz="1250" b="1" i="0">
                <a:solidFill>
                  <a:srgbClr val="F89739"/>
                </a:solidFill>
                <a:latin typeface="Calibri"/>
              </a:rPr>
              <a:t>THE SITUATION TODAY</a:t>
            </a:r>
          </a:p>
        </p:txBody>
      </p:sp>
      <p:sp>
        <p:nvSpPr>
          <p:cNvPr id="4" name="TextBox 3"/>
          <p:cNvSpPr txBox="1"/>
          <p:nvPr/>
        </p:nvSpPr>
        <p:spPr>
          <a:xfrm>
            <a:off x="685800" y="841248"/>
            <a:ext cx="10820095" cy="640080"/>
          </a:xfrm>
          <a:prstGeom prst="rect">
            <a:avLst/>
          </a:prstGeom>
          <a:noFill/>
        </p:spPr>
        <p:txBody>
          <a:bodyPr wrap="square" anchor="t" lIns="0" rIns="0" tIns="0" bIns="0">
            <a:spAutoFit/>
          </a:bodyPr>
          <a:lstStyle/>
          <a:p>
            <a:pPr algn="l">
              <a:spcBef>
                <a:spcPts val="0"/>
              </a:spcBef>
              <a:spcAft>
                <a:spcPts val="0"/>
              </a:spcAft>
            </a:pPr>
            <a:r>
              <a:rPr sz="2900" b="1" i="0">
                <a:solidFill>
                  <a:srgbClr val="09131B"/>
                </a:solidFill>
                <a:latin typeface="Calibri"/>
              </a:rPr>
              <a:t>The estate runs on five disconnected tools</a:t>
            </a:r>
          </a:p>
        </p:txBody>
      </p:sp>
      <p:sp>
        <p:nvSpPr>
          <p:cNvPr id="5" name="Rounded Rectangle 4"/>
          <p:cNvSpPr/>
          <p:nvPr/>
        </p:nvSpPr>
        <p:spPr>
          <a:xfrm>
            <a:off x="685800" y="1828800"/>
            <a:ext cx="2084831" cy="173736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0392" y="2029968"/>
            <a:ext cx="1755647" cy="1371600"/>
          </a:xfrm>
          <a:prstGeom prst="rect">
            <a:avLst/>
          </a:prstGeom>
          <a:noFill/>
        </p:spPr>
        <p:txBody>
          <a:bodyPr wrap="square" anchor="t" lIns="0" rIns="0" tIns="0" bIns="0">
            <a:spAutoFit/>
          </a:bodyPr>
          <a:lstStyle/>
          <a:p>
            <a:pPr algn="l">
              <a:spcBef>
                <a:spcPts val="0"/>
              </a:spcBef>
              <a:spcAft>
                <a:spcPts val="300"/>
              </a:spcAft>
            </a:pPr>
            <a:r>
              <a:rPr sz="1050" b="1" i="0">
                <a:solidFill>
                  <a:srgbClr val="F89739"/>
                </a:solidFill>
                <a:latin typeface="Calibri"/>
              </a:rPr>
              <a:t>DPRH</a:t>
            </a:r>
          </a:p>
          <a:p>
            <a:pPr algn="l">
              <a:spcBef>
                <a:spcPts val="0"/>
              </a:spcBef>
              <a:spcAft>
                <a:spcPts val="400"/>
              </a:spcAft>
            </a:pPr>
            <a:r>
              <a:rPr sz="1350" b="1" i="0">
                <a:solidFill>
                  <a:srgbClr val="09131B"/>
                </a:solidFill>
                <a:latin typeface="Calibri"/>
              </a:rPr>
              <a:t>Data Purchase Request Hub</a:t>
            </a:r>
          </a:p>
          <a:p>
            <a:pPr algn="l">
              <a:spcBef>
                <a:spcPts val="0"/>
              </a:spcBef>
              <a:spcAft>
                <a:spcPts val="0"/>
              </a:spcAft>
            </a:pPr>
            <a:r>
              <a:rPr sz="1100" b="0" i="0">
                <a:solidFill>
                  <a:srgbClr val="595959"/>
                </a:solidFill>
                <a:latin typeface="Calibri"/>
              </a:rPr>
              <a:t>Where data buys are raised and approved</a:t>
            </a:r>
          </a:p>
        </p:txBody>
      </p:sp>
      <p:sp>
        <p:nvSpPr>
          <p:cNvPr id="7" name="TextBox 6"/>
          <p:cNvSpPr txBox="1"/>
          <p:nvPr/>
        </p:nvSpPr>
        <p:spPr>
          <a:xfrm>
            <a:off x="2752343" y="2468880"/>
            <a:ext cx="128016" cy="365760"/>
          </a:xfrm>
          <a:prstGeom prst="rect">
            <a:avLst/>
          </a:prstGeom>
          <a:noFill/>
        </p:spPr>
        <p:txBody>
          <a:bodyPr wrap="square" anchor="ctr" lIns="0" rIns="0" tIns="0" bIns="0">
            <a:spAutoFit/>
          </a:bodyPr>
          <a:lstStyle/>
          <a:p>
            <a:pPr algn="ctr">
              <a:spcBef>
                <a:spcPts val="0"/>
              </a:spcBef>
              <a:spcAft>
                <a:spcPts val="0"/>
              </a:spcAft>
            </a:pPr>
            <a:r>
              <a:rPr sz="1800" b="1" i="0">
                <a:solidFill>
                  <a:srgbClr val="A9AFB6"/>
                </a:solidFill>
                <a:latin typeface="Calibri"/>
              </a:rPr>
              <a:t>·</a:t>
            </a:r>
          </a:p>
        </p:txBody>
      </p:sp>
      <p:sp>
        <p:nvSpPr>
          <p:cNvPr id="8" name="Rounded Rectangle 7"/>
          <p:cNvSpPr/>
          <p:nvPr/>
        </p:nvSpPr>
        <p:spPr>
          <a:xfrm>
            <a:off x="2862071" y="1828800"/>
            <a:ext cx="2084831" cy="173736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26663" y="2029968"/>
            <a:ext cx="1755647" cy="1371600"/>
          </a:xfrm>
          <a:prstGeom prst="rect">
            <a:avLst/>
          </a:prstGeom>
          <a:noFill/>
        </p:spPr>
        <p:txBody>
          <a:bodyPr wrap="square" anchor="t" lIns="0" rIns="0" tIns="0" bIns="0">
            <a:spAutoFit/>
          </a:bodyPr>
          <a:lstStyle/>
          <a:p>
            <a:pPr algn="l">
              <a:spcBef>
                <a:spcPts val="0"/>
              </a:spcBef>
              <a:spcAft>
                <a:spcPts val="300"/>
              </a:spcAft>
            </a:pPr>
            <a:r>
              <a:rPr sz="1050" b="1" i="0">
                <a:solidFill>
                  <a:srgbClr val="F89739"/>
                </a:solidFill>
                <a:latin typeface="Calibri"/>
              </a:rPr>
              <a:t>CATALOGUE</a:t>
            </a:r>
          </a:p>
          <a:p>
            <a:pPr algn="l">
              <a:spcBef>
                <a:spcPts val="0"/>
              </a:spcBef>
              <a:spcAft>
                <a:spcPts val="400"/>
              </a:spcAft>
            </a:pPr>
            <a:r>
              <a:rPr sz="1350" b="1" i="0">
                <a:solidFill>
                  <a:srgbClr val="09131B"/>
                </a:solidFill>
                <a:latin typeface="Calibri"/>
              </a:rPr>
              <a:t>Data Catalogue</a:t>
            </a:r>
          </a:p>
          <a:p>
            <a:pPr algn="l">
              <a:spcBef>
                <a:spcPts val="0"/>
              </a:spcBef>
              <a:spcAft>
                <a:spcPts val="0"/>
              </a:spcAft>
            </a:pPr>
            <a:r>
              <a:rPr sz="1100" b="0" i="0">
                <a:solidFill>
                  <a:srgbClr val="595959"/>
                </a:solidFill>
                <a:latin typeface="Calibri"/>
              </a:rPr>
              <a:t>The record of everything purchased</a:t>
            </a:r>
          </a:p>
        </p:txBody>
      </p:sp>
      <p:sp>
        <p:nvSpPr>
          <p:cNvPr id="10" name="TextBox 9"/>
          <p:cNvSpPr txBox="1"/>
          <p:nvPr/>
        </p:nvSpPr>
        <p:spPr>
          <a:xfrm>
            <a:off x="4928614" y="2468880"/>
            <a:ext cx="128016" cy="365760"/>
          </a:xfrm>
          <a:prstGeom prst="rect">
            <a:avLst/>
          </a:prstGeom>
          <a:noFill/>
        </p:spPr>
        <p:txBody>
          <a:bodyPr wrap="square" anchor="ctr" lIns="0" rIns="0" tIns="0" bIns="0">
            <a:spAutoFit/>
          </a:bodyPr>
          <a:lstStyle/>
          <a:p>
            <a:pPr algn="ctr">
              <a:spcBef>
                <a:spcPts val="0"/>
              </a:spcBef>
              <a:spcAft>
                <a:spcPts val="0"/>
              </a:spcAft>
            </a:pPr>
            <a:r>
              <a:rPr sz="1800" b="1" i="0">
                <a:solidFill>
                  <a:srgbClr val="A9AFB6"/>
                </a:solidFill>
                <a:latin typeface="Calibri"/>
              </a:rPr>
              <a:t>·</a:t>
            </a:r>
          </a:p>
        </p:txBody>
      </p:sp>
      <p:sp>
        <p:nvSpPr>
          <p:cNvPr id="11" name="Rounded Rectangle 10"/>
          <p:cNvSpPr/>
          <p:nvPr/>
        </p:nvSpPr>
        <p:spPr>
          <a:xfrm>
            <a:off x="5038342" y="1828800"/>
            <a:ext cx="2084831" cy="173736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4" y="2029968"/>
            <a:ext cx="1755647" cy="1371600"/>
          </a:xfrm>
          <a:prstGeom prst="rect">
            <a:avLst/>
          </a:prstGeom>
          <a:noFill/>
        </p:spPr>
        <p:txBody>
          <a:bodyPr wrap="square" anchor="t" lIns="0" rIns="0" tIns="0" bIns="0">
            <a:spAutoFit/>
          </a:bodyPr>
          <a:lstStyle/>
          <a:p>
            <a:pPr algn="l">
              <a:spcBef>
                <a:spcPts val="0"/>
              </a:spcBef>
              <a:spcAft>
                <a:spcPts val="300"/>
              </a:spcAft>
            </a:pPr>
            <a:r>
              <a:rPr sz="1050" b="1" i="0">
                <a:solidFill>
                  <a:srgbClr val="F89739"/>
                </a:solidFill>
                <a:latin typeface="Calibri"/>
              </a:rPr>
              <a:t>KPI</a:t>
            </a:r>
          </a:p>
          <a:p>
            <a:pPr algn="l">
              <a:spcBef>
                <a:spcPts val="0"/>
              </a:spcBef>
              <a:spcAft>
                <a:spcPts val="400"/>
              </a:spcAft>
            </a:pPr>
            <a:r>
              <a:rPr sz="1350" b="1" i="0">
                <a:solidFill>
                  <a:srgbClr val="09131B"/>
                </a:solidFill>
                <a:latin typeface="Calibri"/>
              </a:rPr>
              <a:t>KPI Catalogue</a:t>
            </a:r>
          </a:p>
          <a:p>
            <a:pPr algn="l">
              <a:spcBef>
                <a:spcPts val="0"/>
              </a:spcBef>
              <a:spcAft>
                <a:spcPts val="0"/>
              </a:spcAft>
            </a:pPr>
            <a:r>
              <a:rPr sz="1100" b="0" i="0">
                <a:solidFill>
                  <a:srgbClr val="595959"/>
                </a:solidFill>
                <a:latin typeface="Calibri"/>
              </a:rPr>
              <a:t>The metrics built on that data</a:t>
            </a:r>
          </a:p>
        </p:txBody>
      </p:sp>
      <p:sp>
        <p:nvSpPr>
          <p:cNvPr id="13" name="TextBox 12"/>
          <p:cNvSpPr txBox="1"/>
          <p:nvPr/>
        </p:nvSpPr>
        <p:spPr>
          <a:xfrm>
            <a:off x="7104885" y="2468880"/>
            <a:ext cx="128016" cy="365760"/>
          </a:xfrm>
          <a:prstGeom prst="rect">
            <a:avLst/>
          </a:prstGeom>
          <a:noFill/>
        </p:spPr>
        <p:txBody>
          <a:bodyPr wrap="square" anchor="ctr" lIns="0" rIns="0" tIns="0" bIns="0">
            <a:spAutoFit/>
          </a:bodyPr>
          <a:lstStyle/>
          <a:p>
            <a:pPr algn="ctr">
              <a:spcBef>
                <a:spcPts val="0"/>
              </a:spcBef>
              <a:spcAft>
                <a:spcPts val="0"/>
              </a:spcAft>
            </a:pPr>
            <a:r>
              <a:rPr sz="1800" b="1" i="0">
                <a:solidFill>
                  <a:srgbClr val="A9AFB6"/>
                </a:solidFill>
                <a:latin typeface="Calibri"/>
              </a:rPr>
              <a:t>·</a:t>
            </a:r>
          </a:p>
        </p:txBody>
      </p:sp>
      <p:sp>
        <p:nvSpPr>
          <p:cNvPr id="14" name="Rounded Rectangle 13"/>
          <p:cNvSpPr/>
          <p:nvPr/>
        </p:nvSpPr>
        <p:spPr>
          <a:xfrm>
            <a:off x="7214613" y="1828800"/>
            <a:ext cx="2084831" cy="173736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79205" y="2029968"/>
            <a:ext cx="1755647" cy="1371600"/>
          </a:xfrm>
          <a:prstGeom prst="rect">
            <a:avLst/>
          </a:prstGeom>
          <a:noFill/>
        </p:spPr>
        <p:txBody>
          <a:bodyPr wrap="square" anchor="t" lIns="0" rIns="0" tIns="0" bIns="0">
            <a:spAutoFit/>
          </a:bodyPr>
          <a:lstStyle/>
          <a:p>
            <a:pPr algn="l">
              <a:spcBef>
                <a:spcPts val="0"/>
              </a:spcBef>
              <a:spcAft>
                <a:spcPts val="300"/>
              </a:spcAft>
            </a:pPr>
            <a:r>
              <a:rPr sz="1050" b="1" i="0">
                <a:solidFill>
                  <a:srgbClr val="F89739"/>
                </a:solidFill>
                <a:latin typeface="Calibri"/>
              </a:rPr>
              <a:t>VENDOR</a:t>
            </a:r>
          </a:p>
          <a:p>
            <a:pPr algn="l">
              <a:spcBef>
                <a:spcPts val="0"/>
              </a:spcBef>
              <a:spcAft>
                <a:spcPts val="400"/>
              </a:spcAft>
            </a:pPr>
            <a:r>
              <a:rPr sz="1350" b="1" i="0">
                <a:solidFill>
                  <a:srgbClr val="09131B"/>
                </a:solidFill>
                <a:latin typeface="Calibri"/>
              </a:rPr>
              <a:t>Vendor Hub</a:t>
            </a:r>
          </a:p>
          <a:p>
            <a:pPr algn="l">
              <a:spcBef>
                <a:spcPts val="0"/>
              </a:spcBef>
              <a:spcAft>
                <a:spcPts val="0"/>
              </a:spcAft>
            </a:pPr>
            <a:r>
              <a:rPr sz="1100" b="0" i="0">
                <a:solidFill>
                  <a:srgbClr val="595959"/>
                </a:solidFill>
                <a:latin typeface="Calibri"/>
              </a:rPr>
              <a:t>Who supplies what</a:t>
            </a:r>
          </a:p>
        </p:txBody>
      </p:sp>
      <p:sp>
        <p:nvSpPr>
          <p:cNvPr id="16" name="TextBox 15"/>
          <p:cNvSpPr txBox="1"/>
          <p:nvPr/>
        </p:nvSpPr>
        <p:spPr>
          <a:xfrm>
            <a:off x="9281156" y="2468880"/>
            <a:ext cx="128016" cy="365760"/>
          </a:xfrm>
          <a:prstGeom prst="rect">
            <a:avLst/>
          </a:prstGeom>
          <a:noFill/>
        </p:spPr>
        <p:txBody>
          <a:bodyPr wrap="square" anchor="ctr" lIns="0" rIns="0" tIns="0" bIns="0">
            <a:spAutoFit/>
          </a:bodyPr>
          <a:lstStyle/>
          <a:p>
            <a:pPr algn="ctr">
              <a:spcBef>
                <a:spcPts val="0"/>
              </a:spcBef>
              <a:spcAft>
                <a:spcPts val="0"/>
              </a:spcAft>
            </a:pPr>
            <a:r>
              <a:rPr sz="1800" b="1" i="0">
                <a:solidFill>
                  <a:srgbClr val="A9AFB6"/>
                </a:solidFill>
                <a:latin typeface="Calibri"/>
              </a:rPr>
              <a:t>·</a:t>
            </a:r>
          </a:p>
        </p:txBody>
      </p:sp>
      <p:sp>
        <p:nvSpPr>
          <p:cNvPr id="17" name="Rounded Rectangle 16"/>
          <p:cNvSpPr/>
          <p:nvPr/>
        </p:nvSpPr>
        <p:spPr>
          <a:xfrm>
            <a:off x="9390884" y="1828800"/>
            <a:ext cx="2084831" cy="173736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55476" y="2029968"/>
            <a:ext cx="1755647" cy="1371600"/>
          </a:xfrm>
          <a:prstGeom prst="rect">
            <a:avLst/>
          </a:prstGeom>
          <a:noFill/>
        </p:spPr>
        <p:txBody>
          <a:bodyPr wrap="square" anchor="t" lIns="0" rIns="0" tIns="0" bIns="0">
            <a:spAutoFit/>
          </a:bodyPr>
          <a:lstStyle/>
          <a:p>
            <a:pPr algn="l">
              <a:spcBef>
                <a:spcPts val="0"/>
              </a:spcBef>
              <a:spcAft>
                <a:spcPts val="300"/>
              </a:spcAft>
            </a:pPr>
            <a:r>
              <a:rPr sz="1050" b="1" i="0">
                <a:solidFill>
                  <a:srgbClr val="F89739"/>
                </a:solidFill>
                <a:latin typeface="Calibri"/>
              </a:rPr>
              <a:t>TPA</a:t>
            </a:r>
          </a:p>
          <a:p>
            <a:pPr algn="l">
              <a:spcBef>
                <a:spcPts val="0"/>
              </a:spcBef>
              <a:spcAft>
                <a:spcPts val="400"/>
              </a:spcAft>
            </a:pPr>
            <a:r>
              <a:rPr sz="1350" b="1" i="0">
                <a:solidFill>
                  <a:srgbClr val="09131B"/>
                </a:solidFill>
                <a:latin typeface="Calibri"/>
              </a:rPr>
              <a:t>TPA Hub</a:t>
            </a:r>
          </a:p>
          <a:p>
            <a:pPr algn="l">
              <a:spcBef>
                <a:spcPts val="0"/>
              </a:spcBef>
              <a:spcAft>
                <a:spcPts val="0"/>
              </a:spcAft>
            </a:pPr>
            <a:r>
              <a:rPr sz="1100" b="0" i="0">
                <a:solidFill>
                  <a:srgbClr val="595959"/>
                </a:solidFill>
                <a:latin typeface="Calibri"/>
              </a:rPr>
              <a:t>The agreements that govern sharing</a:t>
            </a:r>
          </a:p>
        </p:txBody>
      </p:sp>
      <p:sp>
        <p:nvSpPr>
          <p:cNvPr id="19" name="TextBox 18"/>
          <p:cNvSpPr txBox="1"/>
          <p:nvPr/>
        </p:nvSpPr>
        <p:spPr>
          <a:xfrm>
            <a:off x="685800" y="3931920"/>
            <a:ext cx="10820095" cy="2103120"/>
          </a:xfrm>
          <a:prstGeom prst="rect">
            <a:avLst/>
          </a:prstGeom>
          <a:noFill/>
        </p:spPr>
        <p:txBody>
          <a:bodyPr wrap="square" anchor="t" lIns="0" rIns="0" tIns="0" bIns="0">
            <a:spAutoFit/>
          </a:bodyPr>
          <a:lstStyle/>
          <a:p>
            <a:pPr algn="l">
              <a:spcBef>
                <a:spcPts val="0"/>
              </a:spcBef>
              <a:spcAft>
                <a:spcPts val="700"/>
              </a:spcAft>
            </a:pPr>
            <a:r>
              <a:rPr sz="1700" b="1" i="0">
                <a:solidFill>
                  <a:srgbClr val="09131B"/>
                </a:solidFill>
                <a:latin typeface="Calibri"/>
              </a:rPr>
              <a:t>The problem isn't the tools — it's the gaps between them</a:t>
            </a:r>
            <a:r>
              <a:rPr sz="1350" b="1">
                <a:solidFill>
                  <a:srgbClr val="F89739"/>
                </a:solidFill>
                <a:latin typeface="Calibri"/>
              </a:rPr>
              <a:t>—  </a:t>
            </a:r>
            <a:r>
              <a:rPr sz="1350" b="1">
                <a:solidFill>
                  <a:srgbClr val="09131B"/>
                </a:solidFill>
                <a:latin typeface="Calibri"/>
              </a:rPr>
              <a:t>No single line of sight.</a:t>
            </a:r>
            <a:r>
              <a:rPr sz="1350">
                <a:solidFill>
                  <a:srgbClr val="595959"/>
                </a:solidFill>
                <a:latin typeface="Calibri"/>
              </a:rPr>
              <a:t> To answer 'do we already buy this?' someone manually checks the catalogue — if they remember to.</a:t>
            </a:r>
          </a:p>
          <a:p>
            <a:pPr algn="l">
              <a:spcBef>
                <a:spcPts val="0"/>
              </a:spcBef>
              <a:spcAft>
                <a:spcPts val="700"/>
              </a:spcAft>
            </a:pPr>
            <a:r>
              <a:rPr sz="1350" b="1">
                <a:solidFill>
                  <a:srgbClr val="F89739"/>
                </a:solidFill>
                <a:latin typeface="Calibri"/>
              </a:rPr>
              <a:t>—  </a:t>
            </a:r>
            <a:r>
              <a:rPr sz="1350" b="1">
                <a:solidFill>
                  <a:srgbClr val="09131B"/>
                </a:solidFill>
                <a:latin typeface="Calibri"/>
              </a:rPr>
              <a:t>Manual, reactive renewals.</a:t>
            </a:r>
            <a:r>
              <a:rPr sz="1350">
                <a:solidFill>
                  <a:srgbClr val="595959"/>
                </a:solidFill>
                <a:latin typeface="Calibri"/>
              </a:rPr>
              <a:t> Expiry tracking lives in spreadsheets and inboxes; agreements lapse or get renewed in a rush, losing leverage.</a:t>
            </a:r>
          </a:p>
          <a:p>
            <a:pPr algn="l">
              <a:spcBef>
                <a:spcPts val="0"/>
              </a:spcBef>
              <a:spcAft>
                <a:spcPts val="700"/>
              </a:spcAft>
            </a:pPr>
            <a:r>
              <a:rPr sz="1350" b="1">
                <a:solidFill>
                  <a:srgbClr val="F89739"/>
                </a:solidFill>
                <a:latin typeface="Calibri"/>
              </a:rPr>
              <a:t>—  </a:t>
            </a:r>
            <a:r>
              <a:rPr sz="1350" b="1">
                <a:solidFill>
                  <a:srgbClr val="09131B"/>
                </a:solidFill>
                <a:latin typeface="Calibri"/>
              </a:rPr>
              <a:t>Value is invisible.</a:t>
            </a:r>
            <a:r>
              <a:rPr sz="1350">
                <a:solidFill>
                  <a:srgbClr val="595959"/>
                </a:solidFill>
                <a:latin typeface="Calibri"/>
              </a:rPr>
              <a:t> Spend, quality and dependency sit in separate lists, so no one sees vendor concentration or what a metric actually rests on.</a:t>
            </a:r>
          </a:p>
          <a:p>
            <a:pPr algn="l">
              <a:spcBef>
                <a:spcPts val="0"/>
              </a:spcBef>
              <a:spcAft>
                <a:spcPts val="700"/>
              </a:spcAft>
            </a:pPr>
            <a:r>
              <a:rPr sz="1350" b="1">
                <a:solidFill>
                  <a:srgbClr val="F89739"/>
                </a:solidFill>
                <a:latin typeface="Calibri"/>
              </a:rPr>
              <a:t>—  </a:t>
            </a:r>
            <a:r>
              <a:rPr sz="1350" b="1">
                <a:solidFill>
                  <a:srgbClr val="09131B"/>
                </a:solidFill>
                <a:latin typeface="Calibri"/>
              </a:rPr>
              <a:t>Governance is effort, not default.</a:t>
            </a:r>
            <a:r>
              <a:rPr sz="1350">
                <a:solidFill>
                  <a:srgbClr val="595959"/>
                </a:solidFill>
                <a:latin typeface="Calibri"/>
              </a:rPr>
              <a:t> PII/PHI classification and lineage are done by hand, late, and inconsistently.</a:t>
            </a:r>
          </a:p>
        </p:txBody>
      </p:sp>
      <p:sp>
        <p:nvSpPr>
          <p:cNvPr id="20" name="Rectangle 19"/>
          <p:cNvSpPr/>
          <p:nvPr/>
        </p:nvSpPr>
        <p:spPr>
          <a:xfrm>
            <a:off x="685800" y="6419088"/>
            <a:ext cx="10820095" cy="952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6473952"/>
            <a:ext cx="7315200" cy="274320"/>
          </a:xfrm>
          <a:prstGeom prst="rect">
            <a:avLst/>
          </a:prstGeom>
          <a:noFill/>
        </p:spPr>
        <p:txBody>
          <a:bodyPr wrap="square" anchor="t" lIns="0" rIns="0" tIns="0" bIns="0">
            <a:spAutoFit/>
          </a:bodyPr>
          <a:lstStyle/>
          <a:p>
            <a:pPr algn="l">
              <a:spcBef>
                <a:spcPts val="0"/>
              </a:spcBef>
              <a:spcAft>
                <a:spcPts val="0"/>
              </a:spcAft>
            </a:pPr>
            <a:r>
              <a:rPr sz="900" b="0" i="0">
                <a:solidFill>
                  <a:srgbClr val="A9AFB6"/>
                </a:solidFill>
                <a:latin typeface="Calibri"/>
              </a:rPr>
              <a:t>Cortex Atlas  ·  Illustrative prototype, synthetic data  ·  Confidential</a:t>
            </a:r>
          </a:p>
        </p:txBody>
      </p:sp>
      <p:sp>
        <p:nvSpPr>
          <p:cNvPr id="22" name="TextBox 21"/>
          <p:cNvSpPr txBox="1"/>
          <p:nvPr/>
        </p:nvSpPr>
        <p:spPr>
          <a:xfrm>
            <a:off x="10591495" y="6473952"/>
            <a:ext cx="914400" cy="274320"/>
          </a:xfrm>
          <a:prstGeom prst="rect">
            <a:avLst/>
          </a:prstGeom>
          <a:noFill/>
        </p:spPr>
        <p:txBody>
          <a:bodyPr wrap="square" anchor="t" lIns="0" rIns="0" tIns="0" bIns="0">
            <a:spAutoFit/>
          </a:bodyPr>
          <a:lstStyle/>
          <a:p>
            <a:pPr algn="r">
              <a:spcBef>
                <a:spcPts val="0"/>
              </a:spcBef>
              <a:spcAft>
                <a:spcPts val="0"/>
              </a:spcAft>
            </a:pPr>
            <a:r>
              <a:rPr sz="900" b="0" i="0">
                <a:solidFill>
                  <a:srgbClr val="A9AFB6"/>
                </a:solidFill>
                <a:latin typeface="Calibri"/>
              </a:rPr>
              <a:t>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4F4"/>
        </a:solidFill>
        <a:effectLst/>
      </p:bgPr>
    </p:bg>
    <p:spTree>
      <p:nvGrpSpPr>
        <p:cNvPr id="1" name=""/>
        <p:cNvGrpSpPr/>
        <p:nvPr/>
      </p:nvGrpSpPr>
      <p:grpSpPr/>
      <p:sp>
        <p:nvSpPr>
          <p:cNvPr id="2" name="Rectangle 1"/>
          <p:cNvSpPr/>
          <p:nvPr/>
        </p:nvSpPr>
        <p:spPr>
          <a:xfrm>
            <a:off x="685800" y="566928"/>
            <a:ext cx="310896" cy="82296"/>
          </a:xfrm>
          <a:prstGeom prst="rect">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457200"/>
            <a:ext cx="10408615" cy="320040"/>
          </a:xfrm>
          <a:prstGeom prst="rect">
            <a:avLst/>
          </a:prstGeom>
          <a:noFill/>
        </p:spPr>
        <p:txBody>
          <a:bodyPr wrap="square" anchor="t" lIns="0" rIns="0" tIns="0" bIns="0">
            <a:spAutoFit/>
          </a:bodyPr>
          <a:lstStyle/>
          <a:p>
            <a:pPr algn="l">
              <a:spcBef>
                <a:spcPts val="0"/>
              </a:spcBef>
              <a:spcAft>
                <a:spcPts val="0"/>
              </a:spcAft>
            </a:pPr>
            <a:r>
              <a:rPr sz="1250" b="1" i="0">
                <a:solidFill>
                  <a:srgbClr val="F89739"/>
                </a:solidFill>
                <a:latin typeface="Calibri"/>
              </a:rPr>
              <a:t>WHY IT MATTERS</a:t>
            </a:r>
          </a:p>
        </p:txBody>
      </p:sp>
      <p:sp>
        <p:nvSpPr>
          <p:cNvPr id="4" name="TextBox 3"/>
          <p:cNvSpPr txBox="1"/>
          <p:nvPr/>
        </p:nvSpPr>
        <p:spPr>
          <a:xfrm>
            <a:off x="685800" y="841248"/>
            <a:ext cx="10820095" cy="640080"/>
          </a:xfrm>
          <a:prstGeom prst="rect">
            <a:avLst/>
          </a:prstGeom>
          <a:noFill/>
        </p:spPr>
        <p:txBody>
          <a:bodyPr wrap="square" anchor="t" lIns="0" rIns="0" tIns="0" bIns="0">
            <a:spAutoFit/>
          </a:bodyPr>
          <a:lstStyle/>
          <a:p>
            <a:pPr algn="l">
              <a:spcBef>
                <a:spcPts val="0"/>
              </a:spcBef>
              <a:spcAft>
                <a:spcPts val="0"/>
              </a:spcAft>
            </a:pPr>
            <a:r>
              <a:rPr sz="2900" b="1" i="0">
                <a:solidFill>
                  <a:srgbClr val="09131B"/>
                </a:solidFill>
                <a:latin typeface="Calibri"/>
              </a:rPr>
              <a:t>What the disconnect costs — four ways money and risk leak</a:t>
            </a:r>
          </a:p>
        </p:txBody>
      </p:sp>
      <p:sp>
        <p:nvSpPr>
          <p:cNvPr id="5" name="Rounded Rectangle 4"/>
          <p:cNvSpPr/>
          <p:nvPr/>
        </p:nvSpPr>
        <p:spPr>
          <a:xfrm>
            <a:off x="685800" y="1920240"/>
            <a:ext cx="2606040" cy="292608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 y="1920240"/>
            <a:ext cx="2606040" cy="109728"/>
          </a:xfrm>
          <a:prstGeom prst="roundRect">
            <a:avLst>
              <a:gd name="adj" fmla="val 50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286000"/>
            <a:ext cx="2240280" cy="2468880"/>
          </a:xfrm>
          <a:prstGeom prst="rect">
            <a:avLst/>
          </a:prstGeom>
          <a:noFill/>
        </p:spPr>
        <p:txBody>
          <a:bodyPr wrap="square" anchor="t" lIns="0" rIns="0" tIns="0" bIns="0">
            <a:spAutoFit/>
          </a:bodyPr>
          <a:lstStyle/>
          <a:p>
            <a:pPr algn="l">
              <a:spcBef>
                <a:spcPts val="0"/>
              </a:spcBef>
              <a:spcAft>
                <a:spcPts val="800"/>
              </a:spcAft>
            </a:pPr>
            <a:r>
              <a:rPr sz="1550" b="1" i="0">
                <a:solidFill>
                  <a:srgbClr val="09131B"/>
                </a:solidFill>
                <a:latin typeface="Calibri"/>
              </a:rPr>
              <a:t>Duplicate buys</a:t>
            </a:r>
          </a:p>
          <a:p>
            <a:pPr algn="l">
              <a:spcBef>
                <a:spcPts val="0"/>
              </a:spcBef>
              <a:spcAft>
                <a:spcPts val="0"/>
              </a:spcAft>
            </a:pPr>
            <a:r>
              <a:rPr sz="1200" b="0" i="0">
                <a:solidFill>
                  <a:srgbClr val="595959"/>
                </a:solidFill>
                <a:latin typeface="Calibri"/>
              </a:rPr>
              <a:t>Teams re-purchase data the organisation already owns because there's no check at the point of request.</a:t>
            </a:r>
          </a:p>
        </p:txBody>
      </p:sp>
      <p:sp>
        <p:nvSpPr>
          <p:cNvPr id="8" name="TextBox 7"/>
          <p:cNvSpPr txBox="1"/>
          <p:nvPr/>
        </p:nvSpPr>
        <p:spPr>
          <a:xfrm>
            <a:off x="868680" y="4434840"/>
            <a:ext cx="2240280" cy="320040"/>
          </a:xfrm>
          <a:prstGeom prst="rect">
            <a:avLst/>
          </a:prstGeom>
          <a:noFill/>
        </p:spPr>
        <p:txBody>
          <a:bodyPr wrap="square" anchor="t" lIns="0" rIns="0" tIns="0" bIns="0">
            <a:spAutoFit/>
          </a:bodyPr>
          <a:lstStyle/>
          <a:p>
            <a:pPr algn="l">
              <a:spcBef>
                <a:spcPts val="0"/>
              </a:spcBef>
              <a:spcAft>
                <a:spcPts val="0"/>
              </a:spcAft>
            </a:pPr>
            <a:r>
              <a:rPr sz="1000" b="1" i="0">
                <a:solidFill>
                  <a:srgbClr val="9A5C12"/>
                </a:solidFill>
                <a:latin typeface="Calibri"/>
              </a:rPr>
              <a:t>AVOIDABLE SPEND</a:t>
            </a:r>
          </a:p>
        </p:txBody>
      </p:sp>
      <p:sp>
        <p:nvSpPr>
          <p:cNvPr id="9" name="Rounded Rectangle 8"/>
          <p:cNvSpPr/>
          <p:nvPr/>
        </p:nvSpPr>
        <p:spPr>
          <a:xfrm>
            <a:off x="3367735" y="1920240"/>
            <a:ext cx="2606040" cy="292608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367735" y="1920240"/>
            <a:ext cx="2606040" cy="109728"/>
          </a:xfrm>
          <a:prstGeom prst="roundRect">
            <a:avLst>
              <a:gd name="adj" fmla="val 50000"/>
            </a:avLst>
          </a:prstGeom>
          <a:solidFill>
            <a:srgbClr val="E845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50615" y="2286000"/>
            <a:ext cx="2240280" cy="2468880"/>
          </a:xfrm>
          <a:prstGeom prst="rect">
            <a:avLst/>
          </a:prstGeom>
          <a:noFill/>
        </p:spPr>
        <p:txBody>
          <a:bodyPr wrap="square" anchor="t" lIns="0" rIns="0" tIns="0" bIns="0">
            <a:spAutoFit/>
          </a:bodyPr>
          <a:lstStyle/>
          <a:p>
            <a:pPr algn="l">
              <a:spcBef>
                <a:spcPts val="0"/>
              </a:spcBef>
              <a:spcAft>
                <a:spcPts val="800"/>
              </a:spcAft>
            </a:pPr>
            <a:r>
              <a:rPr sz="1550" b="1" i="0">
                <a:solidFill>
                  <a:srgbClr val="09131B"/>
                </a:solidFill>
                <a:latin typeface="Calibri"/>
              </a:rPr>
              <a:t>Lapsed / rushed renewals</a:t>
            </a:r>
          </a:p>
          <a:p>
            <a:pPr algn="l">
              <a:spcBef>
                <a:spcPts val="0"/>
              </a:spcBef>
              <a:spcAft>
                <a:spcPts val="0"/>
              </a:spcAft>
            </a:pPr>
            <a:r>
              <a:rPr sz="1200" b="0" i="0">
                <a:solidFill>
                  <a:srgbClr val="595959"/>
                </a:solidFill>
                <a:latin typeface="Calibri"/>
              </a:rPr>
              <a:t>Agreements expire without warning, or renew under time pressure with no negotiating room.</a:t>
            </a:r>
          </a:p>
        </p:txBody>
      </p:sp>
      <p:sp>
        <p:nvSpPr>
          <p:cNvPr id="12" name="TextBox 11"/>
          <p:cNvSpPr txBox="1"/>
          <p:nvPr/>
        </p:nvSpPr>
        <p:spPr>
          <a:xfrm>
            <a:off x="3550615" y="4434840"/>
            <a:ext cx="2240280" cy="320040"/>
          </a:xfrm>
          <a:prstGeom prst="rect">
            <a:avLst/>
          </a:prstGeom>
          <a:noFill/>
        </p:spPr>
        <p:txBody>
          <a:bodyPr wrap="square" anchor="t" lIns="0" rIns="0" tIns="0" bIns="0">
            <a:spAutoFit/>
          </a:bodyPr>
          <a:lstStyle/>
          <a:p>
            <a:pPr algn="l">
              <a:spcBef>
                <a:spcPts val="0"/>
              </a:spcBef>
              <a:spcAft>
                <a:spcPts val="0"/>
              </a:spcAft>
            </a:pPr>
            <a:r>
              <a:rPr sz="1000" b="1" i="0">
                <a:solidFill>
                  <a:srgbClr val="E8451C"/>
                </a:solidFill>
                <a:latin typeface="Calibri"/>
              </a:rPr>
              <a:t>LOST LEVERAGE + RISK</a:t>
            </a:r>
          </a:p>
        </p:txBody>
      </p:sp>
      <p:sp>
        <p:nvSpPr>
          <p:cNvPr id="13" name="Rounded Rectangle 12"/>
          <p:cNvSpPr/>
          <p:nvPr/>
        </p:nvSpPr>
        <p:spPr>
          <a:xfrm>
            <a:off x="6049670" y="1920240"/>
            <a:ext cx="2606040" cy="292608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049670" y="1920240"/>
            <a:ext cx="2606040" cy="109728"/>
          </a:xfrm>
          <a:prstGeom prst="roundRect">
            <a:avLst>
              <a:gd name="adj" fmla="val 50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32550" y="2286000"/>
            <a:ext cx="2240280" cy="2468880"/>
          </a:xfrm>
          <a:prstGeom prst="rect">
            <a:avLst/>
          </a:prstGeom>
          <a:noFill/>
        </p:spPr>
        <p:txBody>
          <a:bodyPr wrap="square" anchor="t" lIns="0" rIns="0" tIns="0" bIns="0">
            <a:spAutoFit/>
          </a:bodyPr>
          <a:lstStyle/>
          <a:p>
            <a:pPr algn="l">
              <a:spcBef>
                <a:spcPts val="0"/>
              </a:spcBef>
              <a:spcAft>
                <a:spcPts val="800"/>
              </a:spcAft>
            </a:pPr>
            <a:r>
              <a:rPr sz="1550" b="1" i="0">
                <a:solidFill>
                  <a:srgbClr val="09131B"/>
                </a:solidFill>
                <a:latin typeface="Calibri"/>
              </a:rPr>
              <a:t>Vendor over-dependence</a:t>
            </a:r>
          </a:p>
          <a:p>
            <a:pPr algn="l">
              <a:spcBef>
                <a:spcPts val="0"/>
              </a:spcBef>
              <a:spcAft>
                <a:spcPts val="0"/>
              </a:spcAft>
            </a:pPr>
            <a:r>
              <a:rPr sz="1200" b="0" i="0">
                <a:solidFill>
                  <a:srgbClr val="595959"/>
                </a:solidFill>
                <a:latin typeface="Calibri"/>
              </a:rPr>
              <a:t>Spend quietly concentrates in a few vendors with no substitutes — a single point of failure.</a:t>
            </a:r>
          </a:p>
        </p:txBody>
      </p:sp>
      <p:sp>
        <p:nvSpPr>
          <p:cNvPr id="16" name="TextBox 15"/>
          <p:cNvSpPr txBox="1"/>
          <p:nvPr/>
        </p:nvSpPr>
        <p:spPr>
          <a:xfrm>
            <a:off x="6232550" y="4434840"/>
            <a:ext cx="2240280" cy="320040"/>
          </a:xfrm>
          <a:prstGeom prst="rect">
            <a:avLst/>
          </a:prstGeom>
          <a:noFill/>
        </p:spPr>
        <p:txBody>
          <a:bodyPr wrap="square" anchor="t" lIns="0" rIns="0" tIns="0" bIns="0">
            <a:spAutoFit/>
          </a:bodyPr>
          <a:lstStyle/>
          <a:p>
            <a:pPr algn="l">
              <a:spcBef>
                <a:spcPts val="0"/>
              </a:spcBef>
              <a:spcAft>
                <a:spcPts val="0"/>
              </a:spcAft>
            </a:pPr>
            <a:r>
              <a:rPr sz="1000" b="1" i="0">
                <a:solidFill>
                  <a:srgbClr val="9A5C12"/>
                </a:solidFill>
                <a:latin typeface="Calibri"/>
              </a:rPr>
              <a:t>CONCENTRATION RISK</a:t>
            </a:r>
          </a:p>
        </p:txBody>
      </p:sp>
      <p:sp>
        <p:nvSpPr>
          <p:cNvPr id="17" name="Rounded Rectangle 16"/>
          <p:cNvSpPr/>
          <p:nvPr/>
        </p:nvSpPr>
        <p:spPr>
          <a:xfrm>
            <a:off x="8731605" y="1920240"/>
            <a:ext cx="2606040" cy="292608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731605" y="1920240"/>
            <a:ext cx="2606040" cy="109728"/>
          </a:xfrm>
          <a:prstGeom prst="roundRect">
            <a:avLst>
              <a:gd name="adj" fmla="val 50000"/>
            </a:avLst>
          </a:prstGeom>
          <a:solidFill>
            <a:srgbClr val="E845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14485" y="2286000"/>
            <a:ext cx="2240280" cy="2468880"/>
          </a:xfrm>
          <a:prstGeom prst="rect">
            <a:avLst/>
          </a:prstGeom>
          <a:noFill/>
        </p:spPr>
        <p:txBody>
          <a:bodyPr wrap="square" anchor="t" lIns="0" rIns="0" tIns="0" bIns="0">
            <a:spAutoFit/>
          </a:bodyPr>
          <a:lstStyle/>
          <a:p>
            <a:pPr algn="l">
              <a:spcBef>
                <a:spcPts val="0"/>
              </a:spcBef>
              <a:spcAft>
                <a:spcPts val="800"/>
              </a:spcAft>
            </a:pPr>
            <a:r>
              <a:rPr sz="1550" b="1" i="0">
                <a:solidFill>
                  <a:srgbClr val="09131B"/>
                </a:solidFill>
                <a:latin typeface="Calibri"/>
              </a:rPr>
              <a:t>Audit exposure</a:t>
            </a:r>
          </a:p>
          <a:p>
            <a:pPr algn="l">
              <a:spcBef>
                <a:spcPts val="0"/>
              </a:spcBef>
              <a:spcAft>
                <a:spcPts val="0"/>
              </a:spcAft>
            </a:pPr>
            <a:r>
              <a:rPr sz="1200" b="0" i="0">
                <a:solidFill>
                  <a:srgbClr val="595959"/>
                </a:solidFill>
                <a:latin typeface="Calibri"/>
              </a:rPr>
              <a:t>Sensitive data isn't consistently classified and lineage is unclear when the auditor asks.</a:t>
            </a:r>
          </a:p>
        </p:txBody>
      </p:sp>
      <p:sp>
        <p:nvSpPr>
          <p:cNvPr id="20" name="TextBox 19"/>
          <p:cNvSpPr txBox="1"/>
          <p:nvPr/>
        </p:nvSpPr>
        <p:spPr>
          <a:xfrm>
            <a:off x="8914485" y="4434840"/>
            <a:ext cx="2240280" cy="320040"/>
          </a:xfrm>
          <a:prstGeom prst="rect">
            <a:avLst/>
          </a:prstGeom>
          <a:noFill/>
        </p:spPr>
        <p:txBody>
          <a:bodyPr wrap="square" anchor="t" lIns="0" rIns="0" tIns="0" bIns="0">
            <a:spAutoFit/>
          </a:bodyPr>
          <a:lstStyle/>
          <a:p>
            <a:pPr algn="l">
              <a:spcBef>
                <a:spcPts val="0"/>
              </a:spcBef>
              <a:spcAft>
                <a:spcPts val="0"/>
              </a:spcAft>
            </a:pPr>
            <a:r>
              <a:rPr sz="1000" b="1" i="0">
                <a:solidFill>
                  <a:srgbClr val="E8451C"/>
                </a:solidFill>
                <a:latin typeface="Calibri"/>
              </a:rPr>
              <a:t>COMPLIANCE RISK</a:t>
            </a:r>
          </a:p>
        </p:txBody>
      </p:sp>
      <p:sp>
        <p:nvSpPr>
          <p:cNvPr id="21" name="TextBox 20"/>
          <p:cNvSpPr txBox="1"/>
          <p:nvPr/>
        </p:nvSpPr>
        <p:spPr>
          <a:xfrm>
            <a:off x="685800" y="5120640"/>
            <a:ext cx="10820095" cy="914400"/>
          </a:xfrm>
          <a:prstGeom prst="rect">
            <a:avLst/>
          </a:prstGeom>
          <a:noFill/>
        </p:spPr>
        <p:txBody>
          <a:bodyPr wrap="square" anchor="t" lIns="0" rIns="0" tIns="0" bIns="0">
            <a:spAutoFit/>
          </a:bodyPr>
          <a:lstStyle/>
          <a:p>
            <a:pPr algn="l">
              <a:spcBef>
                <a:spcPts val="0"/>
              </a:spcBef>
              <a:spcAft>
                <a:spcPts val="0"/>
              </a:spcAft>
            </a:pPr>
            <a:r>
              <a:rPr sz="1400" b="1" i="0">
                <a:solidFill>
                  <a:srgbClr val="09131B"/>
                </a:solidFill>
                <a:latin typeface="Calibri"/>
              </a:rPr>
              <a:t>None of this is a people problem. It's a structure problem — and structure is exactly what a connected platform fixes.</a:t>
            </a:r>
          </a:p>
        </p:txBody>
      </p:sp>
      <p:sp>
        <p:nvSpPr>
          <p:cNvPr id="22" name="Rectangle 21"/>
          <p:cNvSpPr/>
          <p:nvPr/>
        </p:nvSpPr>
        <p:spPr>
          <a:xfrm>
            <a:off x="685800" y="6419088"/>
            <a:ext cx="10820095" cy="952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6473952"/>
            <a:ext cx="7315200" cy="274320"/>
          </a:xfrm>
          <a:prstGeom prst="rect">
            <a:avLst/>
          </a:prstGeom>
          <a:noFill/>
        </p:spPr>
        <p:txBody>
          <a:bodyPr wrap="square" anchor="t" lIns="0" rIns="0" tIns="0" bIns="0">
            <a:spAutoFit/>
          </a:bodyPr>
          <a:lstStyle/>
          <a:p>
            <a:pPr algn="l">
              <a:spcBef>
                <a:spcPts val="0"/>
              </a:spcBef>
              <a:spcAft>
                <a:spcPts val="0"/>
              </a:spcAft>
            </a:pPr>
            <a:r>
              <a:rPr sz="900" b="0" i="0">
                <a:solidFill>
                  <a:srgbClr val="A9AFB6"/>
                </a:solidFill>
                <a:latin typeface="Calibri"/>
              </a:rPr>
              <a:t>Cortex Atlas  ·  Illustrative prototype, synthetic data  ·  Confidential</a:t>
            </a:r>
          </a:p>
        </p:txBody>
      </p:sp>
      <p:sp>
        <p:nvSpPr>
          <p:cNvPr id="24" name="TextBox 23"/>
          <p:cNvSpPr txBox="1"/>
          <p:nvPr/>
        </p:nvSpPr>
        <p:spPr>
          <a:xfrm>
            <a:off x="10591495" y="6473952"/>
            <a:ext cx="914400" cy="274320"/>
          </a:xfrm>
          <a:prstGeom prst="rect">
            <a:avLst/>
          </a:prstGeom>
          <a:noFill/>
        </p:spPr>
        <p:txBody>
          <a:bodyPr wrap="square" anchor="t" lIns="0" rIns="0" tIns="0" bIns="0">
            <a:spAutoFit/>
          </a:bodyPr>
          <a:lstStyle/>
          <a:p>
            <a:pPr algn="r">
              <a:spcBef>
                <a:spcPts val="0"/>
              </a:spcBef>
              <a:spcAft>
                <a:spcPts val="0"/>
              </a:spcAft>
            </a:pPr>
            <a:r>
              <a:rPr sz="900" b="0" i="0">
                <a:solidFill>
                  <a:srgbClr val="A9AFB6"/>
                </a:solidFill>
                <a:latin typeface="Calibri"/>
              </a:rPr>
              <a:t>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9131B"/>
        </a:solidFill>
        <a:effectLst/>
      </p:bgPr>
    </p:bg>
    <p:spTree>
      <p:nvGrpSpPr>
        <p:cNvPr id="1" name=""/>
        <p:cNvGrpSpPr/>
        <p:nvPr/>
      </p:nvGrpSpPr>
      <p:grpSpPr/>
      <p:sp>
        <p:nvSpPr>
          <p:cNvPr id="2" name="Rectangle 1"/>
          <p:cNvSpPr/>
          <p:nvPr/>
        </p:nvSpPr>
        <p:spPr>
          <a:xfrm>
            <a:off x="685800" y="2286000"/>
            <a:ext cx="310896" cy="82296"/>
          </a:xfrm>
          <a:prstGeom prst="rect">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176272"/>
            <a:ext cx="9144000" cy="365760"/>
          </a:xfrm>
          <a:prstGeom prst="rect">
            <a:avLst/>
          </a:prstGeom>
          <a:noFill/>
        </p:spPr>
        <p:txBody>
          <a:bodyPr wrap="square" anchor="t" lIns="0" rIns="0" tIns="0" bIns="0">
            <a:spAutoFit/>
          </a:bodyPr>
          <a:lstStyle/>
          <a:p>
            <a:pPr algn="l">
              <a:spcBef>
                <a:spcPts val="0"/>
              </a:spcBef>
              <a:spcAft>
                <a:spcPts val="0"/>
              </a:spcAft>
            </a:pPr>
            <a:r>
              <a:rPr sz="1300" b="1" i="0">
                <a:solidFill>
                  <a:srgbClr val="F89739"/>
                </a:solidFill>
                <a:latin typeface="Calibri"/>
              </a:rPr>
              <a:t>THE SOLUTION</a:t>
            </a:r>
          </a:p>
        </p:txBody>
      </p:sp>
      <p:sp>
        <p:nvSpPr>
          <p:cNvPr id="4" name="TextBox 3"/>
          <p:cNvSpPr txBox="1"/>
          <p:nvPr/>
        </p:nvSpPr>
        <p:spPr>
          <a:xfrm>
            <a:off x="685800" y="2560320"/>
            <a:ext cx="10789920" cy="1280160"/>
          </a:xfrm>
          <a:prstGeom prst="rect">
            <a:avLst/>
          </a:prstGeom>
          <a:noFill/>
        </p:spPr>
        <p:txBody>
          <a:bodyPr wrap="square" anchor="t" lIns="0" rIns="0" tIns="0" bIns="0">
            <a:spAutoFit/>
          </a:bodyPr>
          <a:lstStyle/>
          <a:p>
            <a:pPr algn="l">
              <a:spcBef>
                <a:spcPts val="0"/>
              </a:spcBef>
              <a:spcAft>
                <a:spcPts val="0"/>
              </a:spcAft>
            </a:pPr>
            <a:r>
              <a:rPr sz="4000" b="1" i="0">
                <a:solidFill>
                  <a:srgbClr val="FFFFFF"/>
                </a:solidFill>
                <a:latin typeface="Calibri"/>
              </a:rPr>
              <a:t>One connected estate</a:t>
            </a:r>
          </a:p>
        </p:txBody>
      </p:sp>
      <p:sp>
        <p:nvSpPr>
          <p:cNvPr id="5" name="TextBox 4"/>
          <p:cNvSpPr txBox="1"/>
          <p:nvPr/>
        </p:nvSpPr>
        <p:spPr>
          <a:xfrm>
            <a:off x="685800" y="3840480"/>
            <a:ext cx="10058400" cy="914400"/>
          </a:xfrm>
          <a:prstGeom prst="rect">
            <a:avLst/>
          </a:prstGeom>
          <a:noFill/>
        </p:spPr>
        <p:txBody>
          <a:bodyPr wrap="square" anchor="t" lIns="0" rIns="0" tIns="0" bIns="0">
            <a:spAutoFit/>
          </a:bodyPr>
          <a:lstStyle/>
          <a:p>
            <a:pPr algn="l">
              <a:spcBef>
                <a:spcPts val="0"/>
              </a:spcBef>
              <a:spcAft>
                <a:spcPts val="0"/>
              </a:spcAft>
            </a:pPr>
            <a:r>
              <a:rPr sz="1600" b="0" i="0">
                <a:solidFill>
                  <a:srgbClr val="A9AFB6"/>
                </a:solidFill>
                <a:latin typeface="Calibri"/>
              </a:rPr>
              <a:t>A purchase request becomes a catalogued asset, measured by KPIs, supplied by a vendor, governed by an agreement — and Atlas sees all of it.</a:t>
            </a:r>
          </a:p>
        </p:txBody>
      </p:sp>
      <p:sp>
        <p:nvSpPr>
          <p:cNvPr id="6" name="TextBox 5"/>
          <p:cNvSpPr txBox="1"/>
          <p:nvPr/>
        </p:nvSpPr>
        <p:spPr>
          <a:xfrm>
            <a:off x="9494215" y="548640"/>
            <a:ext cx="2011680" cy="457200"/>
          </a:xfrm>
          <a:prstGeom prst="rect">
            <a:avLst/>
          </a:prstGeom>
          <a:noFill/>
        </p:spPr>
        <p:txBody>
          <a:bodyPr wrap="square" anchor="t" lIns="0" rIns="0" tIns="0" bIns="0">
            <a:spAutoFit/>
          </a:bodyPr>
          <a:lstStyle/>
          <a:p>
            <a:pPr algn="r">
              <a:spcBef>
                <a:spcPts val="0"/>
              </a:spcBef>
              <a:spcAft>
                <a:spcPts val="0"/>
              </a:spcAft>
            </a:pPr>
            <a:r>
              <a:rPr sz="1500" b="1" i="0">
                <a:solidFill>
                  <a:srgbClr val="3A4A54"/>
                </a:solidFill>
                <a:latin typeface="Calibri"/>
              </a:rPr>
              <a:t>02 / 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4F4"/>
        </a:solidFill>
        <a:effectLst/>
      </p:bgPr>
    </p:bg>
    <p:spTree>
      <p:nvGrpSpPr>
        <p:cNvPr id="1" name=""/>
        <p:cNvGrpSpPr/>
        <p:nvPr/>
      </p:nvGrpSpPr>
      <p:grpSpPr/>
      <p:sp>
        <p:nvSpPr>
          <p:cNvPr id="2" name="Rectangle 1"/>
          <p:cNvSpPr/>
          <p:nvPr/>
        </p:nvSpPr>
        <p:spPr>
          <a:xfrm>
            <a:off x="685800" y="566928"/>
            <a:ext cx="310896" cy="82296"/>
          </a:xfrm>
          <a:prstGeom prst="rect">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457200"/>
            <a:ext cx="10408615" cy="320040"/>
          </a:xfrm>
          <a:prstGeom prst="rect">
            <a:avLst/>
          </a:prstGeom>
          <a:noFill/>
        </p:spPr>
        <p:txBody>
          <a:bodyPr wrap="square" anchor="t" lIns="0" rIns="0" tIns="0" bIns="0">
            <a:spAutoFit/>
          </a:bodyPr>
          <a:lstStyle/>
          <a:p>
            <a:pPr algn="l">
              <a:spcBef>
                <a:spcPts val="0"/>
              </a:spcBef>
              <a:spcAft>
                <a:spcPts val="0"/>
              </a:spcAft>
            </a:pPr>
            <a:r>
              <a:rPr sz="1250" b="1" i="0">
                <a:solidFill>
                  <a:srgbClr val="F89739"/>
                </a:solidFill>
                <a:latin typeface="Calibri"/>
              </a:rPr>
              <a:t>THE BIG IDEA</a:t>
            </a:r>
          </a:p>
        </p:txBody>
      </p:sp>
      <p:sp>
        <p:nvSpPr>
          <p:cNvPr id="4" name="TextBox 3"/>
          <p:cNvSpPr txBox="1"/>
          <p:nvPr/>
        </p:nvSpPr>
        <p:spPr>
          <a:xfrm>
            <a:off x="685800" y="841248"/>
            <a:ext cx="10820095" cy="640080"/>
          </a:xfrm>
          <a:prstGeom prst="rect">
            <a:avLst/>
          </a:prstGeom>
          <a:noFill/>
        </p:spPr>
        <p:txBody>
          <a:bodyPr wrap="square" anchor="t" lIns="0" rIns="0" tIns="0" bIns="0">
            <a:spAutoFit/>
          </a:bodyPr>
          <a:lstStyle/>
          <a:p>
            <a:pPr algn="l">
              <a:spcBef>
                <a:spcPts val="0"/>
              </a:spcBef>
              <a:spcAft>
                <a:spcPts val="0"/>
              </a:spcAft>
            </a:pPr>
            <a:r>
              <a:rPr sz="2900" b="1" i="0">
                <a:solidFill>
                  <a:srgbClr val="09131B"/>
                </a:solidFill>
                <a:latin typeface="Calibri"/>
              </a:rPr>
              <a:t>Cortex Atlas: the five tools as one estate</a:t>
            </a:r>
          </a:p>
        </p:txBody>
      </p:sp>
      <p:sp>
        <p:nvSpPr>
          <p:cNvPr id="5" name="Rounded Rectangle 4"/>
          <p:cNvSpPr/>
          <p:nvPr/>
        </p:nvSpPr>
        <p:spPr>
          <a:xfrm>
            <a:off x="685800" y="1965960"/>
            <a:ext cx="1993392" cy="137160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0392" y="2185416"/>
            <a:ext cx="1664208" cy="1005840"/>
          </a:xfrm>
          <a:prstGeom prst="rect">
            <a:avLst/>
          </a:prstGeom>
          <a:noFill/>
        </p:spPr>
        <p:txBody>
          <a:bodyPr wrap="square" anchor="t" lIns="0" rIns="0" tIns="0" bIns="0">
            <a:spAutoFit/>
          </a:bodyPr>
          <a:lstStyle/>
          <a:p>
            <a:pPr algn="l">
              <a:spcBef>
                <a:spcPts val="0"/>
              </a:spcBef>
              <a:spcAft>
                <a:spcPts val="400"/>
              </a:spcAft>
            </a:pPr>
            <a:r>
              <a:rPr sz="1000" b="1" i="0">
                <a:solidFill>
                  <a:srgbClr val="F89739"/>
                </a:solidFill>
                <a:latin typeface="Calibri"/>
              </a:rPr>
              <a:t>DPRH</a:t>
            </a:r>
          </a:p>
          <a:p>
            <a:pPr algn="l">
              <a:spcBef>
                <a:spcPts val="0"/>
              </a:spcBef>
              <a:spcAft>
                <a:spcPts val="0"/>
              </a:spcAft>
            </a:pPr>
            <a:r>
              <a:rPr sz="1450" b="1" i="0">
                <a:solidFill>
                  <a:srgbClr val="09131B"/>
                </a:solidFill>
                <a:latin typeface="Calibri"/>
              </a:rPr>
              <a:t>Data Requests</a:t>
            </a:r>
          </a:p>
        </p:txBody>
      </p:sp>
      <p:sp>
        <p:nvSpPr>
          <p:cNvPr id="7" name="TextBox 6"/>
          <p:cNvSpPr txBox="1"/>
          <p:nvPr/>
        </p:nvSpPr>
        <p:spPr>
          <a:xfrm>
            <a:off x="2679192" y="2423160"/>
            <a:ext cx="146304" cy="457200"/>
          </a:xfrm>
          <a:prstGeom prst="rect">
            <a:avLst/>
          </a:prstGeom>
          <a:noFill/>
        </p:spPr>
        <p:txBody>
          <a:bodyPr wrap="square" anchor="ctr" lIns="0" rIns="0" tIns="0" bIns="0">
            <a:spAutoFit/>
          </a:bodyPr>
          <a:lstStyle/>
          <a:p>
            <a:pPr algn="ctr">
              <a:spcBef>
                <a:spcPts val="0"/>
              </a:spcBef>
              <a:spcAft>
                <a:spcPts val="0"/>
              </a:spcAft>
            </a:pPr>
            <a:r>
              <a:rPr sz="1600" b="1" i="0">
                <a:solidFill>
                  <a:srgbClr val="F89739"/>
                </a:solidFill>
                <a:latin typeface="Calibri"/>
              </a:rPr>
              <a:t>→</a:t>
            </a:r>
          </a:p>
        </p:txBody>
      </p:sp>
      <p:sp>
        <p:nvSpPr>
          <p:cNvPr id="8" name="Rounded Rectangle 7"/>
          <p:cNvSpPr/>
          <p:nvPr/>
        </p:nvSpPr>
        <p:spPr>
          <a:xfrm>
            <a:off x="2825496" y="1965960"/>
            <a:ext cx="1993392" cy="137160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90088" y="2185416"/>
            <a:ext cx="1664208" cy="1005840"/>
          </a:xfrm>
          <a:prstGeom prst="rect">
            <a:avLst/>
          </a:prstGeom>
          <a:noFill/>
        </p:spPr>
        <p:txBody>
          <a:bodyPr wrap="square" anchor="t" lIns="0" rIns="0" tIns="0" bIns="0">
            <a:spAutoFit/>
          </a:bodyPr>
          <a:lstStyle/>
          <a:p>
            <a:pPr algn="l">
              <a:spcBef>
                <a:spcPts val="0"/>
              </a:spcBef>
              <a:spcAft>
                <a:spcPts val="400"/>
              </a:spcAft>
            </a:pPr>
            <a:r>
              <a:rPr sz="1000" b="1" i="0">
                <a:solidFill>
                  <a:srgbClr val="F89739"/>
                </a:solidFill>
                <a:latin typeface="Calibri"/>
              </a:rPr>
              <a:t>ASSET</a:t>
            </a:r>
          </a:p>
          <a:p>
            <a:pPr algn="l">
              <a:spcBef>
                <a:spcPts val="0"/>
              </a:spcBef>
              <a:spcAft>
                <a:spcPts val="0"/>
              </a:spcAft>
            </a:pPr>
            <a:r>
              <a:rPr sz="1450" b="1" i="0">
                <a:solidFill>
                  <a:srgbClr val="09131B"/>
                </a:solidFill>
                <a:latin typeface="Calibri"/>
              </a:rPr>
              <a:t>Data Catalogue</a:t>
            </a:r>
          </a:p>
        </p:txBody>
      </p:sp>
      <p:sp>
        <p:nvSpPr>
          <p:cNvPr id="10" name="TextBox 9"/>
          <p:cNvSpPr txBox="1"/>
          <p:nvPr/>
        </p:nvSpPr>
        <p:spPr>
          <a:xfrm>
            <a:off x="4818888" y="2423160"/>
            <a:ext cx="146304" cy="457200"/>
          </a:xfrm>
          <a:prstGeom prst="rect">
            <a:avLst/>
          </a:prstGeom>
          <a:noFill/>
        </p:spPr>
        <p:txBody>
          <a:bodyPr wrap="square" anchor="ctr" lIns="0" rIns="0" tIns="0" bIns="0">
            <a:spAutoFit/>
          </a:bodyPr>
          <a:lstStyle/>
          <a:p>
            <a:pPr algn="ctr">
              <a:spcBef>
                <a:spcPts val="0"/>
              </a:spcBef>
              <a:spcAft>
                <a:spcPts val="0"/>
              </a:spcAft>
            </a:pPr>
            <a:r>
              <a:rPr sz="1600" b="1" i="0">
                <a:solidFill>
                  <a:srgbClr val="F89739"/>
                </a:solidFill>
                <a:latin typeface="Calibri"/>
              </a:rPr>
              <a:t>→</a:t>
            </a:r>
          </a:p>
        </p:txBody>
      </p:sp>
      <p:sp>
        <p:nvSpPr>
          <p:cNvPr id="11" name="Rounded Rectangle 10"/>
          <p:cNvSpPr/>
          <p:nvPr/>
        </p:nvSpPr>
        <p:spPr>
          <a:xfrm>
            <a:off x="4965192" y="1965960"/>
            <a:ext cx="1993392" cy="137160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29784" y="2185416"/>
            <a:ext cx="1664208" cy="1005840"/>
          </a:xfrm>
          <a:prstGeom prst="rect">
            <a:avLst/>
          </a:prstGeom>
          <a:noFill/>
        </p:spPr>
        <p:txBody>
          <a:bodyPr wrap="square" anchor="t" lIns="0" rIns="0" tIns="0" bIns="0">
            <a:spAutoFit/>
          </a:bodyPr>
          <a:lstStyle/>
          <a:p>
            <a:pPr algn="l">
              <a:spcBef>
                <a:spcPts val="0"/>
              </a:spcBef>
              <a:spcAft>
                <a:spcPts val="400"/>
              </a:spcAft>
            </a:pPr>
            <a:r>
              <a:rPr sz="1000" b="1" i="0">
                <a:solidFill>
                  <a:srgbClr val="F89739"/>
                </a:solidFill>
                <a:latin typeface="Calibri"/>
              </a:rPr>
              <a:t>METRIC</a:t>
            </a:r>
          </a:p>
          <a:p>
            <a:pPr algn="l">
              <a:spcBef>
                <a:spcPts val="0"/>
              </a:spcBef>
              <a:spcAft>
                <a:spcPts val="0"/>
              </a:spcAft>
            </a:pPr>
            <a:r>
              <a:rPr sz="1450" b="1" i="0">
                <a:solidFill>
                  <a:srgbClr val="09131B"/>
                </a:solidFill>
                <a:latin typeface="Calibri"/>
              </a:rPr>
              <a:t>KPI Catalogue</a:t>
            </a:r>
          </a:p>
        </p:txBody>
      </p:sp>
      <p:sp>
        <p:nvSpPr>
          <p:cNvPr id="13" name="TextBox 12"/>
          <p:cNvSpPr txBox="1"/>
          <p:nvPr/>
        </p:nvSpPr>
        <p:spPr>
          <a:xfrm>
            <a:off x="6958584" y="2423160"/>
            <a:ext cx="146304" cy="457200"/>
          </a:xfrm>
          <a:prstGeom prst="rect">
            <a:avLst/>
          </a:prstGeom>
          <a:noFill/>
        </p:spPr>
        <p:txBody>
          <a:bodyPr wrap="square" anchor="ctr" lIns="0" rIns="0" tIns="0" bIns="0">
            <a:spAutoFit/>
          </a:bodyPr>
          <a:lstStyle/>
          <a:p>
            <a:pPr algn="ctr">
              <a:spcBef>
                <a:spcPts val="0"/>
              </a:spcBef>
              <a:spcAft>
                <a:spcPts val="0"/>
              </a:spcAft>
            </a:pPr>
            <a:r>
              <a:rPr sz="1600" b="1" i="0">
                <a:solidFill>
                  <a:srgbClr val="F89739"/>
                </a:solidFill>
                <a:latin typeface="Calibri"/>
              </a:rPr>
              <a:t>→</a:t>
            </a:r>
          </a:p>
        </p:txBody>
      </p:sp>
      <p:sp>
        <p:nvSpPr>
          <p:cNvPr id="14" name="Rounded Rectangle 13"/>
          <p:cNvSpPr/>
          <p:nvPr/>
        </p:nvSpPr>
        <p:spPr>
          <a:xfrm>
            <a:off x="7104888" y="1965960"/>
            <a:ext cx="1993392" cy="137160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69480" y="2185416"/>
            <a:ext cx="1664208" cy="1005840"/>
          </a:xfrm>
          <a:prstGeom prst="rect">
            <a:avLst/>
          </a:prstGeom>
          <a:noFill/>
        </p:spPr>
        <p:txBody>
          <a:bodyPr wrap="square" anchor="t" lIns="0" rIns="0" tIns="0" bIns="0">
            <a:spAutoFit/>
          </a:bodyPr>
          <a:lstStyle/>
          <a:p>
            <a:pPr algn="l">
              <a:spcBef>
                <a:spcPts val="0"/>
              </a:spcBef>
              <a:spcAft>
                <a:spcPts val="400"/>
              </a:spcAft>
            </a:pPr>
            <a:r>
              <a:rPr sz="1000" b="1" i="0">
                <a:solidFill>
                  <a:srgbClr val="F89739"/>
                </a:solidFill>
                <a:latin typeface="Calibri"/>
              </a:rPr>
              <a:t>VENDOR</a:t>
            </a:r>
          </a:p>
          <a:p>
            <a:pPr algn="l">
              <a:spcBef>
                <a:spcPts val="0"/>
              </a:spcBef>
              <a:spcAft>
                <a:spcPts val="0"/>
              </a:spcAft>
            </a:pPr>
            <a:r>
              <a:rPr sz="1450" b="1" i="0">
                <a:solidFill>
                  <a:srgbClr val="09131B"/>
                </a:solidFill>
                <a:latin typeface="Calibri"/>
              </a:rPr>
              <a:t>Vendor Hub</a:t>
            </a:r>
          </a:p>
        </p:txBody>
      </p:sp>
      <p:sp>
        <p:nvSpPr>
          <p:cNvPr id="16" name="TextBox 15"/>
          <p:cNvSpPr txBox="1"/>
          <p:nvPr/>
        </p:nvSpPr>
        <p:spPr>
          <a:xfrm>
            <a:off x="9098280" y="2423160"/>
            <a:ext cx="146304" cy="457200"/>
          </a:xfrm>
          <a:prstGeom prst="rect">
            <a:avLst/>
          </a:prstGeom>
          <a:noFill/>
        </p:spPr>
        <p:txBody>
          <a:bodyPr wrap="square" anchor="ctr" lIns="0" rIns="0" tIns="0" bIns="0">
            <a:spAutoFit/>
          </a:bodyPr>
          <a:lstStyle/>
          <a:p>
            <a:pPr algn="ctr">
              <a:spcBef>
                <a:spcPts val="0"/>
              </a:spcBef>
              <a:spcAft>
                <a:spcPts val="0"/>
              </a:spcAft>
            </a:pPr>
            <a:r>
              <a:rPr sz="1600" b="1" i="0">
                <a:solidFill>
                  <a:srgbClr val="F89739"/>
                </a:solidFill>
                <a:latin typeface="Calibri"/>
              </a:rPr>
              <a:t>→</a:t>
            </a:r>
          </a:p>
        </p:txBody>
      </p:sp>
      <p:sp>
        <p:nvSpPr>
          <p:cNvPr id="17" name="Rounded Rectangle 16"/>
          <p:cNvSpPr/>
          <p:nvPr/>
        </p:nvSpPr>
        <p:spPr>
          <a:xfrm>
            <a:off x="9244584" y="1965960"/>
            <a:ext cx="1993392" cy="137160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09176" y="2185416"/>
            <a:ext cx="1664208" cy="1005840"/>
          </a:xfrm>
          <a:prstGeom prst="rect">
            <a:avLst/>
          </a:prstGeom>
          <a:noFill/>
        </p:spPr>
        <p:txBody>
          <a:bodyPr wrap="square" anchor="t" lIns="0" rIns="0" tIns="0" bIns="0">
            <a:spAutoFit/>
          </a:bodyPr>
          <a:lstStyle/>
          <a:p>
            <a:pPr algn="l">
              <a:spcBef>
                <a:spcPts val="0"/>
              </a:spcBef>
              <a:spcAft>
                <a:spcPts val="400"/>
              </a:spcAft>
            </a:pPr>
            <a:r>
              <a:rPr sz="1000" b="1" i="0">
                <a:solidFill>
                  <a:srgbClr val="F89739"/>
                </a:solidFill>
                <a:latin typeface="Calibri"/>
              </a:rPr>
              <a:t>AGREEMENT</a:t>
            </a:r>
          </a:p>
          <a:p>
            <a:pPr algn="l">
              <a:spcBef>
                <a:spcPts val="0"/>
              </a:spcBef>
              <a:spcAft>
                <a:spcPts val="0"/>
              </a:spcAft>
            </a:pPr>
            <a:r>
              <a:rPr sz="1450" b="1" i="0">
                <a:solidFill>
                  <a:srgbClr val="09131B"/>
                </a:solidFill>
                <a:latin typeface="Calibri"/>
              </a:rPr>
              <a:t>TPA Hub</a:t>
            </a:r>
          </a:p>
        </p:txBody>
      </p:sp>
      <p:sp>
        <p:nvSpPr>
          <p:cNvPr id="19" name="TextBox 18"/>
          <p:cNvSpPr txBox="1"/>
          <p:nvPr/>
        </p:nvSpPr>
        <p:spPr>
          <a:xfrm>
            <a:off x="685800" y="3657600"/>
            <a:ext cx="10820095" cy="457200"/>
          </a:xfrm>
          <a:prstGeom prst="rect">
            <a:avLst/>
          </a:prstGeom>
          <a:noFill/>
        </p:spPr>
        <p:txBody>
          <a:bodyPr wrap="square" anchor="t" lIns="0" rIns="0" tIns="0" bIns="0">
            <a:spAutoFit/>
          </a:bodyPr>
          <a:lstStyle/>
          <a:p>
            <a:pPr algn="l">
              <a:spcBef>
                <a:spcPts val="0"/>
              </a:spcBef>
              <a:spcAft>
                <a:spcPts val="1000"/>
              </a:spcAft>
            </a:pPr>
            <a:r>
              <a:rPr sz="1600" b="1" i="0">
                <a:solidFill>
                  <a:srgbClr val="09131B"/>
                </a:solidFill>
                <a:latin typeface="Calibri"/>
              </a:rPr>
              <a:t>Real links, not labels — every connection is clickable</a:t>
            </a:r>
          </a:p>
        </p:txBody>
      </p:sp>
      <p:sp>
        <p:nvSpPr>
          <p:cNvPr id="20" name="Rounded Rectangle 19"/>
          <p:cNvSpPr/>
          <p:nvPr/>
        </p:nvSpPr>
        <p:spPr>
          <a:xfrm>
            <a:off x="685800" y="4206240"/>
            <a:ext cx="2606040" cy="137160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0392" y="4407408"/>
            <a:ext cx="2276856" cy="1005840"/>
          </a:xfrm>
          <a:prstGeom prst="rect">
            <a:avLst/>
          </a:prstGeom>
          <a:noFill/>
        </p:spPr>
        <p:txBody>
          <a:bodyPr wrap="square" anchor="t" lIns="0" rIns="0" tIns="0" bIns="0">
            <a:spAutoFit/>
          </a:bodyPr>
          <a:lstStyle/>
          <a:p>
            <a:pPr algn="l">
              <a:spcBef>
                <a:spcPts val="0"/>
              </a:spcBef>
              <a:spcAft>
                <a:spcPts val="500"/>
              </a:spcAft>
            </a:pPr>
            <a:r>
              <a:rPr sz="1300" b="1" i="0">
                <a:solidFill>
                  <a:srgbClr val="09131B"/>
                </a:solidFill>
                <a:latin typeface="Calibri"/>
              </a:rPr>
              <a:t>From a request</a:t>
            </a:r>
          </a:p>
          <a:p>
            <a:pPr algn="l">
              <a:spcBef>
                <a:spcPts val="0"/>
              </a:spcBef>
              <a:spcAft>
                <a:spcPts val="0"/>
              </a:spcAft>
            </a:pPr>
            <a:r>
              <a:rPr sz="1150" b="0" i="0">
                <a:solidFill>
                  <a:srgbClr val="595959"/>
                </a:solidFill>
                <a:latin typeface="Calibri"/>
              </a:rPr>
              <a:t>jump to the catalogue entry it creates</a:t>
            </a:r>
          </a:p>
        </p:txBody>
      </p:sp>
      <p:sp>
        <p:nvSpPr>
          <p:cNvPr id="22" name="Rounded Rectangle 21"/>
          <p:cNvSpPr/>
          <p:nvPr/>
        </p:nvSpPr>
        <p:spPr>
          <a:xfrm>
            <a:off x="3367735" y="4206240"/>
            <a:ext cx="2606040" cy="137160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32327" y="4407408"/>
            <a:ext cx="2276856" cy="1005840"/>
          </a:xfrm>
          <a:prstGeom prst="rect">
            <a:avLst/>
          </a:prstGeom>
          <a:noFill/>
        </p:spPr>
        <p:txBody>
          <a:bodyPr wrap="square" anchor="t" lIns="0" rIns="0" tIns="0" bIns="0">
            <a:spAutoFit/>
          </a:bodyPr>
          <a:lstStyle/>
          <a:p>
            <a:pPr algn="l">
              <a:spcBef>
                <a:spcPts val="0"/>
              </a:spcBef>
              <a:spcAft>
                <a:spcPts val="500"/>
              </a:spcAft>
            </a:pPr>
            <a:r>
              <a:rPr sz="1300" b="1" i="0">
                <a:solidFill>
                  <a:srgbClr val="09131B"/>
                </a:solidFill>
                <a:latin typeface="Calibri"/>
              </a:rPr>
              <a:t>From an asset</a:t>
            </a:r>
          </a:p>
          <a:p>
            <a:pPr algn="l">
              <a:spcBef>
                <a:spcPts val="0"/>
              </a:spcBef>
              <a:spcAft>
                <a:spcPts val="0"/>
              </a:spcAft>
            </a:pPr>
            <a:r>
              <a:rPr sz="1150" b="0" i="0">
                <a:solidFill>
                  <a:srgbClr val="595959"/>
                </a:solidFill>
                <a:latin typeface="Calibri"/>
              </a:rPr>
              <a:t>jump to its KPIs, its vendor, its agreement</a:t>
            </a:r>
          </a:p>
        </p:txBody>
      </p:sp>
      <p:sp>
        <p:nvSpPr>
          <p:cNvPr id="24" name="Rounded Rectangle 23"/>
          <p:cNvSpPr/>
          <p:nvPr/>
        </p:nvSpPr>
        <p:spPr>
          <a:xfrm>
            <a:off x="6049670" y="4206240"/>
            <a:ext cx="2606040" cy="137160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14262" y="4407408"/>
            <a:ext cx="2276856" cy="1005840"/>
          </a:xfrm>
          <a:prstGeom prst="rect">
            <a:avLst/>
          </a:prstGeom>
          <a:noFill/>
        </p:spPr>
        <p:txBody>
          <a:bodyPr wrap="square" anchor="t" lIns="0" rIns="0" tIns="0" bIns="0">
            <a:spAutoFit/>
          </a:bodyPr>
          <a:lstStyle/>
          <a:p>
            <a:pPr algn="l">
              <a:spcBef>
                <a:spcPts val="0"/>
              </a:spcBef>
              <a:spcAft>
                <a:spcPts val="500"/>
              </a:spcAft>
            </a:pPr>
            <a:r>
              <a:rPr sz="1300" b="1" i="0">
                <a:solidFill>
                  <a:srgbClr val="09131B"/>
                </a:solidFill>
                <a:latin typeface="Calibri"/>
              </a:rPr>
              <a:t>From a KPI</a:t>
            </a:r>
          </a:p>
          <a:p>
            <a:pPr algn="l">
              <a:spcBef>
                <a:spcPts val="0"/>
              </a:spcBef>
              <a:spcAft>
                <a:spcPts val="0"/>
              </a:spcAft>
            </a:pPr>
            <a:r>
              <a:rPr sz="1150" b="0" i="0">
                <a:solidFill>
                  <a:srgbClr val="595959"/>
                </a:solidFill>
                <a:latin typeface="Calibri"/>
              </a:rPr>
              <a:t>trace the exact asset and vendor it depends on</a:t>
            </a:r>
          </a:p>
        </p:txBody>
      </p:sp>
      <p:sp>
        <p:nvSpPr>
          <p:cNvPr id="26" name="Rounded Rectangle 25"/>
          <p:cNvSpPr/>
          <p:nvPr/>
        </p:nvSpPr>
        <p:spPr>
          <a:xfrm>
            <a:off x="8731605" y="4206240"/>
            <a:ext cx="2606040" cy="137160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896197" y="4407408"/>
            <a:ext cx="2276856" cy="1005840"/>
          </a:xfrm>
          <a:prstGeom prst="rect">
            <a:avLst/>
          </a:prstGeom>
          <a:noFill/>
        </p:spPr>
        <p:txBody>
          <a:bodyPr wrap="square" anchor="t" lIns="0" rIns="0" tIns="0" bIns="0">
            <a:spAutoFit/>
          </a:bodyPr>
          <a:lstStyle/>
          <a:p>
            <a:pPr algn="l">
              <a:spcBef>
                <a:spcPts val="0"/>
              </a:spcBef>
              <a:spcAft>
                <a:spcPts val="500"/>
              </a:spcAft>
            </a:pPr>
            <a:r>
              <a:rPr sz="1300" b="1" i="0">
                <a:solidFill>
                  <a:srgbClr val="09131B"/>
                </a:solidFill>
                <a:latin typeface="Calibri"/>
              </a:rPr>
              <a:t>From an agreement</a:t>
            </a:r>
          </a:p>
          <a:p>
            <a:pPr algn="l">
              <a:spcBef>
                <a:spcPts val="0"/>
              </a:spcBef>
              <a:spcAft>
                <a:spcPts val="0"/>
              </a:spcAft>
            </a:pPr>
            <a:r>
              <a:rPr sz="1150" b="0" i="0">
                <a:solidFill>
                  <a:srgbClr val="595959"/>
                </a:solidFill>
                <a:latin typeface="Calibri"/>
              </a:rPr>
              <a:t>see the asset and the strategic KPI behind it</a:t>
            </a:r>
          </a:p>
        </p:txBody>
      </p:sp>
      <p:sp>
        <p:nvSpPr>
          <p:cNvPr id="28" name="Rectangle 27"/>
          <p:cNvSpPr/>
          <p:nvPr/>
        </p:nvSpPr>
        <p:spPr>
          <a:xfrm>
            <a:off x="685800" y="6419088"/>
            <a:ext cx="10820095" cy="952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6473952"/>
            <a:ext cx="7315200" cy="274320"/>
          </a:xfrm>
          <a:prstGeom prst="rect">
            <a:avLst/>
          </a:prstGeom>
          <a:noFill/>
        </p:spPr>
        <p:txBody>
          <a:bodyPr wrap="square" anchor="t" lIns="0" rIns="0" tIns="0" bIns="0">
            <a:spAutoFit/>
          </a:bodyPr>
          <a:lstStyle/>
          <a:p>
            <a:pPr algn="l">
              <a:spcBef>
                <a:spcPts val="0"/>
              </a:spcBef>
              <a:spcAft>
                <a:spcPts val="0"/>
              </a:spcAft>
            </a:pPr>
            <a:r>
              <a:rPr sz="900" b="0" i="0">
                <a:solidFill>
                  <a:srgbClr val="A9AFB6"/>
                </a:solidFill>
                <a:latin typeface="Calibri"/>
              </a:rPr>
              <a:t>Cortex Atlas  ·  Illustrative prototype, synthetic data  ·  Confidential</a:t>
            </a:r>
          </a:p>
        </p:txBody>
      </p:sp>
      <p:sp>
        <p:nvSpPr>
          <p:cNvPr id="30" name="TextBox 29"/>
          <p:cNvSpPr txBox="1"/>
          <p:nvPr/>
        </p:nvSpPr>
        <p:spPr>
          <a:xfrm>
            <a:off x="10591495" y="6473952"/>
            <a:ext cx="914400" cy="274320"/>
          </a:xfrm>
          <a:prstGeom prst="rect">
            <a:avLst/>
          </a:prstGeom>
          <a:noFill/>
        </p:spPr>
        <p:txBody>
          <a:bodyPr wrap="square" anchor="t" lIns="0" rIns="0" tIns="0" bIns="0">
            <a:spAutoFit/>
          </a:bodyPr>
          <a:lstStyle/>
          <a:p>
            <a:pPr algn="r">
              <a:spcBef>
                <a:spcPts val="0"/>
              </a:spcBef>
              <a:spcAft>
                <a:spcPts val="0"/>
              </a:spcAft>
            </a:pPr>
            <a:r>
              <a:rPr sz="900" b="0" i="0">
                <a:solidFill>
                  <a:srgbClr val="A9AFB6"/>
                </a:solidFill>
                <a:latin typeface="Calibri"/>
              </a:rPr>
              <a:t>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4F4"/>
        </a:solidFill>
        <a:effectLst/>
      </p:bgPr>
    </p:bg>
    <p:spTree>
      <p:nvGrpSpPr>
        <p:cNvPr id="1" name=""/>
        <p:cNvGrpSpPr/>
        <p:nvPr/>
      </p:nvGrpSpPr>
      <p:grpSpPr/>
      <p:sp>
        <p:nvSpPr>
          <p:cNvPr id="2" name="Rectangle 1"/>
          <p:cNvSpPr/>
          <p:nvPr/>
        </p:nvSpPr>
        <p:spPr>
          <a:xfrm>
            <a:off x="685800" y="566928"/>
            <a:ext cx="310896" cy="82296"/>
          </a:xfrm>
          <a:prstGeom prst="rect">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457200"/>
            <a:ext cx="10408615" cy="320040"/>
          </a:xfrm>
          <a:prstGeom prst="rect">
            <a:avLst/>
          </a:prstGeom>
          <a:noFill/>
        </p:spPr>
        <p:txBody>
          <a:bodyPr wrap="square" anchor="t" lIns="0" rIns="0" tIns="0" bIns="0">
            <a:spAutoFit/>
          </a:bodyPr>
          <a:lstStyle/>
          <a:p>
            <a:pPr algn="l">
              <a:spcBef>
                <a:spcPts val="0"/>
              </a:spcBef>
              <a:spcAft>
                <a:spcPts val="0"/>
              </a:spcAft>
            </a:pPr>
            <a:r>
              <a:rPr sz="1250" b="1" i="0">
                <a:solidFill>
                  <a:srgbClr val="F89739"/>
                </a:solidFill>
                <a:latin typeface="Calibri"/>
              </a:rPr>
              <a:t>HOW IT WORKS</a:t>
            </a:r>
          </a:p>
        </p:txBody>
      </p:sp>
      <p:sp>
        <p:nvSpPr>
          <p:cNvPr id="4" name="TextBox 3"/>
          <p:cNvSpPr txBox="1"/>
          <p:nvPr/>
        </p:nvSpPr>
        <p:spPr>
          <a:xfrm>
            <a:off x="685800" y="841248"/>
            <a:ext cx="10820095" cy="640080"/>
          </a:xfrm>
          <a:prstGeom prst="rect">
            <a:avLst/>
          </a:prstGeom>
          <a:noFill/>
        </p:spPr>
        <p:txBody>
          <a:bodyPr wrap="square" anchor="t" lIns="0" rIns="0" tIns="0" bIns="0">
            <a:spAutoFit/>
          </a:bodyPr>
          <a:lstStyle/>
          <a:p>
            <a:pPr algn="l">
              <a:spcBef>
                <a:spcPts val="0"/>
              </a:spcBef>
              <a:spcAft>
                <a:spcPts val="0"/>
              </a:spcAft>
            </a:pPr>
            <a:r>
              <a:rPr sz="2900" b="1" i="0">
                <a:solidFill>
                  <a:srgbClr val="09131B"/>
                </a:solidFill>
                <a:latin typeface="Calibri"/>
              </a:rPr>
              <a:t>Three layers, one tool</a:t>
            </a:r>
          </a:p>
        </p:txBody>
      </p:sp>
      <p:sp>
        <p:nvSpPr>
          <p:cNvPr id="5" name="Rounded Rectangle 4"/>
          <p:cNvSpPr/>
          <p:nvPr/>
        </p:nvSpPr>
        <p:spPr>
          <a:xfrm>
            <a:off x="685800" y="1874519"/>
            <a:ext cx="3502152" cy="393192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 y="1874519"/>
            <a:ext cx="3502152" cy="128016"/>
          </a:xfrm>
          <a:prstGeom prst="roundRect">
            <a:avLst>
              <a:gd name="adj" fmla="val 50000"/>
            </a:avLst>
          </a:prstGeom>
          <a:solidFill>
            <a:srgbClr val="0563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2240279"/>
            <a:ext cx="457200" cy="457200"/>
          </a:xfrm>
          <a:prstGeom prst="roundRect">
            <a:avLst>
              <a:gd name="adj" fmla="val 25000"/>
            </a:avLst>
          </a:prstGeom>
          <a:solidFill>
            <a:srgbClr val="0563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240279"/>
            <a:ext cx="457200" cy="457200"/>
          </a:xfrm>
          <a:prstGeom prst="rect">
            <a:avLst/>
          </a:prstGeom>
          <a:noFill/>
        </p:spPr>
        <p:txBody>
          <a:bodyPr wrap="square" anchor="ctr" lIns="0" rIns="0" tIns="0" bIns="0">
            <a:spAutoFit/>
          </a:bodyPr>
          <a:lstStyle/>
          <a:p>
            <a:pPr algn="ctr">
              <a:spcBef>
                <a:spcPts val="0"/>
              </a:spcBef>
              <a:spcAft>
                <a:spcPts val="0"/>
              </a:spcAft>
            </a:pPr>
            <a:r>
              <a:rPr sz="1400" b="1" i="0">
                <a:solidFill>
                  <a:srgbClr val="FFFFFF"/>
                </a:solidFill>
                <a:latin typeface="Calibri"/>
              </a:rPr>
              <a:t>01</a:t>
            </a:r>
          </a:p>
        </p:txBody>
      </p:sp>
      <p:sp>
        <p:nvSpPr>
          <p:cNvPr id="9" name="TextBox 8"/>
          <p:cNvSpPr txBox="1"/>
          <p:nvPr/>
        </p:nvSpPr>
        <p:spPr>
          <a:xfrm>
            <a:off x="914400" y="2880359"/>
            <a:ext cx="3044952" cy="2743200"/>
          </a:xfrm>
          <a:prstGeom prst="rect">
            <a:avLst/>
          </a:prstGeom>
          <a:noFill/>
        </p:spPr>
        <p:txBody>
          <a:bodyPr wrap="square" anchor="t" lIns="0" rIns="0" tIns="0" bIns="0">
            <a:spAutoFit/>
          </a:bodyPr>
          <a:lstStyle/>
          <a:p>
            <a:pPr algn="l">
              <a:spcBef>
                <a:spcPts val="0"/>
              </a:spcBef>
              <a:spcAft>
                <a:spcPts val="200"/>
              </a:spcAft>
            </a:pPr>
            <a:r>
              <a:rPr sz="2000" b="1" i="0">
                <a:solidFill>
                  <a:srgbClr val="09131B"/>
                </a:solidFill>
                <a:latin typeface="Calibri"/>
              </a:rPr>
              <a:t>Estate</a:t>
            </a:r>
          </a:p>
          <a:p>
            <a:pPr algn="l">
              <a:spcBef>
                <a:spcPts val="0"/>
              </a:spcBef>
              <a:spcAft>
                <a:spcPts val="1000"/>
              </a:spcAft>
            </a:pPr>
            <a:r>
              <a:rPr sz="1250" b="1" i="0">
                <a:solidFill>
                  <a:srgbClr val="0563C1"/>
                </a:solidFill>
                <a:latin typeface="Calibri"/>
              </a:rPr>
              <a:t>The five tools, faithful to how they work today</a:t>
            </a:r>
          </a:p>
          <a:p>
            <a:pPr algn="l">
              <a:spcBef>
                <a:spcPts val="0"/>
              </a:spcBef>
              <a:spcAft>
                <a:spcPts val="0"/>
              </a:spcAft>
            </a:pPr>
            <a:r>
              <a:rPr sz="1250" b="0" i="0">
                <a:solidFill>
                  <a:srgbClr val="595959"/>
                </a:solidFill>
                <a:latin typeface="Calibri"/>
              </a:rPr>
              <a:t>Combined role-gated request form · full catalogue record · KPI registry · vendor inventory · agreement register. The trustworthy foundation.</a:t>
            </a:r>
          </a:p>
        </p:txBody>
      </p:sp>
      <p:sp>
        <p:nvSpPr>
          <p:cNvPr id="10" name="Rounded Rectangle 9"/>
          <p:cNvSpPr/>
          <p:nvPr/>
        </p:nvSpPr>
        <p:spPr>
          <a:xfrm>
            <a:off x="4279392" y="1874519"/>
            <a:ext cx="3502152" cy="393192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279392" y="1874519"/>
            <a:ext cx="3502152" cy="128016"/>
          </a:xfrm>
          <a:prstGeom prst="roundRect">
            <a:avLst>
              <a:gd name="adj" fmla="val 50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07992" y="2240279"/>
            <a:ext cx="457200" cy="457200"/>
          </a:xfrm>
          <a:prstGeom prst="roundRect">
            <a:avLst>
              <a:gd name="adj" fmla="val 25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07992" y="2240279"/>
            <a:ext cx="457200" cy="457200"/>
          </a:xfrm>
          <a:prstGeom prst="rect">
            <a:avLst/>
          </a:prstGeom>
          <a:noFill/>
        </p:spPr>
        <p:txBody>
          <a:bodyPr wrap="square" anchor="ctr" lIns="0" rIns="0" tIns="0" bIns="0">
            <a:spAutoFit/>
          </a:bodyPr>
          <a:lstStyle/>
          <a:p>
            <a:pPr algn="ctr">
              <a:spcBef>
                <a:spcPts val="0"/>
              </a:spcBef>
              <a:spcAft>
                <a:spcPts val="0"/>
              </a:spcAft>
            </a:pPr>
            <a:r>
              <a:rPr sz="1400" b="1" i="0">
                <a:solidFill>
                  <a:srgbClr val="FFFFFF"/>
                </a:solidFill>
                <a:latin typeface="Calibri"/>
              </a:rPr>
              <a:t>02</a:t>
            </a:r>
          </a:p>
        </p:txBody>
      </p:sp>
      <p:sp>
        <p:nvSpPr>
          <p:cNvPr id="14" name="TextBox 13"/>
          <p:cNvSpPr txBox="1"/>
          <p:nvPr/>
        </p:nvSpPr>
        <p:spPr>
          <a:xfrm>
            <a:off x="4507992" y="2880359"/>
            <a:ext cx="3044952" cy="2743200"/>
          </a:xfrm>
          <a:prstGeom prst="rect">
            <a:avLst/>
          </a:prstGeom>
          <a:noFill/>
        </p:spPr>
        <p:txBody>
          <a:bodyPr wrap="square" anchor="t" lIns="0" rIns="0" tIns="0" bIns="0">
            <a:spAutoFit/>
          </a:bodyPr>
          <a:lstStyle/>
          <a:p>
            <a:pPr algn="l">
              <a:spcBef>
                <a:spcPts val="0"/>
              </a:spcBef>
              <a:spcAft>
                <a:spcPts val="200"/>
              </a:spcAft>
            </a:pPr>
            <a:r>
              <a:rPr sz="2000" b="1" i="0">
                <a:solidFill>
                  <a:srgbClr val="09131B"/>
                </a:solidFill>
                <a:latin typeface="Calibri"/>
              </a:rPr>
              <a:t>Automation</a:t>
            </a:r>
          </a:p>
          <a:p>
            <a:pPr algn="l">
              <a:spcBef>
                <a:spcPts val="0"/>
              </a:spcBef>
              <a:spcAft>
                <a:spcPts val="1000"/>
              </a:spcAft>
            </a:pPr>
            <a:r>
              <a:rPr sz="1250" b="1" i="0">
                <a:solidFill>
                  <a:srgbClr val="9A5C12"/>
                </a:solidFill>
                <a:latin typeface="Calibri"/>
              </a:rPr>
              <a:t>The work the platform does for you</a:t>
            </a:r>
          </a:p>
          <a:p>
            <a:pPr algn="l">
              <a:spcBef>
                <a:spcPts val="0"/>
              </a:spcBef>
              <a:spcAft>
                <a:spcPts val="0"/>
              </a:spcAft>
            </a:pPr>
            <a:r>
              <a:rPr sz="1250" b="0" i="0">
                <a:solidFill>
                  <a:srgbClr val="595959"/>
                </a:solidFill>
                <a:latin typeface="Calibri"/>
              </a:rPr>
              <a:t>30/60/90-day renewal reminders · approved request auto-writes to the catalogue · renewals pre-fill from it · PII/PHI auto-classification · duplicate-buy detection at intake.</a:t>
            </a:r>
          </a:p>
        </p:txBody>
      </p:sp>
      <p:sp>
        <p:nvSpPr>
          <p:cNvPr id="15" name="Rounded Rectangle 14"/>
          <p:cNvSpPr/>
          <p:nvPr/>
        </p:nvSpPr>
        <p:spPr>
          <a:xfrm>
            <a:off x="7872984" y="1874519"/>
            <a:ext cx="3502152" cy="393192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872984" y="1874519"/>
            <a:ext cx="3502152" cy="128016"/>
          </a:xfrm>
          <a:prstGeom prst="roundRect">
            <a:avLst>
              <a:gd name="adj" fmla="val 50000"/>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1584" y="2240279"/>
            <a:ext cx="457200" cy="457200"/>
          </a:xfrm>
          <a:prstGeom prst="roundRect">
            <a:avLst>
              <a:gd name="adj" fmla="val 25000"/>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01584" y="2240279"/>
            <a:ext cx="457200" cy="457200"/>
          </a:xfrm>
          <a:prstGeom prst="rect">
            <a:avLst/>
          </a:prstGeom>
          <a:noFill/>
        </p:spPr>
        <p:txBody>
          <a:bodyPr wrap="square" anchor="ctr" lIns="0" rIns="0" tIns="0" bIns="0">
            <a:spAutoFit/>
          </a:bodyPr>
          <a:lstStyle/>
          <a:p>
            <a:pPr algn="ctr">
              <a:spcBef>
                <a:spcPts val="0"/>
              </a:spcBef>
              <a:spcAft>
                <a:spcPts val="0"/>
              </a:spcAft>
            </a:pPr>
            <a:r>
              <a:rPr sz="1400" b="1" i="0">
                <a:solidFill>
                  <a:srgbClr val="FFFFFF"/>
                </a:solidFill>
                <a:latin typeface="Calibri"/>
              </a:rPr>
              <a:t>03</a:t>
            </a:r>
          </a:p>
        </p:txBody>
      </p:sp>
      <p:sp>
        <p:nvSpPr>
          <p:cNvPr id="19" name="TextBox 18"/>
          <p:cNvSpPr txBox="1"/>
          <p:nvPr/>
        </p:nvSpPr>
        <p:spPr>
          <a:xfrm>
            <a:off x="8101584" y="2880359"/>
            <a:ext cx="3044952" cy="2743200"/>
          </a:xfrm>
          <a:prstGeom prst="rect">
            <a:avLst/>
          </a:prstGeom>
          <a:noFill/>
        </p:spPr>
        <p:txBody>
          <a:bodyPr wrap="square" anchor="t" lIns="0" rIns="0" tIns="0" bIns="0">
            <a:spAutoFit/>
          </a:bodyPr>
          <a:lstStyle/>
          <a:p>
            <a:pPr algn="l">
              <a:spcBef>
                <a:spcPts val="0"/>
              </a:spcBef>
              <a:spcAft>
                <a:spcPts val="200"/>
              </a:spcAft>
            </a:pPr>
            <a:r>
              <a:rPr sz="2000" b="1" i="0">
                <a:solidFill>
                  <a:srgbClr val="09131B"/>
                </a:solidFill>
                <a:latin typeface="Calibri"/>
              </a:rPr>
              <a:t>Intelligence</a:t>
            </a:r>
          </a:p>
          <a:p>
            <a:pPr algn="l">
              <a:spcBef>
                <a:spcPts val="0"/>
              </a:spcBef>
              <a:spcAft>
                <a:spcPts val="1000"/>
              </a:spcAft>
            </a:pPr>
            <a:r>
              <a:rPr sz="1250" b="1" i="0">
                <a:solidFill>
                  <a:srgbClr val="1E7F4F"/>
                </a:solidFill>
                <a:latin typeface="Calibri"/>
              </a:rPr>
              <a:t>The decision layer on top</a:t>
            </a:r>
          </a:p>
          <a:p>
            <a:pPr algn="l">
              <a:spcBef>
                <a:spcPts val="0"/>
              </a:spcBef>
              <a:spcAft>
                <a:spcPts val="0"/>
              </a:spcAft>
            </a:pPr>
            <a:r>
              <a:rPr sz="1250" b="0" i="0">
                <a:solidFill>
                  <a:srgbClr val="595959"/>
                </a:solidFill>
                <a:latin typeface="Calibri"/>
              </a:rPr>
              <a:t>Cross-tool signals · renewal prediction · vendor concentration &amp; value analytics (Vendor Hub Plus) · natural-language Ask Atlas across the estate.</a:t>
            </a:r>
          </a:p>
        </p:txBody>
      </p:sp>
      <p:sp>
        <p:nvSpPr>
          <p:cNvPr id="20" name="Rectangle 19"/>
          <p:cNvSpPr/>
          <p:nvPr/>
        </p:nvSpPr>
        <p:spPr>
          <a:xfrm>
            <a:off x="685800" y="6419088"/>
            <a:ext cx="10820095" cy="952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6473952"/>
            <a:ext cx="7315200" cy="274320"/>
          </a:xfrm>
          <a:prstGeom prst="rect">
            <a:avLst/>
          </a:prstGeom>
          <a:noFill/>
        </p:spPr>
        <p:txBody>
          <a:bodyPr wrap="square" anchor="t" lIns="0" rIns="0" tIns="0" bIns="0">
            <a:spAutoFit/>
          </a:bodyPr>
          <a:lstStyle/>
          <a:p>
            <a:pPr algn="l">
              <a:spcBef>
                <a:spcPts val="0"/>
              </a:spcBef>
              <a:spcAft>
                <a:spcPts val="0"/>
              </a:spcAft>
            </a:pPr>
            <a:r>
              <a:rPr sz="900" b="0" i="0">
                <a:solidFill>
                  <a:srgbClr val="A9AFB6"/>
                </a:solidFill>
                <a:latin typeface="Calibri"/>
              </a:rPr>
              <a:t>Cortex Atlas  ·  Illustrative prototype, synthetic data  ·  Confidential</a:t>
            </a:r>
          </a:p>
        </p:txBody>
      </p:sp>
      <p:sp>
        <p:nvSpPr>
          <p:cNvPr id="22" name="TextBox 21"/>
          <p:cNvSpPr txBox="1"/>
          <p:nvPr/>
        </p:nvSpPr>
        <p:spPr>
          <a:xfrm>
            <a:off x="10591495" y="6473952"/>
            <a:ext cx="914400" cy="274320"/>
          </a:xfrm>
          <a:prstGeom prst="rect">
            <a:avLst/>
          </a:prstGeom>
          <a:noFill/>
        </p:spPr>
        <p:txBody>
          <a:bodyPr wrap="square" anchor="t" lIns="0" rIns="0" tIns="0" bIns="0">
            <a:spAutoFit/>
          </a:bodyPr>
          <a:lstStyle/>
          <a:p>
            <a:pPr algn="r">
              <a:spcBef>
                <a:spcPts val="0"/>
              </a:spcBef>
              <a:spcAft>
                <a:spcPts val="0"/>
              </a:spcAft>
            </a:pPr>
            <a:r>
              <a:rPr sz="900" b="0" i="0">
                <a:solidFill>
                  <a:srgbClr val="A9AFB6"/>
                </a:solidFill>
                <a:latin typeface="Calibri"/>
              </a:rPr>
              <a:t>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9131B"/>
        </a:solidFill>
        <a:effectLst/>
      </p:bgPr>
    </p:bg>
    <p:spTree>
      <p:nvGrpSpPr>
        <p:cNvPr id="1" name=""/>
        <p:cNvGrpSpPr/>
        <p:nvPr/>
      </p:nvGrpSpPr>
      <p:grpSpPr/>
      <p:sp>
        <p:nvSpPr>
          <p:cNvPr id="2" name="Rectangle 1"/>
          <p:cNvSpPr/>
          <p:nvPr/>
        </p:nvSpPr>
        <p:spPr>
          <a:xfrm>
            <a:off x="685800" y="2286000"/>
            <a:ext cx="310896" cy="82296"/>
          </a:xfrm>
          <a:prstGeom prst="rect">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176272"/>
            <a:ext cx="9144000" cy="365760"/>
          </a:xfrm>
          <a:prstGeom prst="rect">
            <a:avLst/>
          </a:prstGeom>
          <a:noFill/>
        </p:spPr>
        <p:txBody>
          <a:bodyPr wrap="square" anchor="t" lIns="0" rIns="0" tIns="0" bIns="0">
            <a:spAutoFit/>
          </a:bodyPr>
          <a:lstStyle/>
          <a:p>
            <a:pPr algn="l">
              <a:spcBef>
                <a:spcPts val="0"/>
              </a:spcBef>
              <a:spcAft>
                <a:spcPts val="0"/>
              </a:spcAft>
            </a:pPr>
            <a:r>
              <a:rPr sz="1300" b="1" i="0">
                <a:solidFill>
                  <a:srgbClr val="F89739"/>
                </a:solidFill>
                <a:latin typeface="Calibri"/>
              </a:rPr>
              <a:t>INSIDE THE PLATFORM</a:t>
            </a:r>
          </a:p>
        </p:txBody>
      </p:sp>
      <p:sp>
        <p:nvSpPr>
          <p:cNvPr id="4" name="TextBox 3"/>
          <p:cNvSpPr txBox="1"/>
          <p:nvPr/>
        </p:nvSpPr>
        <p:spPr>
          <a:xfrm>
            <a:off x="685800" y="2560320"/>
            <a:ext cx="10789920" cy="1280160"/>
          </a:xfrm>
          <a:prstGeom prst="rect">
            <a:avLst/>
          </a:prstGeom>
          <a:noFill/>
        </p:spPr>
        <p:txBody>
          <a:bodyPr wrap="square" anchor="t" lIns="0" rIns="0" tIns="0" bIns="0">
            <a:spAutoFit/>
          </a:bodyPr>
          <a:lstStyle/>
          <a:p>
            <a:pPr algn="l">
              <a:spcBef>
                <a:spcPts val="0"/>
              </a:spcBef>
              <a:spcAft>
                <a:spcPts val="0"/>
              </a:spcAft>
            </a:pPr>
            <a:r>
              <a:rPr sz="4000" b="1" i="0">
                <a:solidFill>
                  <a:srgbClr val="FFFFFF"/>
                </a:solidFill>
                <a:latin typeface="Calibri"/>
              </a:rPr>
              <a:t>A guided walk through the five tools</a:t>
            </a:r>
          </a:p>
        </p:txBody>
      </p:sp>
      <p:sp>
        <p:nvSpPr>
          <p:cNvPr id="5" name="TextBox 4"/>
          <p:cNvSpPr txBox="1"/>
          <p:nvPr/>
        </p:nvSpPr>
        <p:spPr>
          <a:xfrm>
            <a:off x="685800" y="3840480"/>
            <a:ext cx="10058400" cy="914400"/>
          </a:xfrm>
          <a:prstGeom prst="rect">
            <a:avLst/>
          </a:prstGeom>
          <a:noFill/>
        </p:spPr>
        <p:txBody>
          <a:bodyPr wrap="square" anchor="t" lIns="0" rIns="0" tIns="0" bIns="0">
            <a:spAutoFit/>
          </a:bodyPr>
          <a:lstStyle/>
          <a:p>
            <a:pPr algn="l">
              <a:spcBef>
                <a:spcPts val="0"/>
              </a:spcBef>
              <a:spcAft>
                <a:spcPts val="0"/>
              </a:spcAft>
            </a:pPr>
            <a:r>
              <a:rPr sz="1600" b="0" i="0">
                <a:solidFill>
                  <a:srgbClr val="A9AFB6"/>
                </a:solidFill>
                <a:latin typeface="Calibri"/>
              </a:rPr>
              <a:t>Each tool keeps its real-world job — then carries the automation and intelligence that belong to it.</a:t>
            </a:r>
          </a:p>
        </p:txBody>
      </p:sp>
      <p:sp>
        <p:nvSpPr>
          <p:cNvPr id="6" name="TextBox 5"/>
          <p:cNvSpPr txBox="1"/>
          <p:nvPr/>
        </p:nvSpPr>
        <p:spPr>
          <a:xfrm>
            <a:off x="9494215" y="548640"/>
            <a:ext cx="2011680" cy="457200"/>
          </a:xfrm>
          <a:prstGeom prst="rect">
            <a:avLst/>
          </a:prstGeom>
          <a:noFill/>
        </p:spPr>
        <p:txBody>
          <a:bodyPr wrap="square" anchor="t" lIns="0" rIns="0" tIns="0" bIns="0">
            <a:spAutoFit/>
          </a:bodyPr>
          <a:lstStyle/>
          <a:p>
            <a:pPr algn="r">
              <a:spcBef>
                <a:spcPts val="0"/>
              </a:spcBef>
              <a:spcAft>
                <a:spcPts val="0"/>
              </a:spcAft>
            </a:pPr>
            <a:r>
              <a:rPr sz="1500" b="1" i="0">
                <a:solidFill>
                  <a:srgbClr val="3A4A54"/>
                </a:solidFill>
                <a:latin typeface="Calibri"/>
              </a:rPr>
              <a:t>03 / 06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4F4"/>
        </a:solidFill>
        <a:effectLst/>
      </p:bgPr>
    </p:bg>
    <p:spTree>
      <p:nvGrpSpPr>
        <p:cNvPr id="1" name=""/>
        <p:cNvGrpSpPr/>
        <p:nvPr/>
      </p:nvGrpSpPr>
      <p:grpSpPr/>
      <p:sp>
        <p:nvSpPr>
          <p:cNvPr id="2" name="Rectangle 1"/>
          <p:cNvSpPr/>
          <p:nvPr/>
        </p:nvSpPr>
        <p:spPr>
          <a:xfrm>
            <a:off x="685800" y="566928"/>
            <a:ext cx="310896" cy="82296"/>
          </a:xfrm>
          <a:prstGeom prst="rect">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457200"/>
            <a:ext cx="10408615" cy="320040"/>
          </a:xfrm>
          <a:prstGeom prst="rect">
            <a:avLst/>
          </a:prstGeom>
          <a:noFill/>
        </p:spPr>
        <p:txBody>
          <a:bodyPr wrap="square" anchor="t" lIns="0" rIns="0" tIns="0" bIns="0">
            <a:spAutoFit/>
          </a:bodyPr>
          <a:lstStyle/>
          <a:p>
            <a:pPr algn="l">
              <a:spcBef>
                <a:spcPts val="0"/>
              </a:spcBef>
              <a:spcAft>
                <a:spcPts val="0"/>
              </a:spcAft>
            </a:pPr>
            <a:r>
              <a:rPr sz="1250" b="1" i="0">
                <a:solidFill>
                  <a:srgbClr val="F89739"/>
                </a:solidFill>
                <a:latin typeface="Calibri"/>
              </a:rPr>
              <a:t>TOOL 1 — WORKFLOW</a:t>
            </a:r>
          </a:p>
        </p:txBody>
      </p:sp>
      <p:sp>
        <p:nvSpPr>
          <p:cNvPr id="4" name="TextBox 3"/>
          <p:cNvSpPr txBox="1"/>
          <p:nvPr/>
        </p:nvSpPr>
        <p:spPr>
          <a:xfrm>
            <a:off x="685800" y="841248"/>
            <a:ext cx="10820095" cy="640080"/>
          </a:xfrm>
          <a:prstGeom prst="rect">
            <a:avLst/>
          </a:prstGeom>
          <a:noFill/>
        </p:spPr>
        <p:txBody>
          <a:bodyPr wrap="square" anchor="t" lIns="0" rIns="0" tIns="0" bIns="0">
            <a:spAutoFit/>
          </a:bodyPr>
          <a:lstStyle/>
          <a:p>
            <a:pPr algn="l">
              <a:spcBef>
                <a:spcPts val="0"/>
              </a:spcBef>
              <a:spcAft>
                <a:spcPts val="0"/>
              </a:spcAft>
            </a:pPr>
            <a:r>
              <a:rPr sz="2900" b="1" i="0">
                <a:solidFill>
                  <a:srgbClr val="09131B"/>
                </a:solidFill>
                <a:latin typeface="Calibri"/>
              </a:rPr>
              <a:t>Data Requests (DPRH)</a:t>
            </a:r>
          </a:p>
        </p:txBody>
      </p:sp>
      <p:sp>
        <p:nvSpPr>
          <p:cNvPr id="5" name="TextBox 4"/>
          <p:cNvSpPr txBox="1"/>
          <p:nvPr/>
        </p:nvSpPr>
        <p:spPr>
          <a:xfrm>
            <a:off x="685800" y="1481328"/>
            <a:ext cx="10820095" cy="457200"/>
          </a:xfrm>
          <a:prstGeom prst="rect">
            <a:avLst/>
          </a:prstGeom>
          <a:noFill/>
        </p:spPr>
        <p:txBody>
          <a:bodyPr wrap="square" anchor="t" lIns="0" rIns="0" tIns="0" bIns="0">
            <a:spAutoFit/>
          </a:bodyPr>
          <a:lstStyle/>
          <a:p>
            <a:pPr algn="l">
              <a:spcBef>
                <a:spcPts val="0"/>
              </a:spcBef>
              <a:spcAft>
                <a:spcPts val="0"/>
              </a:spcAft>
            </a:pPr>
            <a:r>
              <a:rPr sz="1450" b="0" i="0">
                <a:solidFill>
                  <a:srgbClr val="595959"/>
                </a:solidFill>
                <a:latin typeface="Calibri"/>
              </a:rPr>
              <a:t>One combined, role-gated form governs every data buy before money is committed.</a:t>
            </a:r>
          </a:p>
        </p:txBody>
      </p:sp>
      <p:sp>
        <p:nvSpPr>
          <p:cNvPr id="6" name="Rounded Rectangle 5"/>
          <p:cNvSpPr/>
          <p:nvPr/>
        </p:nvSpPr>
        <p:spPr>
          <a:xfrm>
            <a:off x="685800" y="1874519"/>
            <a:ext cx="3566160" cy="278892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86968" y="2130551"/>
            <a:ext cx="420624" cy="420624"/>
          </a:xfrm>
          <a:prstGeom prst="roundRect">
            <a:avLst>
              <a:gd name="adj" fmla="val 25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2130551"/>
            <a:ext cx="420624" cy="420624"/>
          </a:xfrm>
          <a:prstGeom prst="rect">
            <a:avLst/>
          </a:prstGeom>
          <a:noFill/>
        </p:spPr>
        <p:txBody>
          <a:bodyPr wrap="square" anchor="ctr" lIns="0" rIns="0" tIns="0" bIns="0">
            <a:spAutoFit/>
          </a:bodyPr>
          <a:lstStyle/>
          <a:p>
            <a:pPr algn="ctr">
              <a:spcBef>
                <a:spcPts val="0"/>
              </a:spcBef>
              <a:spcAft>
                <a:spcPts val="0"/>
              </a:spcAft>
            </a:pPr>
            <a:r>
              <a:rPr sz="1400" b="1" i="0">
                <a:solidFill>
                  <a:srgbClr val="09131B"/>
                </a:solidFill>
                <a:latin typeface="Calibri"/>
              </a:rPr>
              <a:t>1</a:t>
            </a:r>
          </a:p>
        </p:txBody>
      </p:sp>
      <p:sp>
        <p:nvSpPr>
          <p:cNvPr id="9" name="TextBox 8"/>
          <p:cNvSpPr txBox="1"/>
          <p:nvPr/>
        </p:nvSpPr>
        <p:spPr>
          <a:xfrm>
            <a:off x="886968" y="2743199"/>
            <a:ext cx="3163824" cy="1828800"/>
          </a:xfrm>
          <a:prstGeom prst="rect">
            <a:avLst/>
          </a:prstGeom>
          <a:noFill/>
        </p:spPr>
        <p:txBody>
          <a:bodyPr wrap="square" anchor="t" lIns="0" rIns="0" tIns="0" bIns="0">
            <a:spAutoFit/>
          </a:bodyPr>
          <a:lstStyle/>
          <a:p>
            <a:pPr algn="l">
              <a:spcBef>
                <a:spcPts val="0"/>
              </a:spcBef>
              <a:spcAft>
                <a:spcPts val="600"/>
              </a:spcAft>
            </a:pPr>
            <a:r>
              <a:rPr sz="1500" b="1" i="0">
                <a:solidFill>
                  <a:srgbClr val="09131B"/>
                </a:solidFill>
                <a:latin typeface="Calibri"/>
              </a:rPr>
              <a:t>Status-driven &amp; role-gated</a:t>
            </a:r>
          </a:p>
          <a:p>
            <a:pPr algn="l">
              <a:spcBef>
                <a:spcPts val="0"/>
              </a:spcBef>
              <a:spcAft>
                <a:spcPts val="0"/>
              </a:spcAft>
            </a:pPr>
            <a:r>
              <a:rPr sz="1200" b="0" i="0">
                <a:solidFill>
                  <a:srgbClr val="595959"/>
                </a:solidFill>
                <a:latin typeface="Calibri"/>
              </a:rPr>
              <a:t>Status is set automatically on submit from national/sub-national + cost threshold (e.g. National above → In data sourcing pre review). Reviewer tabs open progressively: Admin → Regional (region-scoped) → CDS committee (regional + global) → Admin final.</a:t>
            </a:r>
          </a:p>
        </p:txBody>
      </p:sp>
      <p:sp>
        <p:nvSpPr>
          <p:cNvPr id="10" name="Rounded Rectangle 9"/>
          <p:cNvSpPr/>
          <p:nvPr/>
        </p:nvSpPr>
        <p:spPr>
          <a:xfrm>
            <a:off x="4389120" y="1874519"/>
            <a:ext cx="3566160" cy="278892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90288" y="2130551"/>
            <a:ext cx="420624" cy="420624"/>
          </a:xfrm>
          <a:prstGeom prst="roundRect">
            <a:avLst>
              <a:gd name="adj" fmla="val 25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0288" y="2130551"/>
            <a:ext cx="420624" cy="420624"/>
          </a:xfrm>
          <a:prstGeom prst="rect">
            <a:avLst/>
          </a:prstGeom>
          <a:noFill/>
        </p:spPr>
        <p:txBody>
          <a:bodyPr wrap="square" anchor="ctr" lIns="0" rIns="0" tIns="0" bIns="0">
            <a:spAutoFit/>
          </a:bodyPr>
          <a:lstStyle/>
          <a:p>
            <a:pPr algn="ctr">
              <a:spcBef>
                <a:spcPts val="0"/>
              </a:spcBef>
              <a:spcAft>
                <a:spcPts val="0"/>
              </a:spcAft>
            </a:pPr>
            <a:r>
              <a:rPr sz="1400" b="1" i="0">
                <a:solidFill>
                  <a:srgbClr val="09131B"/>
                </a:solidFill>
                <a:latin typeface="Calibri"/>
              </a:rPr>
              <a:t>2</a:t>
            </a:r>
          </a:p>
        </p:txBody>
      </p:sp>
      <p:sp>
        <p:nvSpPr>
          <p:cNvPr id="13" name="TextBox 12"/>
          <p:cNvSpPr txBox="1"/>
          <p:nvPr/>
        </p:nvSpPr>
        <p:spPr>
          <a:xfrm>
            <a:off x="4590288" y="2743199"/>
            <a:ext cx="3163824" cy="1828800"/>
          </a:xfrm>
          <a:prstGeom prst="rect">
            <a:avLst/>
          </a:prstGeom>
          <a:noFill/>
        </p:spPr>
        <p:txBody>
          <a:bodyPr wrap="square" anchor="t" lIns="0" rIns="0" tIns="0" bIns="0">
            <a:spAutoFit/>
          </a:bodyPr>
          <a:lstStyle/>
          <a:p>
            <a:pPr algn="l">
              <a:spcBef>
                <a:spcPts val="0"/>
              </a:spcBef>
              <a:spcAft>
                <a:spcPts val="600"/>
              </a:spcAft>
            </a:pPr>
            <a:r>
              <a:rPr sz="1500" b="1" i="0">
                <a:solidFill>
                  <a:srgbClr val="09131B"/>
                </a:solidFill>
                <a:latin typeface="Calibri"/>
              </a:rPr>
              <a:t>Automation built in</a:t>
            </a:r>
          </a:p>
          <a:p>
            <a:pPr algn="l">
              <a:spcBef>
                <a:spcPts val="0"/>
              </a:spcBef>
              <a:spcAft>
                <a:spcPts val="0"/>
              </a:spcAft>
            </a:pPr>
            <a:r>
              <a:rPr sz="1200" b="0" i="0">
                <a:solidFill>
                  <a:srgbClr val="595959"/>
                </a:solidFill>
                <a:latin typeface="Calibri"/>
              </a:rPr>
              <a:t>Renewals pre-fill from the catalogue; on approval, Move to Catalogue lands the record there as a draft to complete — no re-keying, no drift. Power Automate notifications throughout.</a:t>
            </a:r>
          </a:p>
        </p:txBody>
      </p:sp>
      <p:sp>
        <p:nvSpPr>
          <p:cNvPr id="14" name="Rounded Rectangle 13"/>
          <p:cNvSpPr/>
          <p:nvPr/>
        </p:nvSpPr>
        <p:spPr>
          <a:xfrm>
            <a:off x="8092440" y="1874519"/>
            <a:ext cx="3566160" cy="278892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293608" y="2130551"/>
            <a:ext cx="420624" cy="420624"/>
          </a:xfrm>
          <a:prstGeom prst="roundRect">
            <a:avLst>
              <a:gd name="adj" fmla="val 25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2130551"/>
            <a:ext cx="420624" cy="420624"/>
          </a:xfrm>
          <a:prstGeom prst="rect">
            <a:avLst/>
          </a:prstGeom>
          <a:noFill/>
        </p:spPr>
        <p:txBody>
          <a:bodyPr wrap="square" anchor="ctr" lIns="0" rIns="0" tIns="0" bIns="0">
            <a:spAutoFit/>
          </a:bodyPr>
          <a:lstStyle/>
          <a:p>
            <a:pPr algn="ctr">
              <a:spcBef>
                <a:spcPts val="0"/>
              </a:spcBef>
              <a:spcAft>
                <a:spcPts val="0"/>
              </a:spcAft>
            </a:pPr>
            <a:r>
              <a:rPr sz="1400" b="1" i="0">
                <a:solidFill>
                  <a:srgbClr val="09131B"/>
                </a:solidFill>
                <a:latin typeface="Calibri"/>
              </a:rPr>
              <a:t>3</a:t>
            </a:r>
          </a:p>
        </p:txBody>
      </p:sp>
      <p:sp>
        <p:nvSpPr>
          <p:cNvPr id="17" name="TextBox 16"/>
          <p:cNvSpPr txBox="1"/>
          <p:nvPr/>
        </p:nvSpPr>
        <p:spPr>
          <a:xfrm>
            <a:off x="8293608" y="2743199"/>
            <a:ext cx="3163824" cy="1828800"/>
          </a:xfrm>
          <a:prstGeom prst="rect">
            <a:avLst/>
          </a:prstGeom>
          <a:noFill/>
        </p:spPr>
        <p:txBody>
          <a:bodyPr wrap="square" anchor="t" lIns="0" rIns="0" tIns="0" bIns="0">
            <a:spAutoFit/>
          </a:bodyPr>
          <a:lstStyle/>
          <a:p>
            <a:pPr algn="l">
              <a:spcBef>
                <a:spcPts val="0"/>
              </a:spcBef>
              <a:spcAft>
                <a:spcPts val="600"/>
              </a:spcAft>
            </a:pPr>
            <a:r>
              <a:rPr sz="1500" b="1" i="0">
                <a:solidFill>
                  <a:srgbClr val="09131B"/>
                </a:solidFill>
                <a:latin typeface="Calibri"/>
              </a:rPr>
              <a:t>Duplicate-buy detection</a:t>
            </a:r>
          </a:p>
          <a:p>
            <a:pPr algn="l">
              <a:spcBef>
                <a:spcPts val="0"/>
              </a:spcBef>
              <a:spcAft>
                <a:spcPts val="0"/>
              </a:spcAft>
            </a:pPr>
            <a:r>
              <a:rPr sz="1200" b="0" i="0">
                <a:solidFill>
                  <a:srgbClr val="595959"/>
                </a:solidFill>
                <a:latin typeface="Calibri"/>
              </a:rPr>
              <a:t>At intake, Atlas matches the request against the catalogue on vendor, therapeutic area and data type — and flags overlap before spend.</a:t>
            </a:r>
          </a:p>
        </p:txBody>
      </p:sp>
      <p:sp>
        <p:nvSpPr>
          <p:cNvPr id="18" name="TextBox 17"/>
          <p:cNvSpPr txBox="1"/>
          <p:nvPr/>
        </p:nvSpPr>
        <p:spPr>
          <a:xfrm>
            <a:off x="685800" y="4983480"/>
            <a:ext cx="10820095" cy="365760"/>
          </a:xfrm>
          <a:prstGeom prst="rect">
            <a:avLst/>
          </a:prstGeom>
          <a:noFill/>
        </p:spPr>
        <p:txBody>
          <a:bodyPr wrap="square" anchor="t" lIns="0" rIns="0" tIns="0" bIns="0">
            <a:spAutoFit/>
          </a:bodyPr>
          <a:lstStyle/>
          <a:p>
            <a:pPr algn="l">
              <a:spcBef>
                <a:spcPts val="0"/>
              </a:spcBef>
              <a:spcAft>
                <a:spcPts val="0"/>
              </a:spcAft>
            </a:pPr>
            <a:r>
              <a:rPr sz="1050" b="1" i="0">
                <a:solidFill>
                  <a:srgbClr val="F89739"/>
                </a:solidFill>
                <a:latin typeface="Calibri"/>
              </a:rPr>
              <a:t>WHAT THE PROTOTYPE SURFACES</a:t>
            </a:r>
          </a:p>
        </p:txBody>
      </p:sp>
      <p:sp>
        <p:nvSpPr>
          <p:cNvPr id="19" name="TextBox 18"/>
          <p:cNvSpPr txBox="1"/>
          <p:nvPr/>
        </p:nvSpPr>
        <p:spPr>
          <a:xfrm>
            <a:off x="685800" y="5303520"/>
            <a:ext cx="10820095" cy="731520"/>
          </a:xfrm>
          <a:prstGeom prst="rect">
            <a:avLst/>
          </a:prstGeom>
          <a:noFill/>
        </p:spPr>
        <p:txBody>
          <a:bodyPr wrap="square" anchor="t" lIns="0" rIns="0" tIns="0" bIns="0">
            <a:spAutoFit/>
          </a:bodyPr>
          <a:lstStyle/>
          <a:p>
            <a:pPr algn="l">
              <a:spcBef>
                <a:spcPts val="0"/>
              </a:spcBef>
              <a:spcAft>
                <a:spcPts val="0"/>
              </a:spcAft>
            </a:pPr>
            <a:r>
              <a:rPr sz="1350" b="1" i="0">
                <a:solidFill>
                  <a:srgbClr val="09131B"/>
                </a:solidFill>
                <a:latin typeface="Calibri"/>
              </a:rPr>
              <a:t>2 in-flight requests flagged as overlapping data already owned — roughly $1.09M of exposure to review before approval.</a:t>
            </a:r>
          </a:p>
        </p:txBody>
      </p:sp>
      <p:sp>
        <p:nvSpPr>
          <p:cNvPr id="20" name="TextBox 19"/>
          <p:cNvSpPr txBox="1"/>
          <p:nvPr/>
        </p:nvSpPr>
        <p:spPr>
          <a:xfrm>
            <a:off x="685800" y="5943600"/>
            <a:ext cx="2011680" cy="292608"/>
          </a:xfrm>
          <a:prstGeom prst="rect">
            <a:avLst/>
          </a:prstGeom>
          <a:noFill/>
        </p:spPr>
        <p:txBody>
          <a:bodyPr wrap="square" anchor="t" lIns="0" rIns="0" tIns="0" bIns="0">
            <a:spAutoFit/>
          </a:bodyPr>
          <a:lstStyle/>
          <a:p>
            <a:pPr algn="l">
              <a:spcBef>
                <a:spcPts val="0"/>
              </a:spcBef>
              <a:spcAft>
                <a:spcPts val="0"/>
              </a:spcAft>
            </a:pPr>
            <a:r>
              <a:rPr sz="950" b="1" i="0">
                <a:solidFill>
                  <a:srgbClr val="595959"/>
                </a:solidFill>
                <a:latin typeface="Calibri"/>
              </a:rPr>
              <a:t>Production feeds:</a:t>
            </a:r>
          </a:p>
        </p:txBody>
      </p:sp>
      <p:sp>
        <p:nvSpPr>
          <p:cNvPr id="21" name="Rounded Rectangle 20"/>
          <p:cNvSpPr/>
          <p:nvPr/>
        </p:nvSpPr>
        <p:spPr>
          <a:xfrm>
            <a:off x="1920240" y="5907024"/>
            <a:ext cx="987551" cy="292608"/>
          </a:xfrm>
          <a:prstGeom prst="roundRect">
            <a:avLst>
              <a:gd name="adj" fmla="val 50000"/>
            </a:avLst>
          </a:prstGeom>
          <a:solidFill>
            <a:srgbClr val="F4F4F4"/>
          </a:solidFill>
          <a:ln w="9525">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20240" y="5907024"/>
            <a:ext cx="987551" cy="292608"/>
          </a:xfrm>
          <a:prstGeom prst="rect">
            <a:avLst/>
          </a:prstGeom>
          <a:noFill/>
        </p:spPr>
        <p:txBody>
          <a:bodyPr wrap="square" anchor="ctr" lIns="0" rIns="0" tIns="0" bIns="0">
            <a:spAutoFit/>
          </a:bodyPr>
          <a:lstStyle/>
          <a:p>
            <a:pPr algn="ctr">
              <a:spcBef>
                <a:spcPts val="0"/>
              </a:spcBef>
              <a:spcAft>
                <a:spcPts val="0"/>
              </a:spcAft>
            </a:pPr>
            <a:r>
              <a:rPr sz="1000" b="1" i="0">
                <a:solidFill>
                  <a:srgbClr val="595959"/>
                </a:solidFill>
                <a:latin typeface="Calibri"/>
              </a:rPr>
              <a:t>SharePoint</a:t>
            </a:r>
          </a:p>
        </p:txBody>
      </p:sp>
      <p:sp>
        <p:nvSpPr>
          <p:cNvPr id="23" name="Rounded Rectangle 22"/>
          <p:cNvSpPr/>
          <p:nvPr/>
        </p:nvSpPr>
        <p:spPr>
          <a:xfrm>
            <a:off x="3017519" y="5907024"/>
            <a:ext cx="1324051" cy="292608"/>
          </a:xfrm>
          <a:prstGeom prst="roundRect">
            <a:avLst>
              <a:gd name="adj" fmla="val 50000"/>
            </a:avLst>
          </a:prstGeom>
          <a:solidFill>
            <a:srgbClr val="F4F4F4"/>
          </a:solidFill>
          <a:ln w="9525">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17519" y="5907024"/>
            <a:ext cx="1324051" cy="292608"/>
          </a:xfrm>
          <a:prstGeom prst="rect">
            <a:avLst/>
          </a:prstGeom>
          <a:noFill/>
        </p:spPr>
        <p:txBody>
          <a:bodyPr wrap="square" anchor="ctr" lIns="0" rIns="0" tIns="0" bIns="0">
            <a:spAutoFit/>
          </a:bodyPr>
          <a:lstStyle/>
          <a:p>
            <a:pPr algn="ctr">
              <a:spcBef>
                <a:spcPts val="0"/>
              </a:spcBef>
              <a:spcAft>
                <a:spcPts val="0"/>
              </a:spcAft>
            </a:pPr>
            <a:r>
              <a:rPr sz="1000" b="1" i="0">
                <a:solidFill>
                  <a:srgbClr val="595959"/>
                </a:solidFill>
                <a:latin typeface="Calibri"/>
              </a:rPr>
              <a:t>Power Automate</a:t>
            </a:r>
          </a:p>
        </p:txBody>
      </p:sp>
      <p:sp>
        <p:nvSpPr>
          <p:cNvPr id="25" name="Rounded Rectangle 24"/>
          <p:cNvSpPr/>
          <p:nvPr/>
        </p:nvSpPr>
        <p:spPr>
          <a:xfrm>
            <a:off x="4451298" y="5907024"/>
            <a:ext cx="903427" cy="292608"/>
          </a:xfrm>
          <a:prstGeom prst="roundRect">
            <a:avLst>
              <a:gd name="adj" fmla="val 50000"/>
            </a:avLst>
          </a:prstGeom>
          <a:solidFill>
            <a:srgbClr val="F4F4F4"/>
          </a:solidFill>
          <a:ln w="9525">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51298" y="5907024"/>
            <a:ext cx="903427" cy="292608"/>
          </a:xfrm>
          <a:prstGeom prst="rect">
            <a:avLst/>
          </a:prstGeom>
          <a:noFill/>
        </p:spPr>
        <p:txBody>
          <a:bodyPr wrap="square" anchor="ctr" lIns="0" rIns="0" tIns="0" bIns="0">
            <a:spAutoFit/>
          </a:bodyPr>
          <a:lstStyle/>
          <a:p>
            <a:pPr algn="ctr">
              <a:spcBef>
                <a:spcPts val="0"/>
              </a:spcBef>
              <a:spcAft>
                <a:spcPts val="0"/>
              </a:spcAft>
            </a:pPr>
            <a:r>
              <a:rPr sz="1000" b="1" i="0">
                <a:solidFill>
                  <a:srgbClr val="595959"/>
                </a:solidFill>
                <a:latin typeface="Calibri"/>
              </a:rPr>
              <a:t>Veeva CRM</a:t>
            </a:r>
          </a:p>
        </p:txBody>
      </p:sp>
      <p:sp>
        <p:nvSpPr>
          <p:cNvPr id="27" name="Rectangle 26"/>
          <p:cNvSpPr/>
          <p:nvPr/>
        </p:nvSpPr>
        <p:spPr>
          <a:xfrm>
            <a:off x="685800" y="6419088"/>
            <a:ext cx="10820095" cy="952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6473952"/>
            <a:ext cx="7315200" cy="274320"/>
          </a:xfrm>
          <a:prstGeom prst="rect">
            <a:avLst/>
          </a:prstGeom>
          <a:noFill/>
        </p:spPr>
        <p:txBody>
          <a:bodyPr wrap="square" anchor="t" lIns="0" rIns="0" tIns="0" bIns="0">
            <a:spAutoFit/>
          </a:bodyPr>
          <a:lstStyle/>
          <a:p>
            <a:pPr algn="l">
              <a:spcBef>
                <a:spcPts val="0"/>
              </a:spcBef>
              <a:spcAft>
                <a:spcPts val="0"/>
              </a:spcAft>
            </a:pPr>
            <a:r>
              <a:rPr sz="900" b="0" i="0">
                <a:solidFill>
                  <a:srgbClr val="A9AFB6"/>
                </a:solidFill>
                <a:latin typeface="Calibri"/>
              </a:rPr>
              <a:t>Cortex Atlas  ·  Illustrative prototype, synthetic data  ·  Confidential</a:t>
            </a:r>
          </a:p>
        </p:txBody>
      </p:sp>
      <p:sp>
        <p:nvSpPr>
          <p:cNvPr id="29" name="TextBox 28"/>
          <p:cNvSpPr txBox="1"/>
          <p:nvPr/>
        </p:nvSpPr>
        <p:spPr>
          <a:xfrm>
            <a:off x="10591495" y="6473952"/>
            <a:ext cx="914400" cy="274320"/>
          </a:xfrm>
          <a:prstGeom prst="rect">
            <a:avLst/>
          </a:prstGeom>
          <a:noFill/>
        </p:spPr>
        <p:txBody>
          <a:bodyPr wrap="square" anchor="t" lIns="0" rIns="0" tIns="0" bIns="0">
            <a:spAutoFit/>
          </a:bodyPr>
          <a:lstStyle/>
          <a:p>
            <a:pPr algn="r">
              <a:spcBef>
                <a:spcPts val="0"/>
              </a:spcBef>
              <a:spcAft>
                <a:spcPts val="0"/>
              </a:spcAft>
            </a:pPr>
            <a:r>
              <a:rPr sz="900" b="0" i="0">
                <a:solidFill>
                  <a:srgbClr val="A9AFB6"/>
                </a:solidFill>
                <a:latin typeface="Calibri"/>
              </a:rPr>
              <a:t>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4F4"/>
        </a:solidFill>
        <a:effectLst/>
      </p:bgPr>
    </p:bg>
    <p:spTree>
      <p:nvGrpSpPr>
        <p:cNvPr id="1" name=""/>
        <p:cNvGrpSpPr/>
        <p:nvPr/>
      </p:nvGrpSpPr>
      <p:grpSpPr/>
      <p:sp>
        <p:nvSpPr>
          <p:cNvPr id="2" name="Rectangle 1"/>
          <p:cNvSpPr/>
          <p:nvPr/>
        </p:nvSpPr>
        <p:spPr>
          <a:xfrm>
            <a:off x="685800" y="566928"/>
            <a:ext cx="310896" cy="82296"/>
          </a:xfrm>
          <a:prstGeom prst="rect">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457200"/>
            <a:ext cx="10408615" cy="320040"/>
          </a:xfrm>
          <a:prstGeom prst="rect">
            <a:avLst/>
          </a:prstGeom>
          <a:noFill/>
        </p:spPr>
        <p:txBody>
          <a:bodyPr wrap="square" anchor="t" lIns="0" rIns="0" tIns="0" bIns="0">
            <a:spAutoFit/>
          </a:bodyPr>
          <a:lstStyle/>
          <a:p>
            <a:pPr algn="l">
              <a:spcBef>
                <a:spcPts val="0"/>
              </a:spcBef>
              <a:spcAft>
                <a:spcPts val="0"/>
              </a:spcAft>
            </a:pPr>
            <a:r>
              <a:rPr sz="1250" b="1" i="0">
                <a:solidFill>
                  <a:srgbClr val="F89739"/>
                </a:solidFill>
                <a:latin typeface="Calibri"/>
              </a:rPr>
              <a:t>TOOL 2 — SYSTEM OF RECORD</a:t>
            </a:r>
          </a:p>
        </p:txBody>
      </p:sp>
      <p:sp>
        <p:nvSpPr>
          <p:cNvPr id="4" name="TextBox 3"/>
          <p:cNvSpPr txBox="1"/>
          <p:nvPr/>
        </p:nvSpPr>
        <p:spPr>
          <a:xfrm>
            <a:off x="685800" y="841248"/>
            <a:ext cx="10820095" cy="640080"/>
          </a:xfrm>
          <a:prstGeom prst="rect">
            <a:avLst/>
          </a:prstGeom>
          <a:noFill/>
        </p:spPr>
        <p:txBody>
          <a:bodyPr wrap="square" anchor="t" lIns="0" rIns="0" tIns="0" bIns="0">
            <a:spAutoFit/>
          </a:bodyPr>
          <a:lstStyle/>
          <a:p>
            <a:pPr algn="l">
              <a:spcBef>
                <a:spcPts val="0"/>
              </a:spcBef>
              <a:spcAft>
                <a:spcPts val="0"/>
              </a:spcAft>
            </a:pPr>
            <a:r>
              <a:rPr sz="2900" b="1" i="0">
                <a:solidFill>
                  <a:srgbClr val="09131B"/>
                </a:solidFill>
                <a:latin typeface="Calibri"/>
              </a:rPr>
              <a:t>Data Catalogue</a:t>
            </a:r>
          </a:p>
        </p:txBody>
      </p:sp>
      <p:sp>
        <p:nvSpPr>
          <p:cNvPr id="5" name="TextBox 4"/>
          <p:cNvSpPr txBox="1"/>
          <p:nvPr/>
        </p:nvSpPr>
        <p:spPr>
          <a:xfrm>
            <a:off x="685800" y="1481328"/>
            <a:ext cx="10820095" cy="457200"/>
          </a:xfrm>
          <a:prstGeom prst="rect">
            <a:avLst/>
          </a:prstGeom>
          <a:noFill/>
        </p:spPr>
        <p:txBody>
          <a:bodyPr wrap="square" anchor="t" lIns="0" rIns="0" tIns="0" bIns="0">
            <a:spAutoFit/>
          </a:bodyPr>
          <a:lstStyle/>
          <a:p>
            <a:pPr algn="l">
              <a:spcBef>
                <a:spcPts val="0"/>
              </a:spcBef>
              <a:spcAft>
                <a:spcPts val="0"/>
              </a:spcAft>
            </a:pPr>
            <a:r>
              <a:rPr sz="1450" b="0" i="0">
                <a:solidFill>
                  <a:srgbClr val="595959"/>
                </a:solidFill>
                <a:latin typeface="Calibri"/>
              </a:rPr>
              <a:t>The central record of every asset purchased — the single source everything links to.</a:t>
            </a:r>
          </a:p>
        </p:txBody>
      </p:sp>
      <p:sp>
        <p:nvSpPr>
          <p:cNvPr id="6" name="Rounded Rectangle 5"/>
          <p:cNvSpPr/>
          <p:nvPr/>
        </p:nvSpPr>
        <p:spPr>
          <a:xfrm>
            <a:off x="685800" y="1874519"/>
            <a:ext cx="3566160" cy="278892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86968" y="2130551"/>
            <a:ext cx="420624" cy="420624"/>
          </a:xfrm>
          <a:prstGeom prst="roundRect">
            <a:avLst>
              <a:gd name="adj" fmla="val 25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2130551"/>
            <a:ext cx="420624" cy="420624"/>
          </a:xfrm>
          <a:prstGeom prst="rect">
            <a:avLst/>
          </a:prstGeom>
          <a:noFill/>
        </p:spPr>
        <p:txBody>
          <a:bodyPr wrap="square" anchor="ctr" lIns="0" rIns="0" tIns="0" bIns="0">
            <a:spAutoFit/>
          </a:bodyPr>
          <a:lstStyle/>
          <a:p>
            <a:pPr algn="ctr">
              <a:spcBef>
                <a:spcPts val="0"/>
              </a:spcBef>
              <a:spcAft>
                <a:spcPts val="0"/>
              </a:spcAft>
            </a:pPr>
            <a:r>
              <a:rPr sz="1400" b="1" i="0">
                <a:solidFill>
                  <a:srgbClr val="09131B"/>
                </a:solidFill>
                <a:latin typeface="Calibri"/>
              </a:rPr>
              <a:t>1</a:t>
            </a:r>
          </a:p>
        </p:txBody>
      </p:sp>
      <p:sp>
        <p:nvSpPr>
          <p:cNvPr id="9" name="TextBox 8"/>
          <p:cNvSpPr txBox="1"/>
          <p:nvPr/>
        </p:nvSpPr>
        <p:spPr>
          <a:xfrm>
            <a:off x="886968" y="2743199"/>
            <a:ext cx="3163824" cy="1828800"/>
          </a:xfrm>
          <a:prstGeom prst="rect">
            <a:avLst/>
          </a:prstGeom>
          <a:noFill/>
        </p:spPr>
        <p:txBody>
          <a:bodyPr wrap="square" anchor="t" lIns="0" rIns="0" tIns="0" bIns="0">
            <a:spAutoFit/>
          </a:bodyPr>
          <a:lstStyle/>
          <a:p>
            <a:pPr algn="l">
              <a:spcBef>
                <a:spcPts val="0"/>
              </a:spcBef>
              <a:spcAft>
                <a:spcPts val="600"/>
              </a:spcAft>
            </a:pPr>
            <a:r>
              <a:rPr sz="1500" b="1" i="0">
                <a:solidFill>
                  <a:srgbClr val="09131B"/>
                </a:solidFill>
                <a:latin typeface="Calibri"/>
              </a:rPr>
              <a:t>One rich record</a:t>
            </a:r>
          </a:p>
          <a:p>
            <a:pPr algn="l">
              <a:spcBef>
                <a:spcPts val="0"/>
              </a:spcBef>
              <a:spcAft>
                <a:spcPts val="0"/>
              </a:spcAft>
            </a:pPr>
            <a:r>
              <a:rPr sz="1200" b="0" i="0">
                <a:solidFill>
                  <a:srgbClr val="595959"/>
                </a:solidFill>
                <a:latin typeface="Calibri"/>
              </a:rPr>
              <a:t>The full asset profile — identity, classification, coverage, quality, commercials, access — with Gold / Silver / Bronze quality and PII / PHI flags.</a:t>
            </a:r>
          </a:p>
        </p:txBody>
      </p:sp>
      <p:sp>
        <p:nvSpPr>
          <p:cNvPr id="10" name="Rounded Rectangle 9"/>
          <p:cNvSpPr/>
          <p:nvPr/>
        </p:nvSpPr>
        <p:spPr>
          <a:xfrm>
            <a:off x="4389120" y="1874519"/>
            <a:ext cx="3566160" cy="278892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90288" y="2130551"/>
            <a:ext cx="420624" cy="420624"/>
          </a:xfrm>
          <a:prstGeom prst="roundRect">
            <a:avLst>
              <a:gd name="adj" fmla="val 25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0288" y="2130551"/>
            <a:ext cx="420624" cy="420624"/>
          </a:xfrm>
          <a:prstGeom prst="rect">
            <a:avLst/>
          </a:prstGeom>
          <a:noFill/>
        </p:spPr>
        <p:txBody>
          <a:bodyPr wrap="square" anchor="ctr" lIns="0" rIns="0" tIns="0" bIns="0">
            <a:spAutoFit/>
          </a:bodyPr>
          <a:lstStyle/>
          <a:p>
            <a:pPr algn="ctr">
              <a:spcBef>
                <a:spcPts val="0"/>
              </a:spcBef>
              <a:spcAft>
                <a:spcPts val="0"/>
              </a:spcAft>
            </a:pPr>
            <a:r>
              <a:rPr sz="1400" b="1" i="0">
                <a:solidFill>
                  <a:srgbClr val="09131B"/>
                </a:solidFill>
                <a:latin typeface="Calibri"/>
              </a:rPr>
              <a:t>2</a:t>
            </a:r>
          </a:p>
        </p:txBody>
      </p:sp>
      <p:sp>
        <p:nvSpPr>
          <p:cNvPr id="13" name="TextBox 12"/>
          <p:cNvSpPr txBox="1"/>
          <p:nvPr/>
        </p:nvSpPr>
        <p:spPr>
          <a:xfrm>
            <a:off x="4590288" y="2743199"/>
            <a:ext cx="3163824" cy="1828800"/>
          </a:xfrm>
          <a:prstGeom prst="rect">
            <a:avLst/>
          </a:prstGeom>
          <a:noFill/>
        </p:spPr>
        <p:txBody>
          <a:bodyPr wrap="square" anchor="t" lIns="0" rIns="0" tIns="0" bIns="0">
            <a:spAutoFit/>
          </a:bodyPr>
          <a:lstStyle/>
          <a:p>
            <a:pPr algn="l">
              <a:spcBef>
                <a:spcPts val="0"/>
              </a:spcBef>
              <a:spcAft>
                <a:spcPts val="600"/>
              </a:spcAft>
            </a:pPr>
            <a:r>
              <a:rPr sz="1500" b="1" i="0">
                <a:solidFill>
                  <a:srgbClr val="09131B"/>
                </a:solidFill>
                <a:latin typeface="Calibri"/>
              </a:rPr>
              <a:t>Auto-classification</a:t>
            </a:r>
          </a:p>
          <a:p>
            <a:pPr algn="l">
              <a:spcBef>
                <a:spcPts val="0"/>
              </a:spcBef>
              <a:spcAft>
                <a:spcPts val="0"/>
              </a:spcAft>
            </a:pPr>
            <a:r>
              <a:rPr sz="1200" b="0" i="0">
                <a:solidFill>
                  <a:srgbClr val="595959"/>
                </a:solidFill>
                <a:latin typeface="Calibri"/>
              </a:rPr>
              <a:t>On a new entry, granularity and archetype drive automatic PII/PHI detection and a suggested quality tier — governance by default, not by afterthought.</a:t>
            </a:r>
          </a:p>
        </p:txBody>
      </p:sp>
      <p:sp>
        <p:nvSpPr>
          <p:cNvPr id="14" name="Rounded Rectangle 13"/>
          <p:cNvSpPr/>
          <p:nvPr/>
        </p:nvSpPr>
        <p:spPr>
          <a:xfrm>
            <a:off x="8092440" y="1874519"/>
            <a:ext cx="3566160" cy="278892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293608" y="2130551"/>
            <a:ext cx="420624" cy="420624"/>
          </a:xfrm>
          <a:prstGeom prst="roundRect">
            <a:avLst>
              <a:gd name="adj" fmla="val 25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2130551"/>
            <a:ext cx="420624" cy="420624"/>
          </a:xfrm>
          <a:prstGeom prst="rect">
            <a:avLst/>
          </a:prstGeom>
          <a:noFill/>
        </p:spPr>
        <p:txBody>
          <a:bodyPr wrap="square" anchor="ctr" lIns="0" rIns="0" tIns="0" bIns="0">
            <a:spAutoFit/>
          </a:bodyPr>
          <a:lstStyle/>
          <a:p>
            <a:pPr algn="ctr">
              <a:spcBef>
                <a:spcPts val="0"/>
              </a:spcBef>
              <a:spcAft>
                <a:spcPts val="0"/>
              </a:spcAft>
            </a:pPr>
            <a:r>
              <a:rPr sz="1400" b="1" i="0">
                <a:solidFill>
                  <a:srgbClr val="09131B"/>
                </a:solidFill>
                <a:latin typeface="Calibri"/>
              </a:rPr>
              <a:t>3</a:t>
            </a:r>
          </a:p>
        </p:txBody>
      </p:sp>
      <p:sp>
        <p:nvSpPr>
          <p:cNvPr id="17" name="TextBox 16"/>
          <p:cNvSpPr txBox="1"/>
          <p:nvPr/>
        </p:nvSpPr>
        <p:spPr>
          <a:xfrm>
            <a:off x="8293608" y="2743199"/>
            <a:ext cx="3163824" cy="1828800"/>
          </a:xfrm>
          <a:prstGeom prst="rect">
            <a:avLst/>
          </a:prstGeom>
          <a:noFill/>
        </p:spPr>
        <p:txBody>
          <a:bodyPr wrap="square" anchor="t" lIns="0" rIns="0" tIns="0" bIns="0">
            <a:spAutoFit/>
          </a:bodyPr>
          <a:lstStyle/>
          <a:p>
            <a:pPr algn="l">
              <a:spcBef>
                <a:spcPts val="0"/>
              </a:spcBef>
              <a:spcAft>
                <a:spcPts val="600"/>
              </a:spcAft>
            </a:pPr>
            <a:r>
              <a:rPr sz="1500" b="1" i="0">
                <a:solidFill>
                  <a:srgbClr val="09131B"/>
                </a:solidFill>
                <a:latin typeface="Calibri"/>
              </a:rPr>
              <a:t>Three ways in</a:t>
            </a:r>
          </a:p>
          <a:p>
            <a:pPr algn="l">
              <a:spcBef>
                <a:spcPts val="0"/>
              </a:spcBef>
              <a:spcAft>
                <a:spcPts val="0"/>
              </a:spcAft>
            </a:pPr>
            <a:r>
              <a:rPr sz="1200" b="0" i="0">
                <a:solidFill>
                  <a:srgbClr val="595959"/>
                </a:solidFill>
                <a:latin typeface="Calibri"/>
              </a:rPr>
              <a:t>An approved request, a renewal read-back, or a manual entry — all land in the same trusted record. 'Do we already own this?' finally has one answer.</a:t>
            </a:r>
          </a:p>
        </p:txBody>
      </p:sp>
      <p:sp>
        <p:nvSpPr>
          <p:cNvPr id="18" name="TextBox 17"/>
          <p:cNvSpPr txBox="1"/>
          <p:nvPr/>
        </p:nvSpPr>
        <p:spPr>
          <a:xfrm>
            <a:off x="685800" y="4983480"/>
            <a:ext cx="10820095" cy="365760"/>
          </a:xfrm>
          <a:prstGeom prst="rect">
            <a:avLst/>
          </a:prstGeom>
          <a:noFill/>
        </p:spPr>
        <p:txBody>
          <a:bodyPr wrap="square" anchor="t" lIns="0" rIns="0" tIns="0" bIns="0">
            <a:spAutoFit/>
          </a:bodyPr>
          <a:lstStyle/>
          <a:p>
            <a:pPr algn="l">
              <a:spcBef>
                <a:spcPts val="0"/>
              </a:spcBef>
              <a:spcAft>
                <a:spcPts val="0"/>
              </a:spcAft>
            </a:pPr>
            <a:r>
              <a:rPr sz="1050" b="1" i="0">
                <a:solidFill>
                  <a:srgbClr val="F89739"/>
                </a:solidFill>
                <a:latin typeface="Calibri"/>
              </a:rPr>
              <a:t>WHAT THE PROTOTYPE SURFACES</a:t>
            </a:r>
          </a:p>
        </p:txBody>
      </p:sp>
      <p:sp>
        <p:nvSpPr>
          <p:cNvPr id="19" name="TextBox 18"/>
          <p:cNvSpPr txBox="1"/>
          <p:nvPr/>
        </p:nvSpPr>
        <p:spPr>
          <a:xfrm>
            <a:off x="685800" y="5303520"/>
            <a:ext cx="10820095" cy="731520"/>
          </a:xfrm>
          <a:prstGeom prst="rect">
            <a:avLst/>
          </a:prstGeom>
          <a:noFill/>
        </p:spPr>
        <p:txBody>
          <a:bodyPr wrap="square" anchor="t" lIns="0" rIns="0" tIns="0" bIns="0">
            <a:spAutoFit/>
          </a:bodyPr>
          <a:lstStyle/>
          <a:p>
            <a:pPr algn="l">
              <a:spcBef>
                <a:spcPts val="0"/>
              </a:spcBef>
              <a:spcAft>
                <a:spcPts val="0"/>
              </a:spcAft>
            </a:pPr>
            <a:r>
              <a:rPr sz="1350" b="1" i="0">
                <a:solidFill>
                  <a:srgbClr val="09131B"/>
                </a:solidFill>
                <a:latin typeface="Calibri"/>
              </a:rPr>
              <a:t>A Bronze-tier asset is feeding a Global, strategic KPI — surfaced as a quality flag before the number is used externally.</a:t>
            </a:r>
          </a:p>
        </p:txBody>
      </p:sp>
      <p:sp>
        <p:nvSpPr>
          <p:cNvPr id="20" name="TextBox 19"/>
          <p:cNvSpPr txBox="1"/>
          <p:nvPr/>
        </p:nvSpPr>
        <p:spPr>
          <a:xfrm>
            <a:off x="685800" y="5943600"/>
            <a:ext cx="2011680" cy="292608"/>
          </a:xfrm>
          <a:prstGeom prst="rect">
            <a:avLst/>
          </a:prstGeom>
          <a:noFill/>
        </p:spPr>
        <p:txBody>
          <a:bodyPr wrap="square" anchor="t" lIns="0" rIns="0" tIns="0" bIns="0">
            <a:spAutoFit/>
          </a:bodyPr>
          <a:lstStyle/>
          <a:p>
            <a:pPr algn="l">
              <a:spcBef>
                <a:spcPts val="0"/>
              </a:spcBef>
              <a:spcAft>
                <a:spcPts val="0"/>
              </a:spcAft>
            </a:pPr>
            <a:r>
              <a:rPr sz="950" b="1" i="0">
                <a:solidFill>
                  <a:srgbClr val="595959"/>
                </a:solidFill>
                <a:latin typeface="Calibri"/>
              </a:rPr>
              <a:t>Production feeds:</a:t>
            </a:r>
          </a:p>
        </p:txBody>
      </p:sp>
      <p:sp>
        <p:nvSpPr>
          <p:cNvPr id="21" name="Rounded Rectangle 20"/>
          <p:cNvSpPr/>
          <p:nvPr/>
        </p:nvSpPr>
        <p:spPr>
          <a:xfrm>
            <a:off x="1920240" y="5907024"/>
            <a:ext cx="987551" cy="292608"/>
          </a:xfrm>
          <a:prstGeom prst="roundRect">
            <a:avLst>
              <a:gd name="adj" fmla="val 50000"/>
            </a:avLst>
          </a:prstGeom>
          <a:solidFill>
            <a:srgbClr val="F4F4F4"/>
          </a:solidFill>
          <a:ln w="9525">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20240" y="5907024"/>
            <a:ext cx="987551" cy="292608"/>
          </a:xfrm>
          <a:prstGeom prst="rect">
            <a:avLst/>
          </a:prstGeom>
          <a:noFill/>
        </p:spPr>
        <p:txBody>
          <a:bodyPr wrap="square" anchor="ctr" lIns="0" rIns="0" tIns="0" bIns="0">
            <a:spAutoFit/>
          </a:bodyPr>
          <a:lstStyle/>
          <a:p>
            <a:pPr algn="ctr">
              <a:spcBef>
                <a:spcPts val="0"/>
              </a:spcBef>
              <a:spcAft>
                <a:spcPts val="0"/>
              </a:spcAft>
            </a:pPr>
            <a:r>
              <a:rPr sz="1000" b="1" i="0">
                <a:solidFill>
                  <a:srgbClr val="595959"/>
                </a:solidFill>
                <a:latin typeface="Calibri"/>
              </a:rPr>
              <a:t>SharePoint</a:t>
            </a:r>
          </a:p>
        </p:txBody>
      </p:sp>
      <p:sp>
        <p:nvSpPr>
          <p:cNvPr id="23" name="Rounded Rectangle 22"/>
          <p:cNvSpPr/>
          <p:nvPr/>
        </p:nvSpPr>
        <p:spPr>
          <a:xfrm>
            <a:off x="3017519" y="5907024"/>
            <a:ext cx="1576425" cy="292608"/>
          </a:xfrm>
          <a:prstGeom prst="roundRect">
            <a:avLst>
              <a:gd name="adj" fmla="val 50000"/>
            </a:avLst>
          </a:prstGeom>
          <a:solidFill>
            <a:srgbClr val="F4F4F4"/>
          </a:solidFill>
          <a:ln w="9525">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17519" y="5907024"/>
            <a:ext cx="1576425" cy="292608"/>
          </a:xfrm>
          <a:prstGeom prst="rect">
            <a:avLst/>
          </a:prstGeom>
          <a:noFill/>
        </p:spPr>
        <p:txBody>
          <a:bodyPr wrap="square" anchor="ctr" lIns="0" rIns="0" tIns="0" bIns="0">
            <a:spAutoFit/>
          </a:bodyPr>
          <a:lstStyle/>
          <a:p>
            <a:pPr algn="ctr">
              <a:spcBef>
                <a:spcPts val="0"/>
              </a:spcBef>
              <a:spcAft>
                <a:spcPts val="0"/>
              </a:spcAft>
            </a:pPr>
            <a:r>
              <a:rPr sz="1000" b="1" i="0">
                <a:solidFill>
                  <a:srgbClr val="595959"/>
                </a:solidFill>
                <a:latin typeface="Calibri"/>
              </a:rPr>
              <a:t>Microsoft Purview</a:t>
            </a:r>
          </a:p>
        </p:txBody>
      </p:sp>
      <p:sp>
        <p:nvSpPr>
          <p:cNvPr id="25" name="Rounded Rectangle 24"/>
          <p:cNvSpPr/>
          <p:nvPr/>
        </p:nvSpPr>
        <p:spPr>
          <a:xfrm>
            <a:off x="4703672" y="5907024"/>
            <a:ext cx="987551" cy="292608"/>
          </a:xfrm>
          <a:prstGeom prst="roundRect">
            <a:avLst>
              <a:gd name="adj" fmla="val 50000"/>
            </a:avLst>
          </a:prstGeom>
          <a:solidFill>
            <a:srgbClr val="F4F4F4"/>
          </a:solidFill>
          <a:ln w="9525">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03672" y="5907024"/>
            <a:ext cx="987551" cy="292608"/>
          </a:xfrm>
          <a:prstGeom prst="rect">
            <a:avLst/>
          </a:prstGeom>
          <a:noFill/>
        </p:spPr>
        <p:txBody>
          <a:bodyPr wrap="square" anchor="ctr" lIns="0" rIns="0" tIns="0" bIns="0">
            <a:spAutoFit/>
          </a:bodyPr>
          <a:lstStyle/>
          <a:p>
            <a:pPr algn="ctr">
              <a:spcBef>
                <a:spcPts val="0"/>
              </a:spcBef>
              <a:spcAft>
                <a:spcPts val="0"/>
              </a:spcAft>
            </a:pPr>
            <a:r>
              <a:rPr sz="1000" b="1" i="0">
                <a:solidFill>
                  <a:srgbClr val="595959"/>
                </a:solidFill>
                <a:latin typeface="Calibri"/>
              </a:rPr>
              <a:t>Databricks</a:t>
            </a:r>
          </a:p>
        </p:txBody>
      </p:sp>
      <p:sp>
        <p:nvSpPr>
          <p:cNvPr id="27" name="Rounded Rectangle 26"/>
          <p:cNvSpPr/>
          <p:nvPr/>
        </p:nvSpPr>
        <p:spPr>
          <a:xfrm>
            <a:off x="5800951" y="5907024"/>
            <a:ext cx="735177" cy="292608"/>
          </a:xfrm>
          <a:prstGeom prst="roundRect">
            <a:avLst>
              <a:gd name="adj" fmla="val 50000"/>
            </a:avLst>
          </a:prstGeom>
          <a:solidFill>
            <a:srgbClr val="F4F4F4"/>
          </a:solidFill>
          <a:ln w="9525">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800951" y="5907024"/>
            <a:ext cx="735177" cy="292608"/>
          </a:xfrm>
          <a:prstGeom prst="rect">
            <a:avLst/>
          </a:prstGeom>
          <a:noFill/>
        </p:spPr>
        <p:txBody>
          <a:bodyPr wrap="square" anchor="ctr" lIns="0" rIns="0" tIns="0" bIns="0">
            <a:spAutoFit/>
          </a:bodyPr>
          <a:lstStyle/>
          <a:p>
            <a:pPr algn="ctr">
              <a:spcBef>
                <a:spcPts val="0"/>
              </a:spcBef>
              <a:spcAft>
                <a:spcPts val="0"/>
              </a:spcAft>
            </a:pPr>
            <a:r>
              <a:rPr sz="1000" b="1" i="0">
                <a:solidFill>
                  <a:srgbClr val="595959"/>
                </a:solidFill>
                <a:latin typeface="Calibri"/>
              </a:rPr>
              <a:t>Model N</a:t>
            </a:r>
          </a:p>
        </p:txBody>
      </p:sp>
      <p:sp>
        <p:nvSpPr>
          <p:cNvPr id="29" name="Rectangle 28"/>
          <p:cNvSpPr/>
          <p:nvPr/>
        </p:nvSpPr>
        <p:spPr>
          <a:xfrm>
            <a:off x="685800" y="6419088"/>
            <a:ext cx="10820095" cy="952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6473952"/>
            <a:ext cx="7315200" cy="274320"/>
          </a:xfrm>
          <a:prstGeom prst="rect">
            <a:avLst/>
          </a:prstGeom>
          <a:noFill/>
        </p:spPr>
        <p:txBody>
          <a:bodyPr wrap="square" anchor="t" lIns="0" rIns="0" tIns="0" bIns="0">
            <a:spAutoFit/>
          </a:bodyPr>
          <a:lstStyle/>
          <a:p>
            <a:pPr algn="l">
              <a:spcBef>
                <a:spcPts val="0"/>
              </a:spcBef>
              <a:spcAft>
                <a:spcPts val="0"/>
              </a:spcAft>
            </a:pPr>
            <a:r>
              <a:rPr sz="900" b="0" i="0">
                <a:solidFill>
                  <a:srgbClr val="A9AFB6"/>
                </a:solidFill>
                <a:latin typeface="Calibri"/>
              </a:rPr>
              <a:t>Cortex Atlas  ·  Illustrative prototype, synthetic data  ·  Confidential</a:t>
            </a:r>
          </a:p>
        </p:txBody>
      </p:sp>
      <p:sp>
        <p:nvSpPr>
          <p:cNvPr id="31" name="TextBox 30"/>
          <p:cNvSpPr txBox="1"/>
          <p:nvPr/>
        </p:nvSpPr>
        <p:spPr>
          <a:xfrm>
            <a:off x="10591495" y="6473952"/>
            <a:ext cx="914400" cy="274320"/>
          </a:xfrm>
          <a:prstGeom prst="rect">
            <a:avLst/>
          </a:prstGeom>
          <a:noFill/>
        </p:spPr>
        <p:txBody>
          <a:bodyPr wrap="square" anchor="t" lIns="0" rIns="0" tIns="0" bIns="0">
            <a:spAutoFit/>
          </a:bodyPr>
          <a:lstStyle/>
          <a:p>
            <a:pPr algn="r">
              <a:spcBef>
                <a:spcPts val="0"/>
              </a:spcBef>
              <a:spcAft>
                <a:spcPts val="0"/>
              </a:spcAft>
            </a:pPr>
            <a:r>
              <a:rPr sz="900" b="0" i="0">
                <a:solidFill>
                  <a:srgbClr val="A9AFB6"/>
                </a:solidFill>
                <a:latin typeface="Calibri"/>
              </a:rPr>
              <a:t>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4F4"/>
        </a:solidFill>
        <a:effectLst/>
      </p:bgPr>
    </p:bg>
    <p:spTree>
      <p:nvGrpSpPr>
        <p:cNvPr id="1" name=""/>
        <p:cNvGrpSpPr/>
        <p:nvPr/>
      </p:nvGrpSpPr>
      <p:grpSpPr/>
      <p:sp>
        <p:nvSpPr>
          <p:cNvPr id="2" name="Rectangle 1"/>
          <p:cNvSpPr/>
          <p:nvPr/>
        </p:nvSpPr>
        <p:spPr>
          <a:xfrm>
            <a:off x="685800" y="566928"/>
            <a:ext cx="310896" cy="82296"/>
          </a:xfrm>
          <a:prstGeom prst="rect">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457200"/>
            <a:ext cx="10408615" cy="320040"/>
          </a:xfrm>
          <a:prstGeom prst="rect">
            <a:avLst/>
          </a:prstGeom>
          <a:noFill/>
        </p:spPr>
        <p:txBody>
          <a:bodyPr wrap="square" anchor="t" lIns="0" rIns="0" tIns="0" bIns="0">
            <a:spAutoFit/>
          </a:bodyPr>
          <a:lstStyle/>
          <a:p>
            <a:pPr algn="l">
              <a:spcBef>
                <a:spcPts val="0"/>
              </a:spcBef>
              <a:spcAft>
                <a:spcPts val="0"/>
              </a:spcAft>
            </a:pPr>
            <a:r>
              <a:rPr sz="1250" b="1" i="0">
                <a:solidFill>
                  <a:srgbClr val="F89739"/>
                </a:solidFill>
                <a:latin typeface="Calibri"/>
              </a:rPr>
              <a:t>TOOL 3 — LINEAGE</a:t>
            </a:r>
          </a:p>
        </p:txBody>
      </p:sp>
      <p:sp>
        <p:nvSpPr>
          <p:cNvPr id="4" name="TextBox 3"/>
          <p:cNvSpPr txBox="1"/>
          <p:nvPr/>
        </p:nvSpPr>
        <p:spPr>
          <a:xfrm>
            <a:off x="685800" y="841248"/>
            <a:ext cx="10820095" cy="640080"/>
          </a:xfrm>
          <a:prstGeom prst="rect">
            <a:avLst/>
          </a:prstGeom>
          <a:noFill/>
        </p:spPr>
        <p:txBody>
          <a:bodyPr wrap="square" anchor="t" lIns="0" rIns="0" tIns="0" bIns="0">
            <a:spAutoFit/>
          </a:bodyPr>
          <a:lstStyle/>
          <a:p>
            <a:pPr algn="l">
              <a:spcBef>
                <a:spcPts val="0"/>
              </a:spcBef>
              <a:spcAft>
                <a:spcPts val="0"/>
              </a:spcAft>
            </a:pPr>
            <a:r>
              <a:rPr sz="2900" b="1" i="0">
                <a:solidFill>
                  <a:srgbClr val="09131B"/>
                </a:solidFill>
                <a:latin typeface="Calibri"/>
              </a:rPr>
              <a:t>KPI Catalogue</a:t>
            </a:r>
          </a:p>
        </p:txBody>
      </p:sp>
      <p:sp>
        <p:nvSpPr>
          <p:cNvPr id="5" name="TextBox 4"/>
          <p:cNvSpPr txBox="1"/>
          <p:nvPr/>
        </p:nvSpPr>
        <p:spPr>
          <a:xfrm>
            <a:off x="685800" y="1481328"/>
            <a:ext cx="10820095" cy="457200"/>
          </a:xfrm>
          <a:prstGeom prst="rect">
            <a:avLst/>
          </a:prstGeom>
          <a:noFill/>
        </p:spPr>
        <p:txBody>
          <a:bodyPr wrap="square" anchor="t" lIns="0" rIns="0" tIns="0" bIns="0">
            <a:spAutoFit/>
          </a:bodyPr>
          <a:lstStyle/>
          <a:p>
            <a:pPr algn="l">
              <a:spcBef>
                <a:spcPts val="0"/>
              </a:spcBef>
              <a:spcAft>
                <a:spcPts val="0"/>
              </a:spcAft>
            </a:pPr>
            <a:r>
              <a:rPr sz="1450" b="0" i="0">
                <a:solidFill>
                  <a:srgbClr val="595959"/>
                </a:solidFill>
                <a:latin typeface="Calibri"/>
              </a:rPr>
              <a:t>The registry of metrics built on the data — each tied back to its source.</a:t>
            </a:r>
          </a:p>
        </p:txBody>
      </p:sp>
      <p:sp>
        <p:nvSpPr>
          <p:cNvPr id="6" name="Rounded Rectangle 5"/>
          <p:cNvSpPr/>
          <p:nvPr/>
        </p:nvSpPr>
        <p:spPr>
          <a:xfrm>
            <a:off x="685800" y="1874519"/>
            <a:ext cx="3566160" cy="278892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86968" y="2130551"/>
            <a:ext cx="420624" cy="420624"/>
          </a:xfrm>
          <a:prstGeom prst="roundRect">
            <a:avLst>
              <a:gd name="adj" fmla="val 25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2130551"/>
            <a:ext cx="420624" cy="420624"/>
          </a:xfrm>
          <a:prstGeom prst="rect">
            <a:avLst/>
          </a:prstGeom>
          <a:noFill/>
        </p:spPr>
        <p:txBody>
          <a:bodyPr wrap="square" anchor="ctr" lIns="0" rIns="0" tIns="0" bIns="0">
            <a:spAutoFit/>
          </a:bodyPr>
          <a:lstStyle/>
          <a:p>
            <a:pPr algn="ctr">
              <a:spcBef>
                <a:spcPts val="0"/>
              </a:spcBef>
              <a:spcAft>
                <a:spcPts val="0"/>
              </a:spcAft>
            </a:pPr>
            <a:r>
              <a:rPr sz="1400" b="1" i="0">
                <a:solidFill>
                  <a:srgbClr val="09131B"/>
                </a:solidFill>
                <a:latin typeface="Calibri"/>
              </a:rPr>
              <a:t>1</a:t>
            </a:r>
          </a:p>
        </p:txBody>
      </p:sp>
      <p:sp>
        <p:nvSpPr>
          <p:cNvPr id="9" name="TextBox 8"/>
          <p:cNvSpPr txBox="1"/>
          <p:nvPr/>
        </p:nvSpPr>
        <p:spPr>
          <a:xfrm>
            <a:off x="886968" y="2743199"/>
            <a:ext cx="3163824" cy="1828800"/>
          </a:xfrm>
          <a:prstGeom prst="rect">
            <a:avLst/>
          </a:prstGeom>
          <a:noFill/>
        </p:spPr>
        <p:txBody>
          <a:bodyPr wrap="square" anchor="t" lIns="0" rIns="0" tIns="0" bIns="0">
            <a:spAutoFit/>
          </a:bodyPr>
          <a:lstStyle/>
          <a:p>
            <a:pPr algn="l">
              <a:spcBef>
                <a:spcPts val="0"/>
              </a:spcBef>
              <a:spcAft>
                <a:spcPts val="600"/>
              </a:spcAft>
            </a:pPr>
            <a:r>
              <a:rPr sz="1500" b="1" i="0">
                <a:solidFill>
                  <a:srgbClr val="09131B"/>
                </a:solidFill>
                <a:latin typeface="Calibri"/>
              </a:rPr>
              <a:t>Full KPI metadata</a:t>
            </a:r>
          </a:p>
          <a:p>
            <a:pPr algn="l">
              <a:spcBef>
                <a:spcPts val="0"/>
              </a:spcBef>
              <a:spcAft>
                <a:spcPts val="0"/>
              </a:spcAft>
            </a:pPr>
            <a:r>
              <a:rPr sz="1200" b="0" i="0">
                <a:solidFill>
                  <a:srgbClr val="595959"/>
                </a:solidFill>
                <a:latin typeface="Calibri"/>
              </a:rPr>
              <a:t>Definition, methodology, market definition, cadence, deliverables and contacts — the institutional memory of every metric, in one place.</a:t>
            </a:r>
          </a:p>
        </p:txBody>
      </p:sp>
      <p:sp>
        <p:nvSpPr>
          <p:cNvPr id="10" name="Rounded Rectangle 9"/>
          <p:cNvSpPr/>
          <p:nvPr/>
        </p:nvSpPr>
        <p:spPr>
          <a:xfrm>
            <a:off x="4389120" y="1874519"/>
            <a:ext cx="3566160" cy="278892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90288" y="2130551"/>
            <a:ext cx="420624" cy="420624"/>
          </a:xfrm>
          <a:prstGeom prst="roundRect">
            <a:avLst>
              <a:gd name="adj" fmla="val 25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0288" y="2130551"/>
            <a:ext cx="420624" cy="420624"/>
          </a:xfrm>
          <a:prstGeom prst="rect">
            <a:avLst/>
          </a:prstGeom>
          <a:noFill/>
        </p:spPr>
        <p:txBody>
          <a:bodyPr wrap="square" anchor="ctr" lIns="0" rIns="0" tIns="0" bIns="0">
            <a:spAutoFit/>
          </a:bodyPr>
          <a:lstStyle/>
          <a:p>
            <a:pPr algn="ctr">
              <a:spcBef>
                <a:spcPts val="0"/>
              </a:spcBef>
              <a:spcAft>
                <a:spcPts val="0"/>
              </a:spcAft>
            </a:pPr>
            <a:r>
              <a:rPr sz="1400" b="1" i="0">
                <a:solidFill>
                  <a:srgbClr val="09131B"/>
                </a:solidFill>
                <a:latin typeface="Calibri"/>
              </a:rPr>
              <a:t>2</a:t>
            </a:r>
          </a:p>
        </p:txBody>
      </p:sp>
      <p:sp>
        <p:nvSpPr>
          <p:cNvPr id="13" name="TextBox 12"/>
          <p:cNvSpPr txBox="1"/>
          <p:nvPr/>
        </p:nvSpPr>
        <p:spPr>
          <a:xfrm>
            <a:off x="4590288" y="2743199"/>
            <a:ext cx="3163824" cy="1828800"/>
          </a:xfrm>
          <a:prstGeom prst="rect">
            <a:avLst/>
          </a:prstGeom>
          <a:noFill/>
        </p:spPr>
        <p:txBody>
          <a:bodyPr wrap="square" anchor="t" lIns="0" rIns="0" tIns="0" bIns="0">
            <a:spAutoFit/>
          </a:bodyPr>
          <a:lstStyle/>
          <a:p>
            <a:pPr algn="l">
              <a:spcBef>
                <a:spcPts val="0"/>
              </a:spcBef>
              <a:spcAft>
                <a:spcPts val="600"/>
              </a:spcAft>
            </a:pPr>
            <a:r>
              <a:rPr sz="1500" b="1" i="0">
                <a:solidFill>
                  <a:srgbClr val="09131B"/>
                </a:solidFill>
                <a:latin typeface="Calibri"/>
              </a:rPr>
              <a:t>Lineage to source</a:t>
            </a:r>
          </a:p>
          <a:p>
            <a:pPr algn="l">
              <a:spcBef>
                <a:spcPts val="0"/>
              </a:spcBef>
              <a:spcAft>
                <a:spcPts val="0"/>
              </a:spcAft>
            </a:pPr>
            <a:r>
              <a:rPr sz="1200" b="0" i="0">
                <a:solidFill>
                  <a:srgbClr val="595959"/>
                </a:solidFill>
                <a:latin typeface="Calibri"/>
              </a:rPr>
              <a:t>Every KPI links to the catalogue asset (and therefore the vendor) that feeds it — so you can trace any number to its origin.</a:t>
            </a:r>
          </a:p>
        </p:txBody>
      </p:sp>
      <p:sp>
        <p:nvSpPr>
          <p:cNvPr id="14" name="Rounded Rectangle 13"/>
          <p:cNvSpPr/>
          <p:nvPr/>
        </p:nvSpPr>
        <p:spPr>
          <a:xfrm>
            <a:off x="8092440" y="1874519"/>
            <a:ext cx="3566160" cy="278892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293608" y="2130551"/>
            <a:ext cx="420624" cy="420624"/>
          </a:xfrm>
          <a:prstGeom prst="roundRect">
            <a:avLst>
              <a:gd name="adj" fmla="val 25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2130551"/>
            <a:ext cx="420624" cy="420624"/>
          </a:xfrm>
          <a:prstGeom prst="rect">
            <a:avLst/>
          </a:prstGeom>
          <a:noFill/>
        </p:spPr>
        <p:txBody>
          <a:bodyPr wrap="square" anchor="ctr" lIns="0" rIns="0" tIns="0" bIns="0">
            <a:spAutoFit/>
          </a:bodyPr>
          <a:lstStyle/>
          <a:p>
            <a:pPr algn="ctr">
              <a:spcBef>
                <a:spcPts val="0"/>
              </a:spcBef>
              <a:spcAft>
                <a:spcPts val="0"/>
              </a:spcAft>
            </a:pPr>
            <a:r>
              <a:rPr sz="1400" b="1" i="0">
                <a:solidFill>
                  <a:srgbClr val="09131B"/>
                </a:solidFill>
                <a:latin typeface="Calibri"/>
              </a:rPr>
              <a:t>3</a:t>
            </a:r>
          </a:p>
        </p:txBody>
      </p:sp>
      <p:sp>
        <p:nvSpPr>
          <p:cNvPr id="17" name="TextBox 16"/>
          <p:cNvSpPr txBox="1"/>
          <p:nvPr/>
        </p:nvSpPr>
        <p:spPr>
          <a:xfrm>
            <a:off x="8293608" y="2743199"/>
            <a:ext cx="3163824" cy="1828800"/>
          </a:xfrm>
          <a:prstGeom prst="rect">
            <a:avLst/>
          </a:prstGeom>
          <a:noFill/>
        </p:spPr>
        <p:txBody>
          <a:bodyPr wrap="square" anchor="t" lIns="0" rIns="0" tIns="0" bIns="0">
            <a:spAutoFit/>
          </a:bodyPr>
          <a:lstStyle/>
          <a:p>
            <a:pPr algn="l">
              <a:spcBef>
                <a:spcPts val="0"/>
              </a:spcBef>
              <a:spcAft>
                <a:spcPts val="600"/>
              </a:spcAft>
            </a:pPr>
            <a:r>
              <a:rPr sz="1500" b="1" i="0">
                <a:solidFill>
                  <a:srgbClr val="09131B"/>
                </a:solidFill>
                <a:latin typeface="Calibri"/>
              </a:rPr>
              <a:t>Quality risk, visible</a:t>
            </a:r>
          </a:p>
          <a:p>
            <a:pPr algn="l">
              <a:spcBef>
                <a:spcPts val="0"/>
              </a:spcBef>
              <a:spcAft>
                <a:spcPts val="0"/>
              </a:spcAft>
            </a:pPr>
            <a:r>
              <a:rPr sz="1200" b="0" i="0">
                <a:solidFill>
                  <a:srgbClr val="595959"/>
                </a:solidFill>
                <a:latin typeface="Calibri"/>
              </a:rPr>
              <a:t>When a strategic KPI rests on a low-tier asset, Atlas flags it — you learn how trustworthy a metric is, not just what it says.</a:t>
            </a:r>
          </a:p>
        </p:txBody>
      </p:sp>
      <p:sp>
        <p:nvSpPr>
          <p:cNvPr id="18" name="TextBox 17"/>
          <p:cNvSpPr txBox="1"/>
          <p:nvPr/>
        </p:nvSpPr>
        <p:spPr>
          <a:xfrm>
            <a:off x="685800" y="4983480"/>
            <a:ext cx="10820095" cy="365760"/>
          </a:xfrm>
          <a:prstGeom prst="rect">
            <a:avLst/>
          </a:prstGeom>
          <a:noFill/>
        </p:spPr>
        <p:txBody>
          <a:bodyPr wrap="square" anchor="t" lIns="0" rIns="0" tIns="0" bIns="0">
            <a:spAutoFit/>
          </a:bodyPr>
          <a:lstStyle/>
          <a:p>
            <a:pPr algn="l">
              <a:spcBef>
                <a:spcPts val="0"/>
              </a:spcBef>
              <a:spcAft>
                <a:spcPts val="0"/>
              </a:spcAft>
            </a:pPr>
            <a:r>
              <a:rPr sz="1050" b="1" i="0">
                <a:solidFill>
                  <a:srgbClr val="F89739"/>
                </a:solidFill>
                <a:latin typeface="Calibri"/>
              </a:rPr>
              <a:t>WHAT THE PROTOTYPE SURFACES</a:t>
            </a:r>
          </a:p>
        </p:txBody>
      </p:sp>
      <p:sp>
        <p:nvSpPr>
          <p:cNvPr id="19" name="TextBox 18"/>
          <p:cNvSpPr txBox="1"/>
          <p:nvPr/>
        </p:nvSpPr>
        <p:spPr>
          <a:xfrm>
            <a:off x="685800" y="5303520"/>
            <a:ext cx="10820095" cy="731520"/>
          </a:xfrm>
          <a:prstGeom prst="rect">
            <a:avLst/>
          </a:prstGeom>
          <a:noFill/>
        </p:spPr>
        <p:txBody>
          <a:bodyPr wrap="square" anchor="t" lIns="0" rIns="0" tIns="0" bIns="0">
            <a:spAutoFit/>
          </a:bodyPr>
          <a:lstStyle/>
          <a:p>
            <a:pPr algn="l">
              <a:spcBef>
                <a:spcPts val="0"/>
              </a:spcBef>
              <a:spcAft>
                <a:spcPts val="0"/>
              </a:spcAft>
            </a:pPr>
            <a:r>
              <a:rPr sz="1350" b="1" i="0">
                <a:solidFill>
                  <a:srgbClr val="09131B"/>
                </a:solidFill>
                <a:latin typeface="Calibri"/>
              </a:rPr>
              <a:t>Trace 'Diagnosed-but-Untreated Funnel' in two clicks: KPI → Bronze registry asset → vendor Quanta — with the quality caveat attached.</a:t>
            </a:r>
          </a:p>
        </p:txBody>
      </p:sp>
      <p:sp>
        <p:nvSpPr>
          <p:cNvPr id="20" name="TextBox 19"/>
          <p:cNvSpPr txBox="1"/>
          <p:nvPr/>
        </p:nvSpPr>
        <p:spPr>
          <a:xfrm>
            <a:off x="685800" y="5943600"/>
            <a:ext cx="2011680" cy="292608"/>
          </a:xfrm>
          <a:prstGeom prst="rect">
            <a:avLst/>
          </a:prstGeom>
          <a:noFill/>
        </p:spPr>
        <p:txBody>
          <a:bodyPr wrap="square" anchor="t" lIns="0" rIns="0" tIns="0" bIns="0">
            <a:spAutoFit/>
          </a:bodyPr>
          <a:lstStyle/>
          <a:p>
            <a:pPr algn="l">
              <a:spcBef>
                <a:spcPts val="0"/>
              </a:spcBef>
              <a:spcAft>
                <a:spcPts val="0"/>
              </a:spcAft>
            </a:pPr>
            <a:r>
              <a:rPr sz="950" b="1" i="0">
                <a:solidFill>
                  <a:srgbClr val="595959"/>
                </a:solidFill>
                <a:latin typeface="Calibri"/>
              </a:rPr>
              <a:t>Production feeds:</a:t>
            </a:r>
          </a:p>
        </p:txBody>
      </p:sp>
      <p:sp>
        <p:nvSpPr>
          <p:cNvPr id="21" name="Rounded Rectangle 20"/>
          <p:cNvSpPr/>
          <p:nvPr/>
        </p:nvSpPr>
        <p:spPr>
          <a:xfrm>
            <a:off x="1920240" y="5907024"/>
            <a:ext cx="987551" cy="292608"/>
          </a:xfrm>
          <a:prstGeom prst="roundRect">
            <a:avLst>
              <a:gd name="adj" fmla="val 50000"/>
            </a:avLst>
          </a:prstGeom>
          <a:solidFill>
            <a:srgbClr val="F4F4F4"/>
          </a:solidFill>
          <a:ln w="9525">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20240" y="5907024"/>
            <a:ext cx="987551" cy="292608"/>
          </a:xfrm>
          <a:prstGeom prst="rect">
            <a:avLst/>
          </a:prstGeom>
          <a:noFill/>
        </p:spPr>
        <p:txBody>
          <a:bodyPr wrap="square" anchor="ctr" lIns="0" rIns="0" tIns="0" bIns="0">
            <a:spAutoFit/>
          </a:bodyPr>
          <a:lstStyle/>
          <a:p>
            <a:pPr algn="ctr">
              <a:spcBef>
                <a:spcPts val="0"/>
              </a:spcBef>
              <a:spcAft>
                <a:spcPts val="0"/>
              </a:spcAft>
            </a:pPr>
            <a:r>
              <a:rPr sz="1000" b="1" i="0">
                <a:solidFill>
                  <a:srgbClr val="595959"/>
                </a:solidFill>
                <a:latin typeface="Calibri"/>
              </a:rPr>
              <a:t>SharePoint</a:t>
            </a:r>
          </a:p>
        </p:txBody>
      </p:sp>
      <p:sp>
        <p:nvSpPr>
          <p:cNvPr id="23" name="Rounded Rectangle 22"/>
          <p:cNvSpPr/>
          <p:nvPr/>
        </p:nvSpPr>
        <p:spPr>
          <a:xfrm>
            <a:off x="3017519" y="5907024"/>
            <a:ext cx="1239926" cy="292608"/>
          </a:xfrm>
          <a:prstGeom prst="roundRect">
            <a:avLst>
              <a:gd name="adj" fmla="val 50000"/>
            </a:avLst>
          </a:prstGeom>
          <a:solidFill>
            <a:srgbClr val="F4F4F4"/>
          </a:solidFill>
          <a:ln w="9525">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17519" y="5907024"/>
            <a:ext cx="1239926" cy="292608"/>
          </a:xfrm>
          <a:prstGeom prst="rect">
            <a:avLst/>
          </a:prstGeom>
          <a:noFill/>
        </p:spPr>
        <p:txBody>
          <a:bodyPr wrap="square" anchor="ctr" lIns="0" rIns="0" tIns="0" bIns="0">
            <a:spAutoFit/>
          </a:bodyPr>
          <a:lstStyle/>
          <a:p>
            <a:pPr algn="ctr">
              <a:spcBef>
                <a:spcPts val="0"/>
              </a:spcBef>
              <a:spcAft>
                <a:spcPts val="0"/>
              </a:spcAft>
            </a:pPr>
            <a:r>
              <a:rPr sz="1000" b="1" i="0">
                <a:solidFill>
                  <a:srgbClr val="595959"/>
                </a:solidFill>
                <a:latin typeface="Calibri"/>
              </a:rPr>
              <a:t>KPI Catalogue</a:t>
            </a:r>
          </a:p>
        </p:txBody>
      </p:sp>
      <p:sp>
        <p:nvSpPr>
          <p:cNvPr id="25" name="Rounded Rectangle 24"/>
          <p:cNvSpPr/>
          <p:nvPr/>
        </p:nvSpPr>
        <p:spPr>
          <a:xfrm>
            <a:off x="4367173" y="5907024"/>
            <a:ext cx="1576425" cy="292608"/>
          </a:xfrm>
          <a:prstGeom prst="roundRect">
            <a:avLst>
              <a:gd name="adj" fmla="val 50000"/>
            </a:avLst>
          </a:prstGeom>
          <a:solidFill>
            <a:srgbClr val="F4F4F4"/>
          </a:solidFill>
          <a:ln w="9525">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67173" y="5907024"/>
            <a:ext cx="1576425" cy="292608"/>
          </a:xfrm>
          <a:prstGeom prst="rect">
            <a:avLst/>
          </a:prstGeom>
          <a:noFill/>
        </p:spPr>
        <p:txBody>
          <a:bodyPr wrap="square" anchor="ctr" lIns="0" rIns="0" tIns="0" bIns="0">
            <a:spAutoFit/>
          </a:bodyPr>
          <a:lstStyle/>
          <a:p>
            <a:pPr algn="ctr">
              <a:spcBef>
                <a:spcPts val="0"/>
              </a:spcBef>
              <a:spcAft>
                <a:spcPts val="0"/>
              </a:spcAft>
            </a:pPr>
            <a:r>
              <a:rPr sz="1000" b="1" i="0">
                <a:solidFill>
                  <a:srgbClr val="595959"/>
                </a:solidFill>
                <a:latin typeface="Calibri"/>
              </a:rPr>
              <a:t>Microsoft Purview</a:t>
            </a:r>
          </a:p>
        </p:txBody>
      </p:sp>
      <p:sp>
        <p:nvSpPr>
          <p:cNvPr id="27" name="Rectangle 26"/>
          <p:cNvSpPr/>
          <p:nvPr/>
        </p:nvSpPr>
        <p:spPr>
          <a:xfrm>
            <a:off x="685800" y="6419088"/>
            <a:ext cx="10820095" cy="952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6473952"/>
            <a:ext cx="7315200" cy="274320"/>
          </a:xfrm>
          <a:prstGeom prst="rect">
            <a:avLst/>
          </a:prstGeom>
          <a:noFill/>
        </p:spPr>
        <p:txBody>
          <a:bodyPr wrap="square" anchor="t" lIns="0" rIns="0" tIns="0" bIns="0">
            <a:spAutoFit/>
          </a:bodyPr>
          <a:lstStyle/>
          <a:p>
            <a:pPr algn="l">
              <a:spcBef>
                <a:spcPts val="0"/>
              </a:spcBef>
              <a:spcAft>
                <a:spcPts val="0"/>
              </a:spcAft>
            </a:pPr>
            <a:r>
              <a:rPr sz="900" b="0" i="0">
                <a:solidFill>
                  <a:srgbClr val="A9AFB6"/>
                </a:solidFill>
                <a:latin typeface="Calibri"/>
              </a:rPr>
              <a:t>Cortex Atlas  ·  Illustrative prototype, synthetic data  ·  Confidential</a:t>
            </a:r>
          </a:p>
        </p:txBody>
      </p:sp>
      <p:sp>
        <p:nvSpPr>
          <p:cNvPr id="29" name="TextBox 28"/>
          <p:cNvSpPr txBox="1"/>
          <p:nvPr/>
        </p:nvSpPr>
        <p:spPr>
          <a:xfrm>
            <a:off x="10591495" y="6473952"/>
            <a:ext cx="914400" cy="274320"/>
          </a:xfrm>
          <a:prstGeom prst="rect">
            <a:avLst/>
          </a:prstGeom>
          <a:noFill/>
        </p:spPr>
        <p:txBody>
          <a:bodyPr wrap="square" anchor="t" lIns="0" rIns="0" tIns="0" bIns="0">
            <a:spAutoFit/>
          </a:bodyPr>
          <a:lstStyle/>
          <a:p>
            <a:pPr algn="r">
              <a:spcBef>
                <a:spcPts val="0"/>
              </a:spcBef>
              <a:spcAft>
                <a:spcPts val="0"/>
              </a:spcAft>
            </a:pPr>
            <a:r>
              <a:rPr sz="900" b="0" i="0">
                <a:solidFill>
                  <a:srgbClr val="A9AFB6"/>
                </a:solidFill>
                <a:latin typeface="Calibri"/>
              </a:rPr>
              <a:t>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4F4"/>
        </a:solidFill>
        <a:effectLst/>
      </p:bgPr>
    </p:bg>
    <p:spTree>
      <p:nvGrpSpPr>
        <p:cNvPr id="1" name=""/>
        <p:cNvGrpSpPr/>
        <p:nvPr/>
      </p:nvGrpSpPr>
      <p:grpSpPr/>
      <p:sp>
        <p:nvSpPr>
          <p:cNvPr id="2" name="Rectangle 1"/>
          <p:cNvSpPr/>
          <p:nvPr/>
        </p:nvSpPr>
        <p:spPr>
          <a:xfrm>
            <a:off x="685800" y="566928"/>
            <a:ext cx="310896" cy="82296"/>
          </a:xfrm>
          <a:prstGeom prst="rect">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457200"/>
            <a:ext cx="10408615" cy="320040"/>
          </a:xfrm>
          <a:prstGeom prst="rect">
            <a:avLst/>
          </a:prstGeom>
          <a:noFill/>
        </p:spPr>
        <p:txBody>
          <a:bodyPr wrap="square" anchor="t" lIns="0" rIns="0" tIns="0" bIns="0">
            <a:spAutoFit/>
          </a:bodyPr>
          <a:lstStyle/>
          <a:p>
            <a:pPr algn="l">
              <a:spcBef>
                <a:spcPts val="0"/>
              </a:spcBef>
              <a:spcAft>
                <a:spcPts val="0"/>
              </a:spcAft>
            </a:pPr>
            <a:r>
              <a:rPr sz="1250" b="1" i="0">
                <a:solidFill>
                  <a:srgbClr val="F89739"/>
                </a:solidFill>
                <a:latin typeface="Calibri"/>
              </a:rPr>
              <a:t>TOOL 4 — INVENTORY</a:t>
            </a:r>
          </a:p>
        </p:txBody>
      </p:sp>
      <p:sp>
        <p:nvSpPr>
          <p:cNvPr id="4" name="TextBox 3"/>
          <p:cNvSpPr txBox="1"/>
          <p:nvPr/>
        </p:nvSpPr>
        <p:spPr>
          <a:xfrm>
            <a:off x="685800" y="841248"/>
            <a:ext cx="10820095" cy="640080"/>
          </a:xfrm>
          <a:prstGeom prst="rect">
            <a:avLst/>
          </a:prstGeom>
          <a:noFill/>
        </p:spPr>
        <p:txBody>
          <a:bodyPr wrap="square" anchor="t" lIns="0" rIns="0" tIns="0" bIns="0">
            <a:spAutoFit/>
          </a:bodyPr>
          <a:lstStyle/>
          <a:p>
            <a:pPr algn="l">
              <a:spcBef>
                <a:spcPts val="0"/>
              </a:spcBef>
              <a:spcAft>
                <a:spcPts val="0"/>
              </a:spcAft>
            </a:pPr>
            <a:r>
              <a:rPr sz="2900" b="1" i="0">
                <a:solidFill>
                  <a:srgbClr val="09131B"/>
                </a:solidFill>
                <a:latin typeface="Calibri"/>
              </a:rPr>
              <a:t>Vendor Hub</a:t>
            </a:r>
          </a:p>
        </p:txBody>
      </p:sp>
      <p:sp>
        <p:nvSpPr>
          <p:cNvPr id="5" name="TextBox 4"/>
          <p:cNvSpPr txBox="1"/>
          <p:nvPr/>
        </p:nvSpPr>
        <p:spPr>
          <a:xfrm>
            <a:off x="685800" y="1481328"/>
            <a:ext cx="10820095" cy="457200"/>
          </a:xfrm>
          <a:prstGeom prst="rect">
            <a:avLst/>
          </a:prstGeom>
          <a:noFill/>
        </p:spPr>
        <p:txBody>
          <a:bodyPr wrap="square" anchor="t" lIns="0" rIns="0" tIns="0" bIns="0">
            <a:spAutoFit/>
          </a:bodyPr>
          <a:lstStyle/>
          <a:p>
            <a:pPr algn="l">
              <a:spcBef>
                <a:spcPts val="0"/>
              </a:spcBef>
              <a:spcAft>
                <a:spcPts val="0"/>
              </a:spcAft>
            </a:pPr>
            <a:r>
              <a:rPr sz="1450" b="0" i="0">
                <a:solidFill>
                  <a:srgbClr val="595959"/>
                </a:solidFill>
                <a:latin typeface="Calibri"/>
              </a:rPr>
              <a:t>The vendor-centric view: who they are, what they hold, and what we actually buy.</a:t>
            </a:r>
          </a:p>
        </p:txBody>
      </p:sp>
      <p:sp>
        <p:nvSpPr>
          <p:cNvPr id="6" name="Rounded Rectangle 5"/>
          <p:cNvSpPr/>
          <p:nvPr/>
        </p:nvSpPr>
        <p:spPr>
          <a:xfrm>
            <a:off x="685800" y="1874519"/>
            <a:ext cx="3566160" cy="278892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86968" y="2130551"/>
            <a:ext cx="420624" cy="420624"/>
          </a:xfrm>
          <a:prstGeom prst="roundRect">
            <a:avLst>
              <a:gd name="adj" fmla="val 25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2130551"/>
            <a:ext cx="420624" cy="420624"/>
          </a:xfrm>
          <a:prstGeom prst="rect">
            <a:avLst/>
          </a:prstGeom>
          <a:noFill/>
        </p:spPr>
        <p:txBody>
          <a:bodyPr wrap="square" anchor="ctr" lIns="0" rIns="0" tIns="0" bIns="0">
            <a:spAutoFit/>
          </a:bodyPr>
          <a:lstStyle/>
          <a:p>
            <a:pPr algn="ctr">
              <a:spcBef>
                <a:spcPts val="0"/>
              </a:spcBef>
              <a:spcAft>
                <a:spcPts val="0"/>
              </a:spcAft>
            </a:pPr>
            <a:r>
              <a:rPr sz="1400" b="1" i="0">
                <a:solidFill>
                  <a:srgbClr val="09131B"/>
                </a:solidFill>
                <a:latin typeface="Calibri"/>
              </a:rPr>
              <a:t>1</a:t>
            </a:r>
          </a:p>
        </p:txBody>
      </p:sp>
      <p:sp>
        <p:nvSpPr>
          <p:cNvPr id="9" name="TextBox 8"/>
          <p:cNvSpPr txBox="1"/>
          <p:nvPr/>
        </p:nvSpPr>
        <p:spPr>
          <a:xfrm>
            <a:off x="886968" y="2743199"/>
            <a:ext cx="3163824" cy="1828800"/>
          </a:xfrm>
          <a:prstGeom prst="rect">
            <a:avLst/>
          </a:prstGeom>
          <a:noFill/>
        </p:spPr>
        <p:txBody>
          <a:bodyPr wrap="square" anchor="t" lIns="0" rIns="0" tIns="0" bIns="0">
            <a:spAutoFit/>
          </a:bodyPr>
          <a:lstStyle/>
          <a:p>
            <a:pPr algn="l">
              <a:spcBef>
                <a:spcPts val="0"/>
              </a:spcBef>
              <a:spcAft>
                <a:spcPts val="600"/>
              </a:spcAft>
            </a:pPr>
            <a:r>
              <a:rPr sz="1500" b="1" i="0">
                <a:solidFill>
                  <a:srgbClr val="09131B"/>
                </a:solidFill>
                <a:latin typeface="Calibri"/>
              </a:rPr>
              <a:t>Vendor inventory</a:t>
            </a:r>
          </a:p>
          <a:p>
            <a:pPr algn="l">
              <a:spcBef>
                <a:spcPts val="0"/>
              </a:spcBef>
              <a:spcAft>
                <a:spcPts val="0"/>
              </a:spcAft>
            </a:pPr>
            <a:r>
              <a:rPr sz="1200" b="0" i="0">
                <a:solidFill>
                  <a:srgbClr val="595959"/>
                </a:solidFill>
                <a:latin typeface="Calibri"/>
              </a:rPr>
              <a:t>Each vendor as a first-class record — the data they offer, how to access it, contacts and guidance, in one place.</a:t>
            </a:r>
          </a:p>
        </p:txBody>
      </p:sp>
      <p:sp>
        <p:nvSpPr>
          <p:cNvPr id="10" name="Rounded Rectangle 9"/>
          <p:cNvSpPr/>
          <p:nvPr/>
        </p:nvSpPr>
        <p:spPr>
          <a:xfrm>
            <a:off x="4389120" y="1874519"/>
            <a:ext cx="3566160" cy="278892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90288" y="2130551"/>
            <a:ext cx="420624" cy="420624"/>
          </a:xfrm>
          <a:prstGeom prst="roundRect">
            <a:avLst>
              <a:gd name="adj" fmla="val 25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0288" y="2130551"/>
            <a:ext cx="420624" cy="420624"/>
          </a:xfrm>
          <a:prstGeom prst="rect">
            <a:avLst/>
          </a:prstGeom>
          <a:noFill/>
        </p:spPr>
        <p:txBody>
          <a:bodyPr wrap="square" anchor="ctr" lIns="0" rIns="0" tIns="0" bIns="0">
            <a:spAutoFit/>
          </a:bodyPr>
          <a:lstStyle/>
          <a:p>
            <a:pPr algn="ctr">
              <a:spcBef>
                <a:spcPts val="0"/>
              </a:spcBef>
              <a:spcAft>
                <a:spcPts val="0"/>
              </a:spcAft>
            </a:pPr>
            <a:r>
              <a:rPr sz="1400" b="1" i="0">
                <a:solidFill>
                  <a:srgbClr val="09131B"/>
                </a:solidFill>
                <a:latin typeface="Calibri"/>
              </a:rPr>
              <a:t>2</a:t>
            </a:r>
          </a:p>
        </p:txBody>
      </p:sp>
      <p:sp>
        <p:nvSpPr>
          <p:cNvPr id="13" name="TextBox 12"/>
          <p:cNvSpPr txBox="1"/>
          <p:nvPr/>
        </p:nvSpPr>
        <p:spPr>
          <a:xfrm>
            <a:off x="4590288" y="2743199"/>
            <a:ext cx="3163824" cy="1828800"/>
          </a:xfrm>
          <a:prstGeom prst="rect">
            <a:avLst/>
          </a:prstGeom>
          <a:noFill/>
        </p:spPr>
        <p:txBody>
          <a:bodyPr wrap="square" anchor="t" lIns="0" rIns="0" tIns="0" bIns="0">
            <a:spAutoFit/>
          </a:bodyPr>
          <a:lstStyle/>
          <a:p>
            <a:pPr algn="l">
              <a:spcBef>
                <a:spcPts val="0"/>
              </a:spcBef>
              <a:spcAft>
                <a:spcPts val="600"/>
              </a:spcAft>
            </a:pPr>
            <a:r>
              <a:rPr sz="1500" b="1" i="0">
                <a:solidFill>
                  <a:srgbClr val="09131B"/>
                </a:solidFill>
                <a:latin typeface="Calibri"/>
              </a:rPr>
              <a:t>Purchased vs available</a:t>
            </a:r>
          </a:p>
          <a:p>
            <a:pPr algn="l">
              <a:spcBef>
                <a:spcPts val="0"/>
              </a:spcBef>
              <a:spcAft>
                <a:spcPts val="0"/>
              </a:spcAft>
            </a:pPr>
            <a:r>
              <a:rPr sz="1200" b="0" i="0">
                <a:solidFill>
                  <a:srgbClr val="595959"/>
                </a:solidFill>
                <a:latin typeface="Calibri"/>
              </a:rPr>
              <a:t>For every vendor, what we buy versus everything they offer — turning coverage into a negotiating fact.</a:t>
            </a:r>
          </a:p>
        </p:txBody>
      </p:sp>
      <p:sp>
        <p:nvSpPr>
          <p:cNvPr id="14" name="Rounded Rectangle 13"/>
          <p:cNvSpPr/>
          <p:nvPr/>
        </p:nvSpPr>
        <p:spPr>
          <a:xfrm>
            <a:off x="8092440" y="1874519"/>
            <a:ext cx="3566160" cy="278892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293608" y="2130551"/>
            <a:ext cx="420624" cy="420624"/>
          </a:xfrm>
          <a:prstGeom prst="roundRect">
            <a:avLst>
              <a:gd name="adj" fmla="val 25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2130551"/>
            <a:ext cx="420624" cy="420624"/>
          </a:xfrm>
          <a:prstGeom prst="rect">
            <a:avLst/>
          </a:prstGeom>
          <a:noFill/>
        </p:spPr>
        <p:txBody>
          <a:bodyPr wrap="square" anchor="ctr" lIns="0" rIns="0" tIns="0" bIns="0">
            <a:spAutoFit/>
          </a:bodyPr>
          <a:lstStyle/>
          <a:p>
            <a:pPr algn="ctr">
              <a:spcBef>
                <a:spcPts val="0"/>
              </a:spcBef>
              <a:spcAft>
                <a:spcPts val="0"/>
              </a:spcAft>
            </a:pPr>
            <a:r>
              <a:rPr sz="1400" b="1" i="0">
                <a:solidFill>
                  <a:srgbClr val="09131B"/>
                </a:solidFill>
                <a:latin typeface="Calibri"/>
              </a:rPr>
              <a:t>3</a:t>
            </a:r>
          </a:p>
        </p:txBody>
      </p:sp>
      <p:sp>
        <p:nvSpPr>
          <p:cNvPr id="17" name="TextBox 16"/>
          <p:cNvSpPr txBox="1"/>
          <p:nvPr/>
        </p:nvSpPr>
        <p:spPr>
          <a:xfrm>
            <a:off x="8293608" y="2743199"/>
            <a:ext cx="3163824" cy="1828800"/>
          </a:xfrm>
          <a:prstGeom prst="rect">
            <a:avLst/>
          </a:prstGeom>
          <a:noFill/>
        </p:spPr>
        <p:txBody>
          <a:bodyPr wrap="square" anchor="t" lIns="0" rIns="0" tIns="0" bIns="0">
            <a:spAutoFit/>
          </a:bodyPr>
          <a:lstStyle/>
          <a:p>
            <a:pPr algn="l">
              <a:spcBef>
                <a:spcPts val="0"/>
              </a:spcBef>
              <a:spcAft>
                <a:spcPts val="600"/>
              </a:spcAft>
            </a:pPr>
            <a:r>
              <a:rPr sz="1500" b="1" i="0">
                <a:solidFill>
                  <a:srgbClr val="09131B"/>
                </a:solidFill>
                <a:latin typeface="Calibri"/>
              </a:rPr>
              <a:t>Built to roll up</a:t>
            </a:r>
          </a:p>
          <a:p>
            <a:pPr algn="l">
              <a:spcBef>
                <a:spcPts val="0"/>
              </a:spcBef>
              <a:spcAft>
                <a:spcPts val="0"/>
              </a:spcAft>
            </a:pPr>
            <a:r>
              <a:rPr sz="1200" b="0" i="0">
                <a:solidFill>
                  <a:srgbClr val="595959"/>
                </a:solidFill>
                <a:latin typeface="Calibri"/>
              </a:rPr>
              <a:t>Assets link up to the vendor, so quality, spend and dependency aggregate cleanly — the foundation for the value layer next.</a:t>
            </a:r>
          </a:p>
        </p:txBody>
      </p:sp>
      <p:sp>
        <p:nvSpPr>
          <p:cNvPr id="18" name="TextBox 17"/>
          <p:cNvSpPr txBox="1"/>
          <p:nvPr/>
        </p:nvSpPr>
        <p:spPr>
          <a:xfrm>
            <a:off x="685800" y="4983480"/>
            <a:ext cx="10820095" cy="365760"/>
          </a:xfrm>
          <a:prstGeom prst="rect">
            <a:avLst/>
          </a:prstGeom>
          <a:noFill/>
        </p:spPr>
        <p:txBody>
          <a:bodyPr wrap="square" anchor="t" lIns="0" rIns="0" tIns="0" bIns="0">
            <a:spAutoFit/>
          </a:bodyPr>
          <a:lstStyle/>
          <a:p>
            <a:pPr algn="l">
              <a:spcBef>
                <a:spcPts val="0"/>
              </a:spcBef>
              <a:spcAft>
                <a:spcPts val="0"/>
              </a:spcAft>
            </a:pPr>
            <a:r>
              <a:rPr sz="1050" b="1" i="0">
                <a:solidFill>
                  <a:srgbClr val="F89739"/>
                </a:solidFill>
                <a:latin typeface="Calibri"/>
              </a:rPr>
              <a:t>WHAT THE PROTOTYPE SURFACES</a:t>
            </a:r>
          </a:p>
        </p:txBody>
      </p:sp>
      <p:sp>
        <p:nvSpPr>
          <p:cNvPr id="19" name="TextBox 18"/>
          <p:cNvSpPr txBox="1"/>
          <p:nvPr/>
        </p:nvSpPr>
        <p:spPr>
          <a:xfrm>
            <a:off x="685800" y="5303520"/>
            <a:ext cx="10820095" cy="731520"/>
          </a:xfrm>
          <a:prstGeom prst="rect">
            <a:avLst/>
          </a:prstGeom>
          <a:noFill/>
        </p:spPr>
        <p:txBody>
          <a:bodyPr wrap="square" anchor="t" lIns="0" rIns="0" tIns="0" bIns="0">
            <a:spAutoFit/>
          </a:bodyPr>
          <a:lstStyle/>
          <a:p>
            <a:pPr algn="l">
              <a:spcBef>
                <a:spcPts val="0"/>
              </a:spcBef>
              <a:spcAft>
                <a:spcPts val="0"/>
              </a:spcAft>
            </a:pPr>
            <a:r>
              <a:rPr sz="1350" b="1" i="0">
                <a:solidFill>
                  <a:srgbClr val="09131B"/>
                </a:solidFill>
                <a:latin typeface="Calibri"/>
              </a:rPr>
              <a:t>8 vendors supplying 12 assets — and a clear read on how much of each vendor's catalogue we've actually licensed.</a:t>
            </a:r>
          </a:p>
        </p:txBody>
      </p:sp>
      <p:sp>
        <p:nvSpPr>
          <p:cNvPr id="20" name="TextBox 19"/>
          <p:cNvSpPr txBox="1"/>
          <p:nvPr/>
        </p:nvSpPr>
        <p:spPr>
          <a:xfrm>
            <a:off x="685800" y="5943600"/>
            <a:ext cx="2011680" cy="292608"/>
          </a:xfrm>
          <a:prstGeom prst="rect">
            <a:avLst/>
          </a:prstGeom>
          <a:noFill/>
        </p:spPr>
        <p:txBody>
          <a:bodyPr wrap="square" anchor="t" lIns="0" rIns="0" tIns="0" bIns="0">
            <a:spAutoFit/>
          </a:bodyPr>
          <a:lstStyle/>
          <a:p>
            <a:pPr algn="l">
              <a:spcBef>
                <a:spcPts val="0"/>
              </a:spcBef>
              <a:spcAft>
                <a:spcPts val="0"/>
              </a:spcAft>
            </a:pPr>
            <a:r>
              <a:rPr sz="950" b="1" i="0">
                <a:solidFill>
                  <a:srgbClr val="595959"/>
                </a:solidFill>
                <a:latin typeface="Calibri"/>
              </a:rPr>
              <a:t>Production feeds:</a:t>
            </a:r>
          </a:p>
        </p:txBody>
      </p:sp>
      <p:sp>
        <p:nvSpPr>
          <p:cNvPr id="21" name="Rounded Rectangle 20"/>
          <p:cNvSpPr/>
          <p:nvPr/>
        </p:nvSpPr>
        <p:spPr>
          <a:xfrm>
            <a:off x="1920240" y="5907024"/>
            <a:ext cx="987551" cy="292608"/>
          </a:xfrm>
          <a:prstGeom prst="roundRect">
            <a:avLst>
              <a:gd name="adj" fmla="val 50000"/>
            </a:avLst>
          </a:prstGeom>
          <a:solidFill>
            <a:srgbClr val="F4F4F4"/>
          </a:solidFill>
          <a:ln w="9525">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20240" y="5907024"/>
            <a:ext cx="987551" cy="292608"/>
          </a:xfrm>
          <a:prstGeom prst="rect">
            <a:avLst/>
          </a:prstGeom>
          <a:noFill/>
        </p:spPr>
        <p:txBody>
          <a:bodyPr wrap="square" anchor="ctr" lIns="0" rIns="0" tIns="0" bIns="0">
            <a:spAutoFit/>
          </a:bodyPr>
          <a:lstStyle/>
          <a:p>
            <a:pPr algn="ctr">
              <a:spcBef>
                <a:spcPts val="0"/>
              </a:spcBef>
              <a:spcAft>
                <a:spcPts val="0"/>
              </a:spcAft>
            </a:pPr>
            <a:r>
              <a:rPr sz="1000" b="1" i="0">
                <a:solidFill>
                  <a:srgbClr val="595959"/>
                </a:solidFill>
                <a:latin typeface="Calibri"/>
              </a:rPr>
              <a:t>SharePoint</a:t>
            </a:r>
          </a:p>
        </p:txBody>
      </p:sp>
      <p:sp>
        <p:nvSpPr>
          <p:cNvPr id="23" name="Rounded Rectangle 22"/>
          <p:cNvSpPr/>
          <p:nvPr/>
        </p:nvSpPr>
        <p:spPr>
          <a:xfrm>
            <a:off x="3017519" y="5907024"/>
            <a:ext cx="987551" cy="292608"/>
          </a:xfrm>
          <a:prstGeom prst="roundRect">
            <a:avLst>
              <a:gd name="adj" fmla="val 50000"/>
            </a:avLst>
          </a:prstGeom>
          <a:solidFill>
            <a:srgbClr val="F4F4F4"/>
          </a:solidFill>
          <a:ln w="9525">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17519" y="5907024"/>
            <a:ext cx="987551" cy="292608"/>
          </a:xfrm>
          <a:prstGeom prst="rect">
            <a:avLst/>
          </a:prstGeom>
          <a:noFill/>
        </p:spPr>
        <p:txBody>
          <a:bodyPr wrap="square" anchor="ctr" lIns="0" rIns="0" tIns="0" bIns="0">
            <a:spAutoFit/>
          </a:bodyPr>
          <a:lstStyle/>
          <a:p>
            <a:pPr algn="ctr">
              <a:spcBef>
                <a:spcPts val="0"/>
              </a:spcBef>
              <a:spcAft>
                <a:spcPts val="0"/>
              </a:spcAft>
            </a:pPr>
            <a:r>
              <a:rPr sz="1000" b="1" i="0">
                <a:solidFill>
                  <a:srgbClr val="595959"/>
                </a:solidFill>
                <a:latin typeface="Calibri"/>
              </a:rPr>
              <a:t>Vendor Hub</a:t>
            </a:r>
          </a:p>
        </p:txBody>
      </p:sp>
      <p:sp>
        <p:nvSpPr>
          <p:cNvPr id="25" name="Rounded Rectangle 24"/>
          <p:cNvSpPr/>
          <p:nvPr/>
        </p:nvSpPr>
        <p:spPr>
          <a:xfrm>
            <a:off x="4114798" y="5907024"/>
            <a:ext cx="903427" cy="292608"/>
          </a:xfrm>
          <a:prstGeom prst="roundRect">
            <a:avLst>
              <a:gd name="adj" fmla="val 50000"/>
            </a:avLst>
          </a:prstGeom>
          <a:solidFill>
            <a:srgbClr val="F4F4F4"/>
          </a:solidFill>
          <a:ln w="9525">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8" y="5907024"/>
            <a:ext cx="903427" cy="292608"/>
          </a:xfrm>
          <a:prstGeom prst="rect">
            <a:avLst/>
          </a:prstGeom>
          <a:noFill/>
        </p:spPr>
        <p:txBody>
          <a:bodyPr wrap="square" anchor="ctr" lIns="0" rIns="0" tIns="0" bIns="0">
            <a:spAutoFit/>
          </a:bodyPr>
          <a:lstStyle/>
          <a:p>
            <a:pPr algn="ctr">
              <a:spcBef>
                <a:spcPts val="0"/>
              </a:spcBef>
              <a:spcAft>
                <a:spcPts val="0"/>
              </a:spcAft>
            </a:pPr>
            <a:r>
              <a:rPr sz="1000" b="1" i="0">
                <a:solidFill>
                  <a:srgbClr val="595959"/>
                </a:solidFill>
                <a:latin typeface="Calibri"/>
              </a:rPr>
              <a:t>Veeva CRM</a:t>
            </a:r>
          </a:p>
        </p:txBody>
      </p:sp>
      <p:sp>
        <p:nvSpPr>
          <p:cNvPr id="27" name="Rectangle 26"/>
          <p:cNvSpPr/>
          <p:nvPr/>
        </p:nvSpPr>
        <p:spPr>
          <a:xfrm>
            <a:off x="685800" y="6419088"/>
            <a:ext cx="10820095" cy="952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6473952"/>
            <a:ext cx="7315200" cy="274320"/>
          </a:xfrm>
          <a:prstGeom prst="rect">
            <a:avLst/>
          </a:prstGeom>
          <a:noFill/>
        </p:spPr>
        <p:txBody>
          <a:bodyPr wrap="square" anchor="t" lIns="0" rIns="0" tIns="0" bIns="0">
            <a:spAutoFit/>
          </a:bodyPr>
          <a:lstStyle/>
          <a:p>
            <a:pPr algn="l">
              <a:spcBef>
                <a:spcPts val="0"/>
              </a:spcBef>
              <a:spcAft>
                <a:spcPts val="0"/>
              </a:spcAft>
            </a:pPr>
            <a:r>
              <a:rPr sz="900" b="0" i="0">
                <a:solidFill>
                  <a:srgbClr val="A9AFB6"/>
                </a:solidFill>
                <a:latin typeface="Calibri"/>
              </a:rPr>
              <a:t>Cortex Atlas  ·  Illustrative prototype, synthetic data  ·  Confidential</a:t>
            </a:r>
          </a:p>
        </p:txBody>
      </p:sp>
      <p:sp>
        <p:nvSpPr>
          <p:cNvPr id="29" name="TextBox 28"/>
          <p:cNvSpPr txBox="1"/>
          <p:nvPr/>
        </p:nvSpPr>
        <p:spPr>
          <a:xfrm>
            <a:off x="10591495" y="6473952"/>
            <a:ext cx="914400" cy="274320"/>
          </a:xfrm>
          <a:prstGeom prst="rect">
            <a:avLst/>
          </a:prstGeom>
          <a:noFill/>
        </p:spPr>
        <p:txBody>
          <a:bodyPr wrap="square" anchor="t" lIns="0" rIns="0" tIns="0" bIns="0">
            <a:spAutoFit/>
          </a:bodyPr>
          <a:lstStyle/>
          <a:p>
            <a:pPr algn="r">
              <a:spcBef>
                <a:spcPts val="0"/>
              </a:spcBef>
              <a:spcAft>
                <a:spcPts val="0"/>
              </a:spcAft>
            </a:pPr>
            <a:r>
              <a:rPr sz="900" b="0" i="0">
                <a:solidFill>
                  <a:srgbClr val="A9AFB6"/>
                </a:solidFill>
                <a:latin typeface="Calibri"/>
              </a:rPr>
              <a:t>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9131B"/>
        </a:solidFill>
        <a:effectLst/>
      </p:bgPr>
    </p:bg>
    <p:spTree>
      <p:nvGrpSpPr>
        <p:cNvPr id="1" name=""/>
        <p:cNvGrpSpPr/>
        <p:nvPr/>
      </p:nvGrpSpPr>
      <p:grpSpPr/>
      <p:sp>
        <p:nvSpPr>
          <p:cNvPr id="2" name="Rectangle 1"/>
          <p:cNvSpPr/>
          <p:nvPr/>
        </p:nvSpPr>
        <p:spPr>
          <a:xfrm>
            <a:off x="685800" y="566928"/>
            <a:ext cx="310896" cy="82296"/>
          </a:xfrm>
          <a:prstGeom prst="rect">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457200"/>
            <a:ext cx="10408615" cy="320040"/>
          </a:xfrm>
          <a:prstGeom prst="rect">
            <a:avLst/>
          </a:prstGeom>
          <a:noFill/>
        </p:spPr>
        <p:txBody>
          <a:bodyPr wrap="square" anchor="t" lIns="0" rIns="0" tIns="0" bIns="0">
            <a:spAutoFit/>
          </a:bodyPr>
          <a:lstStyle/>
          <a:p>
            <a:pPr algn="l">
              <a:spcBef>
                <a:spcPts val="0"/>
              </a:spcBef>
              <a:spcAft>
                <a:spcPts val="0"/>
              </a:spcAft>
            </a:pPr>
            <a:r>
              <a:rPr sz="1250" b="1" i="0">
                <a:solidFill>
                  <a:srgbClr val="F89739"/>
                </a:solidFill>
                <a:latin typeface="Calibri"/>
              </a:rPr>
              <a:t>INTELLIGENCE — THE DIFFERENTIATOR</a:t>
            </a:r>
          </a:p>
        </p:txBody>
      </p:sp>
      <p:sp>
        <p:nvSpPr>
          <p:cNvPr id="4" name="TextBox 3"/>
          <p:cNvSpPr txBox="1"/>
          <p:nvPr/>
        </p:nvSpPr>
        <p:spPr>
          <a:xfrm>
            <a:off x="685800" y="841248"/>
            <a:ext cx="10820095" cy="640080"/>
          </a:xfrm>
          <a:prstGeom prst="rect">
            <a:avLst/>
          </a:prstGeom>
          <a:noFill/>
        </p:spPr>
        <p:txBody>
          <a:bodyPr wrap="square" anchor="t" lIns="0" rIns="0" tIns="0" bIns="0">
            <a:spAutoFit/>
          </a:bodyPr>
          <a:lstStyle/>
          <a:p>
            <a:pPr algn="l">
              <a:spcBef>
                <a:spcPts val="0"/>
              </a:spcBef>
              <a:spcAft>
                <a:spcPts val="0"/>
              </a:spcAft>
            </a:pPr>
            <a:r>
              <a:rPr sz="2900" b="1" i="0">
                <a:solidFill>
                  <a:srgbClr val="FFFFFF"/>
                </a:solidFill>
                <a:latin typeface="Calibri"/>
              </a:rPr>
              <a:t>Vendor Hub Plus — the value layer</a:t>
            </a:r>
          </a:p>
        </p:txBody>
      </p:sp>
      <p:sp>
        <p:nvSpPr>
          <p:cNvPr id="5" name="TextBox 4"/>
          <p:cNvSpPr txBox="1"/>
          <p:nvPr/>
        </p:nvSpPr>
        <p:spPr>
          <a:xfrm>
            <a:off x="685800" y="1481328"/>
            <a:ext cx="10820095" cy="457200"/>
          </a:xfrm>
          <a:prstGeom prst="rect">
            <a:avLst/>
          </a:prstGeom>
          <a:noFill/>
        </p:spPr>
        <p:txBody>
          <a:bodyPr wrap="square" anchor="t" lIns="0" rIns="0" tIns="0" bIns="0">
            <a:spAutoFit/>
          </a:bodyPr>
          <a:lstStyle/>
          <a:p>
            <a:pPr algn="l">
              <a:spcBef>
                <a:spcPts val="0"/>
              </a:spcBef>
              <a:spcAft>
                <a:spcPts val="0"/>
              </a:spcAft>
            </a:pPr>
            <a:r>
              <a:rPr sz="1450" b="0" i="0">
                <a:solidFill>
                  <a:srgbClr val="A9AFB6"/>
                </a:solidFill>
                <a:latin typeface="Calibri"/>
              </a:rPr>
              <a:t>The same inventory, rolled up into the five things a vendor decision actually needs.</a:t>
            </a:r>
          </a:p>
        </p:txBody>
      </p:sp>
      <p:sp>
        <p:nvSpPr>
          <p:cNvPr id="6" name="Rounded Rectangle 5"/>
          <p:cNvSpPr/>
          <p:nvPr/>
        </p:nvSpPr>
        <p:spPr>
          <a:xfrm>
            <a:off x="685800" y="2194560"/>
            <a:ext cx="2103120" cy="2743200"/>
          </a:xfrm>
          <a:prstGeom prst="roundRect">
            <a:avLst>
              <a:gd name="adj" fmla="val 6000"/>
            </a:avLst>
          </a:prstGeom>
          <a:solidFill>
            <a:srgbClr val="0E1A22"/>
          </a:solidFill>
          <a:ln w="12700">
            <a:solidFill>
              <a:srgbClr val="2A3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2414016"/>
            <a:ext cx="402336" cy="402336"/>
          </a:xfrm>
          <a:prstGeom prst="roundRect">
            <a:avLst>
              <a:gd name="adj" fmla="val 25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414016"/>
            <a:ext cx="402336" cy="402336"/>
          </a:xfrm>
          <a:prstGeom prst="rect">
            <a:avLst/>
          </a:prstGeom>
          <a:noFill/>
        </p:spPr>
        <p:txBody>
          <a:bodyPr wrap="square" anchor="ctr" lIns="0" rIns="0" tIns="0" bIns="0">
            <a:spAutoFit/>
          </a:bodyPr>
          <a:lstStyle/>
          <a:p>
            <a:pPr algn="ctr">
              <a:spcBef>
                <a:spcPts val="0"/>
              </a:spcBef>
              <a:spcAft>
                <a:spcPts val="0"/>
              </a:spcAft>
            </a:pPr>
            <a:r>
              <a:rPr sz="1400" b="1" i="0">
                <a:solidFill>
                  <a:srgbClr val="09131B"/>
                </a:solidFill>
                <a:latin typeface="Calibri"/>
              </a:rPr>
              <a:t>1</a:t>
            </a:r>
          </a:p>
        </p:txBody>
      </p:sp>
      <p:sp>
        <p:nvSpPr>
          <p:cNvPr id="9" name="TextBox 8"/>
          <p:cNvSpPr txBox="1"/>
          <p:nvPr/>
        </p:nvSpPr>
        <p:spPr>
          <a:xfrm>
            <a:off x="868680" y="3017520"/>
            <a:ext cx="1737360" cy="1828800"/>
          </a:xfrm>
          <a:prstGeom prst="rect">
            <a:avLst/>
          </a:prstGeom>
          <a:noFill/>
        </p:spPr>
        <p:txBody>
          <a:bodyPr wrap="square" anchor="t" lIns="0" rIns="0" tIns="0" bIns="0">
            <a:spAutoFit/>
          </a:bodyPr>
          <a:lstStyle/>
          <a:p>
            <a:pPr algn="l">
              <a:spcBef>
                <a:spcPts val="0"/>
              </a:spcBef>
              <a:spcAft>
                <a:spcPts val="600"/>
              </a:spcAft>
            </a:pPr>
            <a:r>
              <a:rPr sz="1350" b="1" i="0">
                <a:solidFill>
                  <a:srgbClr val="FFFFFF"/>
                </a:solidFill>
                <a:latin typeface="Calibri"/>
              </a:rPr>
              <a:t>Quality score</a:t>
            </a:r>
          </a:p>
          <a:p>
            <a:pPr algn="l">
              <a:spcBef>
                <a:spcPts val="0"/>
              </a:spcBef>
              <a:spcAft>
                <a:spcPts val="0"/>
              </a:spcAft>
            </a:pPr>
            <a:r>
              <a:rPr sz="1080" b="0" i="0">
                <a:solidFill>
                  <a:srgbClr val="C7CCD3"/>
                </a:solidFill>
                <a:latin typeface="Calibri"/>
              </a:rPr>
              <a:t>Asset-level Gold/Silver/Bronze rolled up to a composite vendor grade — who delivers quality, not just who exists.</a:t>
            </a:r>
          </a:p>
        </p:txBody>
      </p:sp>
      <p:sp>
        <p:nvSpPr>
          <p:cNvPr id="10" name="Rounded Rectangle 9"/>
          <p:cNvSpPr/>
          <p:nvPr/>
        </p:nvSpPr>
        <p:spPr>
          <a:xfrm>
            <a:off x="2880360" y="2194560"/>
            <a:ext cx="2103120" cy="2743200"/>
          </a:xfrm>
          <a:prstGeom prst="roundRect">
            <a:avLst>
              <a:gd name="adj" fmla="val 6000"/>
            </a:avLst>
          </a:prstGeom>
          <a:solidFill>
            <a:srgbClr val="0E1A22"/>
          </a:solidFill>
          <a:ln w="12700">
            <a:solidFill>
              <a:srgbClr val="2A3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063240" y="2414016"/>
            <a:ext cx="402336" cy="402336"/>
          </a:xfrm>
          <a:prstGeom prst="roundRect">
            <a:avLst>
              <a:gd name="adj" fmla="val 25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63240" y="2414016"/>
            <a:ext cx="402336" cy="402336"/>
          </a:xfrm>
          <a:prstGeom prst="rect">
            <a:avLst/>
          </a:prstGeom>
          <a:noFill/>
        </p:spPr>
        <p:txBody>
          <a:bodyPr wrap="square" anchor="ctr" lIns="0" rIns="0" tIns="0" bIns="0">
            <a:spAutoFit/>
          </a:bodyPr>
          <a:lstStyle/>
          <a:p>
            <a:pPr algn="ctr">
              <a:spcBef>
                <a:spcPts val="0"/>
              </a:spcBef>
              <a:spcAft>
                <a:spcPts val="0"/>
              </a:spcAft>
            </a:pPr>
            <a:r>
              <a:rPr sz="1400" b="1" i="0">
                <a:solidFill>
                  <a:srgbClr val="09131B"/>
                </a:solidFill>
                <a:latin typeface="Calibri"/>
              </a:rPr>
              <a:t>2</a:t>
            </a:r>
          </a:p>
        </p:txBody>
      </p:sp>
      <p:sp>
        <p:nvSpPr>
          <p:cNvPr id="13" name="TextBox 12"/>
          <p:cNvSpPr txBox="1"/>
          <p:nvPr/>
        </p:nvSpPr>
        <p:spPr>
          <a:xfrm>
            <a:off x="3063240" y="3017520"/>
            <a:ext cx="1737360" cy="1828800"/>
          </a:xfrm>
          <a:prstGeom prst="rect">
            <a:avLst/>
          </a:prstGeom>
          <a:noFill/>
        </p:spPr>
        <p:txBody>
          <a:bodyPr wrap="square" anchor="t" lIns="0" rIns="0" tIns="0" bIns="0">
            <a:spAutoFit/>
          </a:bodyPr>
          <a:lstStyle/>
          <a:p>
            <a:pPr algn="l">
              <a:spcBef>
                <a:spcPts val="0"/>
              </a:spcBef>
              <a:spcAft>
                <a:spcPts val="600"/>
              </a:spcAft>
            </a:pPr>
            <a:r>
              <a:rPr sz="1350" b="1" i="0">
                <a:solidFill>
                  <a:srgbClr val="FFFFFF"/>
                </a:solidFill>
                <a:latin typeface="Calibri"/>
              </a:rPr>
              <a:t>Spend concentration</a:t>
            </a:r>
          </a:p>
          <a:p>
            <a:pPr algn="l">
              <a:spcBef>
                <a:spcPts val="0"/>
              </a:spcBef>
              <a:spcAft>
                <a:spcPts val="0"/>
              </a:spcAft>
            </a:pPr>
            <a:r>
              <a:rPr sz="1080" b="0" i="0">
                <a:solidFill>
                  <a:srgbClr val="C7CCD3"/>
                </a:solidFill>
                <a:latin typeface="Calibri"/>
              </a:rPr>
              <a:t>Each vendor's share of spend, with an estate-wide HHI — single-vendor dependency made measurable.</a:t>
            </a:r>
          </a:p>
        </p:txBody>
      </p:sp>
      <p:sp>
        <p:nvSpPr>
          <p:cNvPr id="14" name="Rounded Rectangle 13"/>
          <p:cNvSpPr/>
          <p:nvPr/>
        </p:nvSpPr>
        <p:spPr>
          <a:xfrm>
            <a:off x="5074920" y="2194560"/>
            <a:ext cx="2103120" cy="2743200"/>
          </a:xfrm>
          <a:prstGeom prst="roundRect">
            <a:avLst>
              <a:gd name="adj" fmla="val 6000"/>
            </a:avLst>
          </a:prstGeom>
          <a:solidFill>
            <a:srgbClr val="0E1A22"/>
          </a:solidFill>
          <a:ln w="12700">
            <a:solidFill>
              <a:srgbClr val="2A3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414016"/>
            <a:ext cx="402336" cy="402336"/>
          </a:xfrm>
          <a:prstGeom prst="roundRect">
            <a:avLst>
              <a:gd name="adj" fmla="val 25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57800" y="2414016"/>
            <a:ext cx="402336" cy="402336"/>
          </a:xfrm>
          <a:prstGeom prst="rect">
            <a:avLst/>
          </a:prstGeom>
          <a:noFill/>
        </p:spPr>
        <p:txBody>
          <a:bodyPr wrap="square" anchor="ctr" lIns="0" rIns="0" tIns="0" bIns="0">
            <a:spAutoFit/>
          </a:bodyPr>
          <a:lstStyle/>
          <a:p>
            <a:pPr algn="ctr">
              <a:spcBef>
                <a:spcPts val="0"/>
              </a:spcBef>
              <a:spcAft>
                <a:spcPts val="0"/>
              </a:spcAft>
            </a:pPr>
            <a:r>
              <a:rPr sz="1400" b="1" i="0">
                <a:solidFill>
                  <a:srgbClr val="09131B"/>
                </a:solidFill>
                <a:latin typeface="Calibri"/>
              </a:rPr>
              <a:t>3</a:t>
            </a:r>
          </a:p>
        </p:txBody>
      </p:sp>
      <p:sp>
        <p:nvSpPr>
          <p:cNvPr id="17" name="TextBox 16"/>
          <p:cNvSpPr txBox="1"/>
          <p:nvPr/>
        </p:nvSpPr>
        <p:spPr>
          <a:xfrm>
            <a:off x="5257800" y="3017520"/>
            <a:ext cx="1737360" cy="1828800"/>
          </a:xfrm>
          <a:prstGeom prst="rect">
            <a:avLst/>
          </a:prstGeom>
          <a:noFill/>
        </p:spPr>
        <p:txBody>
          <a:bodyPr wrap="square" anchor="t" lIns="0" rIns="0" tIns="0" bIns="0">
            <a:spAutoFit/>
          </a:bodyPr>
          <a:lstStyle/>
          <a:p>
            <a:pPr algn="l">
              <a:spcBef>
                <a:spcPts val="0"/>
              </a:spcBef>
              <a:spcAft>
                <a:spcPts val="600"/>
              </a:spcAft>
            </a:pPr>
            <a:r>
              <a:rPr sz="1350" b="1" i="0">
                <a:solidFill>
                  <a:srgbClr val="FFFFFF"/>
                </a:solidFill>
                <a:latin typeface="Calibri"/>
              </a:rPr>
              <a:t>Irreplaceability</a:t>
            </a:r>
          </a:p>
          <a:p>
            <a:pPr algn="l">
              <a:spcBef>
                <a:spcPts val="0"/>
              </a:spcBef>
              <a:spcAft>
                <a:spcPts val="0"/>
              </a:spcAft>
            </a:pPr>
            <a:r>
              <a:rPr sz="1080" b="0" i="0">
                <a:solidFill>
                  <a:srgbClr val="C7CCD3"/>
                </a:solidFill>
                <a:latin typeface="Calibri"/>
              </a:rPr>
              <a:t>What breaks if a vendor walks: assets and downstream KPIs at stake versus available substitutes.</a:t>
            </a:r>
          </a:p>
        </p:txBody>
      </p:sp>
      <p:sp>
        <p:nvSpPr>
          <p:cNvPr id="18" name="Rounded Rectangle 17"/>
          <p:cNvSpPr/>
          <p:nvPr/>
        </p:nvSpPr>
        <p:spPr>
          <a:xfrm>
            <a:off x="7269480" y="2194560"/>
            <a:ext cx="2103120" cy="2743200"/>
          </a:xfrm>
          <a:prstGeom prst="roundRect">
            <a:avLst>
              <a:gd name="adj" fmla="val 6000"/>
            </a:avLst>
          </a:prstGeom>
          <a:solidFill>
            <a:srgbClr val="0E1A22"/>
          </a:solidFill>
          <a:ln w="12700">
            <a:solidFill>
              <a:srgbClr val="2A3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452360" y="2414016"/>
            <a:ext cx="402336" cy="402336"/>
          </a:xfrm>
          <a:prstGeom prst="roundRect">
            <a:avLst>
              <a:gd name="adj" fmla="val 25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52360" y="2414016"/>
            <a:ext cx="402336" cy="402336"/>
          </a:xfrm>
          <a:prstGeom prst="rect">
            <a:avLst/>
          </a:prstGeom>
          <a:noFill/>
        </p:spPr>
        <p:txBody>
          <a:bodyPr wrap="square" anchor="ctr" lIns="0" rIns="0" tIns="0" bIns="0">
            <a:spAutoFit/>
          </a:bodyPr>
          <a:lstStyle/>
          <a:p>
            <a:pPr algn="ctr">
              <a:spcBef>
                <a:spcPts val="0"/>
              </a:spcBef>
              <a:spcAft>
                <a:spcPts val="0"/>
              </a:spcAft>
            </a:pPr>
            <a:r>
              <a:rPr sz="1400" b="1" i="0">
                <a:solidFill>
                  <a:srgbClr val="09131B"/>
                </a:solidFill>
                <a:latin typeface="Calibri"/>
              </a:rPr>
              <a:t>4</a:t>
            </a:r>
          </a:p>
        </p:txBody>
      </p:sp>
      <p:sp>
        <p:nvSpPr>
          <p:cNvPr id="21" name="TextBox 20"/>
          <p:cNvSpPr txBox="1"/>
          <p:nvPr/>
        </p:nvSpPr>
        <p:spPr>
          <a:xfrm>
            <a:off x="7452360" y="3017520"/>
            <a:ext cx="1737360" cy="1828800"/>
          </a:xfrm>
          <a:prstGeom prst="rect">
            <a:avLst/>
          </a:prstGeom>
          <a:noFill/>
        </p:spPr>
        <p:txBody>
          <a:bodyPr wrap="square" anchor="t" lIns="0" rIns="0" tIns="0" bIns="0">
            <a:spAutoFit/>
          </a:bodyPr>
          <a:lstStyle/>
          <a:p>
            <a:pPr algn="l">
              <a:spcBef>
                <a:spcPts val="0"/>
              </a:spcBef>
              <a:spcAft>
                <a:spcPts val="600"/>
              </a:spcAft>
            </a:pPr>
            <a:r>
              <a:rPr sz="1350" b="1" i="0">
                <a:solidFill>
                  <a:srgbClr val="FFFFFF"/>
                </a:solidFill>
                <a:latin typeface="Calibri"/>
              </a:rPr>
              <a:t>Cost-per-quality</a:t>
            </a:r>
          </a:p>
          <a:p>
            <a:pPr algn="l">
              <a:spcBef>
                <a:spcPts val="0"/>
              </a:spcBef>
              <a:spcAft>
                <a:spcPts val="0"/>
              </a:spcAft>
            </a:pPr>
            <a:r>
              <a:rPr sz="1080" b="0" i="0">
                <a:solidFill>
                  <a:srgbClr val="C7CCD3"/>
                </a:solidFill>
                <a:latin typeface="Calibri"/>
              </a:rPr>
              <a:t>Spend normalised against quality — are we overpaying for low-tier data? Renegotiation candidates surface.</a:t>
            </a:r>
          </a:p>
        </p:txBody>
      </p:sp>
      <p:sp>
        <p:nvSpPr>
          <p:cNvPr id="22" name="Rounded Rectangle 21"/>
          <p:cNvSpPr/>
          <p:nvPr/>
        </p:nvSpPr>
        <p:spPr>
          <a:xfrm>
            <a:off x="9464040" y="2194560"/>
            <a:ext cx="2103120" cy="2743200"/>
          </a:xfrm>
          <a:prstGeom prst="roundRect">
            <a:avLst>
              <a:gd name="adj" fmla="val 6000"/>
            </a:avLst>
          </a:prstGeom>
          <a:solidFill>
            <a:srgbClr val="0E1A22"/>
          </a:solidFill>
          <a:ln w="12700">
            <a:solidFill>
              <a:srgbClr val="2A3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46920" y="2414016"/>
            <a:ext cx="402336" cy="402336"/>
          </a:xfrm>
          <a:prstGeom prst="roundRect">
            <a:avLst>
              <a:gd name="adj" fmla="val 25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46920" y="2414016"/>
            <a:ext cx="402336" cy="402336"/>
          </a:xfrm>
          <a:prstGeom prst="rect">
            <a:avLst/>
          </a:prstGeom>
          <a:noFill/>
        </p:spPr>
        <p:txBody>
          <a:bodyPr wrap="square" anchor="ctr" lIns="0" rIns="0" tIns="0" bIns="0">
            <a:spAutoFit/>
          </a:bodyPr>
          <a:lstStyle/>
          <a:p>
            <a:pPr algn="ctr">
              <a:spcBef>
                <a:spcPts val="0"/>
              </a:spcBef>
              <a:spcAft>
                <a:spcPts val="0"/>
              </a:spcAft>
            </a:pPr>
            <a:r>
              <a:rPr sz="1400" b="1" i="0">
                <a:solidFill>
                  <a:srgbClr val="09131B"/>
                </a:solidFill>
                <a:latin typeface="Calibri"/>
              </a:rPr>
              <a:t>5</a:t>
            </a:r>
          </a:p>
        </p:txBody>
      </p:sp>
      <p:sp>
        <p:nvSpPr>
          <p:cNvPr id="25" name="TextBox 24"/>
          <p:cNvSpPr txBox="1"/>
          <p:nvPr/>
        </p:nvSpPr>
        <p:spPr>
          <a:xfrm>
            <a:off x="9646920" y="3017520"/>
            <a:ext cx="1737360" cy="1828800"/>
          </a:xfrm>
          <a:prstGeom prst="rect">
            <a:avLst/>
          </a:prstGeom>
          <a:noFill/>
        </p:spPr>
        <p:txBody>
          <a:bodyPr wrap="square" anchor="t" lIns="0" rIns="0" tIns="0" bIns="0">
            <a:spAutoFit/>
          </a:bodyPr>
          <a:lstStyle/>
          <a:p>
            <a:pPr algn="l">
              <a:spcBef>
                <a:spcPts val="0"/>
              </a:spcBef>
              <a:spcAft>
                <a:spcPts val="600"/>
              </a:spcAft>
            </a:pPr>
            <a:r>
              <a:rPr sz="1350" b="1" i="0">
                <a:solidFill>
                  <a:srgbClr val="FFFFFF"/>
                </a:solidFill>
                <a:latin typeface="Calibri"/>
              </a:rPr>
              <a:t>Leverage</a:t>
            </a:r>
          </a:p>
          <a:p>
            <a:pPr algn="l">
              <a:spcBef>
                <a:spcPts val="0"/>
              </a:spcBef>
              <a:spcAft>
                <a:spcPts val="0"/>
              </a:spcAft>
            </a:pPr>
            <a:r>
              <a:rPr sz="1080" b="0" i="0">
                <a:solidFill>
                  <a:srgbClr val="C7CCD3"/>
                </a:solidFill>
                <a:latin typeface="Calibri"/>
              </a:rPr>
              <a:t>Purchased vs available becomes a negotiation lever — coverage gaps as consolidation opportunities.</a:t>
            </a:r>
          </a:p>
        </p:txBody>
      </p:sp>
      <p:sp>
        <p:nvSpPr>
          <p:cNvPr id="26" name="TextBox 25"/>
          <p:cNvSpPr txBox="1"/>
          <p:nvPr/>
        </p:nvSpPr>
        <p:spPr>
          <a:xfrm>
            <a:off x="685800" y="5212080"/>
            <a:ext cx="10820095" cy="822960"/>
          </a:xfrm>
          <a:prstGeom prst="rect">
            <a:avLst/>
          </a:prstGeom>
          <a:noFill/>
        </p:spPr>
        <p:txBody>
          <a:bodyPr wrap="square" anchor="t" lIns="0" rIns="0" tIns="0" bIns="0">
            <a:spAutoFit/>
          </a:bodyPr>
          <a:lstStyle/>
          <a:p>
            <a:pPr algn="l">
              <a:spcBef>
                <a:spcPts val="0"/>
              </a:spcBef>
              <a:spcAft>
                <a:spcPts val="400"/>
              </a:spcAft>
            </a:pPr>
            <a:r>
              <a:rPr sz="1300" b="1" i="0">
                <a:solidFill>
                  <a:srgbClr val="F89739"/>
                </a:solidFill>
                <a:latin typeface="Calibri"/>
              </a:rPr>
              <a:t>Prototype reads: HHI ≈ 1,825 (moderate) · top two vendors hold ~50% of spend · cost-per-quality outlier flagged for renegotiation.</a:t>
            </a:r>
          </a:p>
          <a:p>
            <a:pPr algn="l">
              <a:spcBef>
                <a:spcPts val="0"/>
              </a:spcBef>
              <a:spcAft>
                <a:spcPts val="0"/>
              </a:spcAft>
            </a:pPr>
            <a:r>
              <a:rPr sz="1150" b="0" i="0">
                <a:solidFill>
                  <a:srgbClr val="A9AFB6"/>
                </a:solidFill>
                <a:latin typeface="Calibri"/>
              </a:rPr>
              <a:t>All advisory — it informs the vendor and renewal decision; a human makes the call.</a:t>
            </a:r>
          </a:p>
        </p:txBody>
      </p:sp>
      <p:sp>
        <p:nvSpPr>
          <p:cNvPr id="27" name="Rectangle 26"/>
          <p:cNvSpPr/>
          <p:nvPr/>
        </p:nvSpPr>
        <p:spPr>
          <a:xfrm>
            <a:off x="685800" y="6419088"/>
            <a:ext cx="10820095" cy="952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6473952"/>
            <a:ext cx="7315200" cy="274320"/>
          </a:xfrm>
          <a:prstGeom prst="rect">
            <a:avLst/>
          </a:prstGeom>
          <a:noFill/>
        </p:spPr>
        <p:txBody>
          <a:bodyPr wrap="square" anchor="t" lIns="0" rIns="0" tIns="0" bIns="0">
            <a:spAutoFit/>
          </a:bodyPr>
          <a:lstStyle/>
          <a:p>
            <a:pPr algn="l">
              <a:spcBef>
                <a:spcPts val="0"/>
              </a:spcBef>
              <a:spcAft>
                <a:spcPts val="0"/>
              </a:spcAft>
            </a:pPr>
            <a:r>
              <a:rPr sz="900" b="0" i="0">
                <a:solidFill>
                  <a:srgbClr val="A9AFB6"/>
                </a:solidFill>
                <a:latin typeface="Calibri"/>
              </a:rPr>
              <a:t>Cortex Atlas  ·  Illustrative prototype, synthetic data  ·  Confidential</a:t>
            </a:r>
          </a:p>
        </p:txBody>
      </p:sp>
      <p:sp>
        <p:nvSpPr>
          <p:cNvPr id="29" name="TextBox 28"/>
          <p:cNvSpPr txBox="1"/>
          <p:nvPr/>
        </p:nvSpPr>
        <p:spPr>
          <a:xfrm>
            <a:off x="10591495" y="6473952"/>
            <a:ext cx="914400" cy="274320"/>
          </a:xfrm>
          <a:prstGeom prst="rect">
            <a:avLst/>
          </a:prstGeom>
          <a:noFill/>
        </p:spPr>
        <p:txBody>
          <a:bodyPr wrap="square" anchor="t" lIns="0" rIns="0" tIns="0" bIns="0">
            <a:spAutoFit/>
          </a:bodyPr>
          <a:lstStyle/>
          <a:p>
            <a:pPr algn="r">
              <a:spcBef>
                <a:spcPts val="0"/>
              </a:spcBef>
              <a:spcAft>
                <a:spcPts val="0"/>
              </a:spcAft>
            </a:pPr>
            <a:r>
              <a:rPr sz="900" b="0" i="0">
                <a:solidFill>
                  <a:srgbClr val="A9AFB6"/>
                </a:solidFill>
                <a:latin typeface="Calibri"/>
              </a:rPr>
              <a:t>10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4F4"/>
        </a:solidFill>
        <a:effectLst/>
      </p:bgPr>
    </p:bg>
    <p:spTree>
      <p:nvGrpSpPr>
        <p:cNvPr id="1" name=""/>
        <p:cNvGrpSpPr/>
        <p:nvPr/>
      </p:nvGrpSpPr>
      <p:grpSpPr/>
      <p:sp>
        <p:nvSpPr>
          <p:cNvPr id="2" name="Rectangle 1"/>
          <p:cNvSpPr/>
          <p:nvPr/>
        </p:nvSpPr>
        <p:spPr>
          <a:xfrm>
            <a:off x="685800" y="566928"/>
            <a:ext cx="310896" cy="82296"/>
          </a:xfrm>
          <a:prstGeom prst="rect">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457200"/>
            <a:ext cx="10408615" cy="320040"/>
          </a:xfrm>
          <a:prstGeom prst="rect">
            <a:avLst/>
          </a:prstGeom>
          <a:noFill/>
        </p:spPr>
        <p:txBody>
          <a:bodyPr wrap="square" anchor="t" lIns="0" rIns="0" tIns="0" bIns="0">
            <a:spAutoFit/>
          </a:bodyPr>
          <a:lstStyle/>
          <a:p>
            <a:pPr algn="l">
              <a:spcBef>
                <a:spcPts val="0"/>
              </a:spcBef>
              <a:spcAft>
                <a:spcPts val="0"/>
              </a:spcAft>
            </a:pPr>
            <a:r>
              <a:rPr sz="1250" b="1" i="0">
                <a:solidFill>
                  <a:srgbClr val="F89739"/>
                </a:solidFill>
                <a:latin typeface="Calibri"/>
              </a:rPr>
              <a:t>TOOL 5 — CONTINUOUS CONTROL</a:t>
            </a:r>
          </a:p>
        </p:txBody>
      </p:sp>
      <p:sp>
        <p:nvSpPr>
          <p:cNvPr id="4" name="TextBox 3"/>
          <p:cNvSpPr txBox="1"/>
          <p:nvPr/>
        </p:nvSpPr>
        <p:spPr>
          <a:xfrm>
            <a:off x="685800" y="841248"/>
            <a:ext cx="10820095" cy="640080"/>
          </a:xfrm>
          <a:prstGeom prst="rect">
            <a:avLst/>
          </a:prstGeom>
          <a:noFill/>
        </p:spPr>
        <p:txBody>
          <a:bodyPr wrap="square" anchor="t" lIns="0" rIns="0" tIns="0" bIns="0">
            <a:spAutoFit/>
          </a:bodyPr>
          <a:lstStyle/>
          <a:p>
            <a:pPr algn="l">
              <a:spcBef>
                <a:spcPts val="0"/>
              </a:spcBef>
              <a:spcAft>
                <a:spcPts val="0"/>
              </a:spcAft>
            </a:pPr>
            <a:r>
              <a:rPr sz="2900" b="1" i="0">
                <a:solidFill>
                  <a:srgbClr val="09131B"/>
                </a:solidFill>
                <a:latin typeface="Calibri"/>
              </a:rPr>
              <a:t>TPA Hub</a:t>
            </a:r>
          </a:p>
        </p:txBody>
      </p:sp>
      <p:sp>
        <p:nvSpPr>
          <p:cNvPr id="5" name="TextBox 4"/>
          <p:cNvSpPr txBox="1"/>
          <p:nvPr/>
        </p:nvSpPr>
        <p:spPr>
          <a:xfrm>
            <a:off x="685800" y="1481328"/>
            <a:ext cx="10820095" cy="457200"/>
          </a:xfrm>
          <a:prstGeom prst="rect">
            <a:avLst/>
          </a:prstGeom>
          <a:noFill/>
        </p:spPr>
        <p:txBody>
          <a:bodyPr wrap="square" anchor="t" lIns="0" rIns="0" tIns="0" bIns="0">
            <a:spAutoFit/>
          </a:bodyPr>
          <a:lstStyle/>
          <a:p>
            <a:pPr algn="l">
              <a:spcBef>
                <a:spcPts val="0"/>
              </a:spcBef>
              <a:spcAft>
                <a:spcPts val="0"/>
              </a:spcAft>
            </a:pPr>
            <a:r>
              <a:rPr sz="1450" b="0" i="0">
                <a:solidFill>
                  <a:srgbClr val="595959"/>
                </a:solidFill>
                <a:latin typeface="Calibri"/>
              </a:rPr>
              <a:t>The agreement register — and an active reminder engine that already runs.</a:t>
            </a:r>
          </a:p>
        </p:txBody>
      </p:sp>
      <p:sp>
        <p:nvSpPr>
          <p:cNvPr id="6" name="Rounded Rectangle 5"/>
          <p:cNvSpPr/>
          <p:nvPr/>
        </p:nvSpPr>
        <p:spPr>
          <a:xfrm>
            <a:off x="685800" y="1874519"/>
            <a:ext cx="3566160" cy="278892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86968" y="2130551"/>
            <a:ext cx="420624" cy="420624"/>
          </a:xfrm>
          <a:prstGeom prst="roundRect">
            <a:avLst>
              <a:gd name="adj" fmla="val 25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2130551"/>
            <a:ext cx="420624" cy="420624"/>
          </a:xfrm>
          <a:prstGeom prst="rect">
            <a:avLst/>
          </a:prstGeom>
          <a:noFill/>
        </p:spPr>
        <p:txBody>
          <a:bodyPr wrap="square" anchor="ctr" lIns="0" rIns="0" tIns="0" bIns="0">
            <a:spAutoFit/>
          </a:bodyPr>
          <a:lstStyle/>
          <a:p>
            <a:pPr algn="ctr">
              <a:spcBef>
                <a:spcPts val="0"/>
              </a:spcBef>
              <a:spcAft>
                <a:spcPts val="0"/>
              </a:spcAft>
            </a:pPr>
            <a:r>
              <a:rPr sz="1400" b="1" i="0">
                <a:solidFill>
                  <a:srgbClr val="09131B"/>
                </a:solidFill>
                <a:latin typeface="Calibri"/>
              </a:rPr>
              <a:t>1</a:t>
            </a:r>
          </a:p>
        </p:txBody>
      </p:sp>
      <p:sp>
        <p:nvSpPr>
          <p:cNvPr id="9" name="TextBox 8"/>
          <p:cNvSpPr txBox="1"/>
          <p:nvPr/>
        </p:nvSpPr>
        <p:spPr>
          <a:xfrm>
            <a:off x="886968" y="2743199"/>
            <a:ext cx="3163824" cy="1828800"/>
          </a:xfrm>
          <a:prstGeom prst="rect">
            <a:avLst/>
          </a:prstGeom>
          <a:noFill/>
        </p:spPr>
        <p:txBody>
          <a:bodyPr wrap="square" anchor="t" lIns="0" rIns="0" tIns="0" bIns="0">
            <a:spAutoFit/>
          </a:bodyPr>
          <a:lstStyle/>
          <a:p>
            <a:pPr algn="l">
              <a:spcBef>
                <a:spcPts val="0"/>
              </a:spcBef>
              <a:spcAft>
                <a:spcPts val="600"/>
              </a:spcAft>
            </a:pPr>
            <a:r>
              <a:rPr sz="1500" b="1" i="0">
                <a:solidFill>
                  <a:srgbClr val="09131B"/>
                </a:solidFill>
                <a:latin typeface="Calibri"/>
              </a:rPr>
              <a:t>30/60/90 reminders</a:t>
            </a:r>
          </a:p>
          <a:p>
            <a:pPr algn="l">
              <a:spcBef>
                <a:spcPts val="0"/>
              </a:spcBef>
              <a:spcAft>
                <a:spcPts val="0"/>
              </a:spcAft>
            </a:pPr>
            <a:r>
              <a:rPr sz="1200" b="0" i="0">
                <a:solidFill>
                  <a:srgbClr val="595959"/>
                </a:solidFill>
                <a:latin typeface="Calibri"/>
              </a:rPr>
              <a:t>Every agreement is tracked to expiry; reminders fire automatically at 90, 60 and 30 days, escalating to the owner inside 30.</a:t>
            </a:r>
          </a:p>
        </p:txBody>
      </p:sp>
      <p:sp>
        <p:nvSpPr>
          <p:cNvPr id="10" name="Rounded Rectangle 9"/>
          <p:cNvSpPr/>
          <p:nvPr/>
        </p:nvSpPr>
        <p:spPr>
          <a:xfrm>
            <a:off x="4389120" y="1874519"/>
            <a:ext cx="3566160" cy="278892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90288" y="2130551"/>
            <a:ext cx="420624" cy="420624"/>
          </a:xfrm>
          <a:prstGeom prst="roundRect">
            <a:avLst>
              <a:gd name="adj" fmla="val 25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0288" y="2130551"/>
            <a:ext cx="420624" cy="420624"/>
          </a:xfrm>
          <a:prstGeom prst="rect">
            <a:avLst/>
          </a:prstGeom>
          <a:noFill/>
        </p:spPr>
        <p:txBody>
          <a:bodyPr wrap="square" anchor="ctr" lIns="0" rIns="0" tIns="0" bIns="0">
            <a:spAutoFit/>
          </a:bodyPr>
          <a:lstStyle/>
          <a:p>
            <a:pPr algn="ctr">
              <a:spcBef>
                <a:spcPts val="0"/>
              </a:spcBef>
              <a:spcAft>
                <a:spcPts val="0"/>
              </a:spcAft>
            </a:pPr>
            <a:r>
              <a:rPr sz="1400" b="1" i="0">
                <a:solidFill>
                  <a:srgbClr val="09131B"/>
                </a:solidFill>
                <a:latin typeface="Calibri"/>
              </a:rPr>
              <a:t>2</a:t>
            </a:r>
          </a:p>
        </p:txBody>
      </p:sp>
      <p:sp>
        <p:nvSpPr>
          <p:cNvPr id="13" name="TextBox 12"/>
          <p:cNvSpPr txBox="1"/>
          <p:nvPr/>
        </p:nvSpPr>
        <p:spPr>
          <a:xfrm>
            <a:off x="4590288" y="2743199"/>
            <a:ext cx="3163824" cy="1828800"/>
          </a:xfrm>
          <a:prstGeom prst="rect">
            <a:avLst/>
          </a:prstGeom>
          <a:noFill/>
        </p:spPr>
        <p:txBody>
          <a:bodyPr wrap="square" anchor="t" lIns="0" rIns="0" tIns="0" bIns="0">
            <a:spAutoFit/>
          </a:bodyPr>
          <a:lstStyle/>
          <a:p>
            <a:pPr algn="l">
              <a:spcBef>
                <a:spcPts val="0"/>
              </a:spcBef>
              <a:spcAft>
                <a:spcPts val="600"/>
              </a:spcAft>
            </a:pPr>
            <a:r>
              <a:rPr sz="1500" b="1" i="0">
                <a:solidFill>
                  <a:srgbClr val="09131B"/>
                </a:solidFill>
                <a:latin typeface="Calibri"/>
              </a:rPr>
              <a:t>Runway at a glance</a:t>
            </a:r>
          </a:p>
          <a:p>
            <a:pPr algn="l">
              <a:spcBef>
                <a:spcPts val="0"/>
              </a:spcBef>
              <a:spcAft>
                <a:spcPts val="0"/>
              </a:spcAft>
            </a:pPr>
            <a:r>
              <a:rPr sz="1200" b="0" i="0">
                <a:solidFill>
                  <a:srgbClr val="595959"/>
                </a:solidFill>
                <a:latin typeface="Calibri"/>
              </a:rPr>
              <a:t>A live view of what's expiring when — moving renewals from reactive scramble to planned, leverage-preserving negotiation.</a:t>
            </a:r>
          </a:p>
        </p:txBody>
      </p:sp>
      <p:sp>
        <p:nvSpPr>
          <p:cNvPr id="14" name="Rounded Rectangle 13"/>
          <p:cNvSpPr/>
          <p:nvPr/>
        </p:nvSpPr>
        <p:spPr>
          <a:xfrm>
            <a:off x="8092440" y="1874519"/>
            <a:ext cx="3566160" cy="278892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293608" y="2130551"/>
            <a:ext cx="420624" cy="420624"/>
          </a:xfrm>
          <a:prstGeom prst="roundRect">
            <a:avLst>
              <a:gd name="adj" fmla="val 25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2130551"/>
            <a:ext cx="420624" cy="420624"/>
          </a:xfrm>
          <a:prstGeom prst="rect">
            <a:avLst/>
          </a:prstGeom>
          <a:noFill/>
        </p:spPr>
        <p:txBody>
          <a:bodyPr wrap="square" anchor="ctr" lIns="0" rIns="0" tIns="0" bIns="0">
            <a:spAutoFit/>
          </a:bodyPr>
          <a:lstStyle/>
          <a:p>
            <a:pPr algn="ctr">
              <a:spcBef>
                <a:spcPts val="0"/>
              </a:spcBef>
              <a:spcAft>
                <a:spcPts val="0"/>
              </a:spcAft>
            </a:pPr>
            <a:r>
              <a:rPr sz="1400" b="1" i="0">
                <a:solidFill>
                  <a:srgbClr val="09131B"/>
                </a:solidFill>
                <a:latin typeface="Calibri"/>
              </a:rPr>
              <a:t>3</a:t>
            </a:r>
          </a:p>
        </p:txBody>
      </p:sp>
      <p:sp>
        <p:nvSpPr>
          <p:cNvPr id="17" name="TextBox 16"/>
          <p:cNvSpPr txBox="1"/>
          <p:nvPr/>
        </p:nvSpPr>
        <p:spPr>
          <a:xfrm>
            <a:off x="8293608" y="2743199"/>
            <a:ext cx="3163824" cy="1828800"/>
          </a:xfrm>
          <a:prstGeom prst="rect">
            <a:avLst/>
          </a:prstGeom>
          <a:noFill/>
        </p:spPr>
        <p:txBody>
          <a:bodyPr wrap="square" anchor="t" lIns="0" rIns="0" tIns="0" bIns="0">
            <a:spAutoFit/>
          </a:bodyPr>
          <a:lstStyle/>
          <a:p>
            <a:pPr algn="l">
              <a:spcBef>
                <a:spcPts val="0"/>
              </a:spcBef>
              <a:spcAft>
                <a:spcPts val="600"/>
              </a:spcAft>
            </a:pPr>
            <a:r>
              <a:rPr sz="1500" b="1" i="0">
                <a:solidFill>
                  <a:srgbClr val="09131B"/>
                </a:solidFill>
                <a:latin typeface="Calibri"/>
              </a:rPr>
              <a:t>Cross-tool warning</a:t>
            </a:r>
          </a:p>
          <a:p>
            <a:pPr algn="l">
              <a:spcBef>
                <a:spcPts val="0"/>
              </a:spcBef>
              <a:spcAft>
                <a:spcPts val="0"/>
              </a:spcAft>
            </a:pPr>
            <a:r>
              <a:rPr sz="1200" b="0" i="0">
                <a:solidFill>
                  <a:srgbClr val="595959"/>
                </a:solidFill>
                <a:latin typeface="Calibri"/>
              </a:rPr>
              <a:t>Atlas connects expiry to impact: it flags when an expiring agreement sits behind a strategic KPI, and predicts renew vs retire.</a:t>
            </a:r>
          </a:p>
        </p:txBody>
      </p:sp>
      <p:sp>
        <p:nvSpPr>
          <p:cNvPr id="18" name="TextBox 17"/>
          <p:cNvSpPr txBox="1"/>
          <p:nvPr/>
        </p:nvSpPr>
        <p:spPr>
          <a:xfrm>
            <a:off x="685800" y="4983480"/>
            <a:ext cx="10820095" cy="365760"/>
          </a:xfrm>
          <a:prstGeom prst="rect">
            <a:avLst/>
          </a:prstGeom>
          <a:noFill/>
        </p:spPr>
        <p:txBody>
          <a:bodyPr wrap="square" anchor="t" lIns="0" rIns="0" tIns="0" bIns="0">
            <a:spAutoFit/>
          </a:bodyPr>
          <a:lstStyle/>
          <a:p>
            <a:pPr algn="l">
              <a:spcBef>
                <a:spcPts val="0"/>
              </a:spcBef>
              <a:spcAft>
                <a:spcPts val="0"/>
              </a:spcAft>
            </a:pPr>
            <a:r>
              <a:rPr sz="1050" b="1" i="0">
                <a:solidFill>
                  <a:srgbClr val="F89739"/>
                </a:solidFill>
                <a:latin typeface="Calibri"/>
              </a:rPr>
              <a:t>WHAT THE PROTOTYPE SURFACES</a:t>
            </a:r>
          </a:p>
        </p:txBody>
      </p:sp>
      <p:sp>
        <p:nvSpPr>
          <p:cNvPr id="19" name="TextBox 18"/>
          <p:cNvSpPr txBox="1"/>
          <p:nvPr/>
        </p:nvSpPr>
        <p:spPr>
          <a:xfrm>
            <a:off x="685800" y="5303520"/>
            <a:ext cx="10820095" cy="731520"/>
          </a:xfrm>
          <a:prstGeom prst="rect">
            <a:avLst/>
          </a:prstGeom>
          <a:noFill/>
        </p:spPr>
        <p:txBody>
          <a:bodyPr wrap="square" anchor="t" lIns="0" rIns="0" tIns="0" bIns="0">
            <a:spAutoFit/>
          </a:bodyPr>
          <a:lstStyle/>
          <a:p>
            <a:pPr algn="l">
              <a:spcBef>
                <a:spcPts val="0"/>
              </a:spcBef>
              <a:spcAft>
                <a:spcPts val="0"/>
              </a:spcAft>
            </a:pPr>
            <a:r>
              <a:rPr sz="1350" b="1" i="0">
                <a:solidFill>
                  <a:srgbClr val="09131B"/>
                </a:solidFill>
                <a:latin typeface="Calibri"/>
              </a:rPr>
              <a:t>6 agreements expire within 90 days (3 within 30) — including the sole agreement behind a Tier-1 OncoNova KPI, due in ~3 weeks.</a:t>
            </a:r>
          </a:p>
        </p:txBody>
      </p:sp>
      <p:sp>
        <p:nvSpPr>
          <p:cNvPr id="20" name="TextBox 19"/>
          <p:cNvSpPr txBox="1"/>
          <p:nvPr/>
        </p:nvSpPr>
        <p:spPr>
          <a:xfrm>
            <a:off x="685800" y="5943600"/>
            <a:ext cx="2011680" cy="292608"/>
          </a:xfrm>
          <a:prstGeom prst="rect">
            <a:avLst/>
          </a:prstGeom>
          <a:noFill/>
        </p:spPr>
        <p:txBody>
          <a:bodyPr wrap="square" anchor="t" lIns="0" rIns="0" tIns="0" bIns="0">
            <a:spAutoFit/>
          </a:bodyPr>
          <a:lstStyle/>
          <a:p>
            <a:pPr algn="l">
              <a:spcBef>
                <a:spcPts val="0"/>
              </a:spcBef>
              <a:spcAft>
                <a:spcPts val="0"/>
              </a:spcAft>
            </a:pPr>
            <a:r>
              <a:rPr sz="950" b="1" i="0">
                <a:solidFill>
                  <a:srgbClr val="595959"/>
                </a:solidFill>
                <a:latin typeface="Calibri"/>
              </a:rPr>
              <a:t>Production feeds:</a:t>
            </a:r>
          </a:p>
        </p:txBody>
      </p:sp>
      <p:sp>
        <p:nvSpPr>
          <p:cNvPr id="21" name="Rounded Rectangle 20"/>
          <p:cNvSpPr/>
          <p:nvPr/>
        </p:nvSpPr>
        <p:spPr>
          <a:xfrm>
            <a:off x="1920240" y="5907024"/>
            <a:ext cx="987551" cy="292608"/>
          </a:xfrm>
          <a:prstGeom prst="roundRect">
            <a:avLst>
              <a:gd name="adj" fmla="val 50000"/>
            </a:avLst>
          </a:prstGeom>
          <a:solidFill>
            <a:srgbClr val="F4F4F4"/>
          </a:solidFill>
          <a:ln w="9525">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20240" y="5907024"/>
            <a:ext cx="987551" cy="292608"/>
          </a:xfrm>
          <a:prstGeom prst="rect">
            <a:avLst/>
          </a:prstGeom>
          <a:noFill/>
        </p:spPr>
        <p:txBody>
          <a:bodyPr wrap="square" anchor="ctr" lIns="0" rIns="0" tIns="0" bIns="0">
            <a:spAutoFit/>
          </a:bodyPr>
          <a:lstStyle/>
          <a:p>
            <a:pPr algn="ctr">
              <a:spcBef>
                <a:spcPts val="0"/>
              </a:spcBef>
              <a:spcAft>
                <a:spcPts val="0"/>
              </a:spcAft>
            </a:pPr>
            <a:r>
              <a:rPr sz="1000" b="1" i="0">
                <a:solidFill>
                  <a:srgbClr val="595959"/>
                </a:solidFill>
                <a:latin typeface="Calibri"/>
              </a:rPr>
              <a:t>SharePoint</a:t>
            </a:r>
          </a:p>
        </p:txBody>
      </p:sp>
      <p:sp>
        <p:nvSpPr>
          <p:cNvPr id="23" name="Rounded Rectangle 22"/>
          <p:cNvSpPr/>
          <p:nvPr/>
        </p:nvSpPr>
        <p:spPr>
          <a:xfrm>
            <a:off x="3017519" y="5907024"/>
            <a:ext cx="1324051" cy="292608"/>
          </a:xfrm>
          <a:prstGeom prst="roundRect">
            <a:avLst>
              <a:gd name="adj" fmla="val 50000"/>
            </a:avLst>
          </a:prstGeom>
          <a:solidFill>
            <a:srgbClr val="F4F4F4"/>
          </a:solidFill>
          <a:ln w="9525">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17519" y="5907024"/>
            <a:ext cx="1324051" cy="292608"/>
          </a:xfrm>
          <a:prstGeom prst="rect">
            <a:avLst/>
          </a:prstGeom>
          <a:noFill/>
        </p:spPr>
        <p:txBody>
          <a:bodyPr wrap="square" anchor="ctr" lIns="0" rIns="0" tIns="0" bIns="0">
            <a:spAutoFit/>
          </a:bodyPr>
          <a:lstStyle/>
          <a:p>
            <a:pPr algn="ctr">
              <a:spcBef>
                <a:spcPts val="0"/>
              </a:spcBef>
              <a:spcAft>
                <a:spcPts val="0"/>
              </a:spcAft>
            </a:pPr>
            <a:r>
              <a:rPr sz="1000" b="1" i="0">
                <a:solidFill>
                  <a:srgbClr val="595959"/>
                </a:solidFill>
                <a:latin typeface="Calibri"/>
              </a:rPr>
              <a:t>Power Automate</a:t>
            </a:r>
          </a:p>
        </p:txBody>
      </p:sp>
      <p:sp>
        <p:nvSpPr>
          <p:cNvPr id="25" name="Rounded Rectangle 24"/>
          <p:cNvSpPr/>
          <p:nvPr/>
        </p:nvSpPr>
        <p:spPr>
          <a:xfrm>
            <a:off x="4451298" y="5907024"/>
            <a:ext cx="1576425" cy="292608"/>
          </a:xfrm>
          <a:prstGeom prst="roundRect">
            <a:avLst>
              <a:gd name="adj" fmla="val 50000"/>
            </a:avLst>
          </a:prstGeom>
          <a:solidFill>
            <a:srgbClr val="F4F4F4"/>
          </a:solidFill>
          <a:ln w="9525">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51298" y="5907024"/>
            <a:ext cx="1576425" cy="292608"/>
          </a:xfrm>
          <a:prstGeom prst="rect">
            <a:avLst/>
          </a:prstGeom>
          <a:noFill/>
        </p:spPr>
        <p:txBody>
          <a:bodyPr wrap="square" anchor="ctr" lIns="0" rIns="0" tIns="0" bIns="0">
            <a:spAutoFit/>
          </a:bodyPr>
          <a:lstStyle/>
          <a:p>
            <a:pPr algn="ctr">
              <a:spcBef>
                <a:spcPts val="0"/>
              </a:spcBef>
              <a:spcAft>
                <a:spcPts val="0"/>
              </a:spcAft>
            </a:pPr>
            <a:r>
              <a:rPr sz="1000" b="1" i="0">
                <a:solidFill>
                  <a:srgbClr val="595959"/>
                </a:solidFill>
                <a:latin typeface="Calibri"/>
              </a:rPr>
              <a:t>Microsoft Purview</a:t>
            </a:r>
          </a:p>
        </p:txBody>
      </p:sp>
      <p:sp>
        <p:nvSpPr>
          <p:cNvPr id="27" name="Rectangle 26"/>
          <p:cNvSpPr/>
          <p:nvPr/>
        </p:nvSpPr>
        <p:spPr>
          <a:xfrm>
            <a:off x="685800" y="6419088"/>
            <a:ext cx="10820095" cy="952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6473952"/>
            <a:ext cx="7315200" cy="274320"/>
          </a:xfrm>
          <a:prstGeom prst="rect">
            <a:avLst/>
          </a:prstGeom>
          <a:noFill/>
        </p:spPr>
        <p:txBody>
          <a:bodyPr wrap="square" anchor="t" lIns="0" rIns="0" tIns="0" bIns="0">
            <a:spAutoFit/>
          </a:bodyPr>
          <a:lstStyle/>
          <a:p>
            <a:pPr algn="l">
              <a:spcBef>
                <a:spcPts val="0"/>
              </a:spcBef>
              <a:spcAft>
                <a:spcPts val="0"/>
              </a:spcAft>
            </a:pPr>
            <a:r>
              <a:rPr sz="900" b="0" i="0">
                <a:solidFill>
                  <a:srgbClr val="A9AFB6"/>
                </a:solidFill>
                <a:latin typeface="Calibri"/>
              </a:rPr>
              <a:t>Cortex Atlas  ·  Illustrative prototype, synthetic data  ·  Confidential</a:t>
            </a:r>
          </a:p>
        </p:txBody>
      </p:sp>
      <p:sp>
        <p:nvSpPr>
          <p:cNvPr id="29" name="TextBox 28"/>
          <p:cNvSpPr txBox="1"/>
          <p:nvPr/>
        </p:nvSpPr>
        <p:spPr>
          <a:xfrm>
            <a:off x="10591495" y="6473952"/>
            <a:ext cx="914400" cy="274320"/>
          </a:xfrm>
          <a:prstGeom prst="rect">
            <a:avLst/>
          </a:prstGeom>
          <a:noFill/>
        </p:spPr>
        <p:txBody>
          <a:bodyPr wrap="square" anchor="t" lIns="0" rIns="0" tIns="0" bIns="0">
            <a:spAutoFit/>
          </a:bodyPr>
          <a:lstStyle/>
          <a:p>
            <a:pPr algn="r">
              <a:spcBef>
                <a:spcPts val="0"/>
              </a:spcBef>
              <a:spcAft>
                <a:spcPts val="0"/>
              </a:spcAft>
            </a:pPr>
            <a:r>
              <a:rPr sz="900" b="0" i="0">
                <a:solidFill>
                  <a:srgbClr val="A9AFB6"/>
                </a:solidFill>
                <a:latin typeface="Calibri"/>
              </a:rPr>
              <a:t>11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4F4"/>
        </a:solidFill>
        <a:effectLst/>
      </p:bgPr>
    </p:bg>
    <p:spTree>
      <p:nvGrpSpPr>
        <p:cNvPr id="1" name=""/>
        <p:cNvGrpSpPr/>
        <p:nvPr/>
      </p:nvGrpSpPr>
      <p:grpSpPr/>
      <p:sp>
        <p:nvSpPr>
          <p:cNvPr id="2" name="Rectangle 1"/>
          <p:cNvSpPr/>
          <p:nvPr/>
        </p:nvSpPr>
        <p:spPr>
          <a:xfrm>
            <a:off x="685800" y="566928"/>
            <a:ext cx="310896" cy="82296"/>
          </a:xfrm>
          <a:prstGeom prst="rect">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457200"/>
            <a:ext cx="10408615" cy="320040"/>
          </a:xfrm>
          <a:prstGeom prst="rect">
            <a:avLst/>
          </a:prstGeom>
          <a:noFill/>
        </p:spPr>
        <p:txBody>
          <a:bodyPr wrap="square" anchor="t" lIns="0" rIns="0" tIns="0" bIns="0">
            <a:spAutoFit/>
          </a:bodyPr>
          <a:lstStyle/>
          <a:p>
            <a:pPr algn="l">
              <a:spcBef>
                <a:spcPts val="0"/>
              </a:spcBef>
              <a:spcAft>
                <a:spcPts val="0"/>
              </a:spcAft>
            </a:pPr>
            <a:r>
              <a:rPr sz="1250" b="1" i="0">
                <a:solidFill>
                  <a:srgbClr val="F89739"/>
                </a:solidFill>
                <a:latin typeface="Calibri"/>
              </a:rPr>
              <a:t>ENHANCEMENTS</a:t>
            </a:r>
          </a:p>
        </p:txBody>
      </p:sp>
      <p:sp>
        <p:nvSpPr>
          <p:cNvPr id="4" name="TextBox 3"/>
          <p:cNvSpPr txBox="1"/>
          <p:nvPr/>
        </p:nvSpPr>
        <p:spPr>
          <a:xfrm>
            <a:off x="685800" y="841248"/>
            <a:ext cx="10820095" cy="640080"/>
          </a:xfrm>
          <a:prstGeom prst="rect">
            <a:avLst/>
          </a:prstGeom>
          <a:noFill/>
        </p:spPr>
        <p:txBody>
          <a:bodyPr wrap="square" anchor="t" lIns="0" rIns="0" tIns="0" bIns="0">
            <a:spAutoFit/>
          </a:bodyPr>
          <a:lstStyle/>
          <a:p>
            <a:pPr algn="l">
              <a:spcBef>
                <a:spcPts val="0"/>
              </a:spcBef>
              <a:spcAft>
                <a:spcPts val="0"/>
              </a:spcAft>
            </a:pPr>
            <a:r>
              <a:rPr sz="2900" b="1" i="0">
                <a:solidFill>
                  <a:srgbClr val="09131B"/>
                </a:solidFill>
                <a:latin typeface="Calibri"/>
              </a:rPr>
              <a:t>Automation and intelligence — built into every tool</a:t>
            </a:r>
          </a:p>
        </p:txBody>
      </p:sp>
      <p:sp>
        <p:nvSpPr>
          <p:cNvPr id="5" name="TextBox 4"/>
          <p:cNvSpPr txBox="1"/>
          <p:nvPr/>
        </p:nvSpPr>
        <p:spPr>
          <a:xfrm>
            <a:off x="685800" y="1755648"/>
            <a:ext cx="2286000" cy="274320"/>
          </a:xfrm>
          <a:prstGeom prst="rect">
            <a:avLst/>
          </a:prstGeom>
          <a:noFill/>
        </p:spPr>
        <p:txBody>
          <a:bodyPr wrap="square" anchor="t" lIns="0" rIns="0" tIns="0" bIns="0">
            <a:spAutoFit/>
          </a:bodyPr>
          <a:lstStyle/>
          <a:p>
            <a:pPr algn="l">
              <a:spcBef>
                <a:spcPts val="0"/>
              </a:spcBef>
              <a:spcAft>
                <a:spcPts val="0"/>
              </a:spcAft>
            </a:pPr>
            <a:r>
              <a:rPr sz="1050" b="1" i="0">
                <a:solidFill>
                  <a:srgbClr val="595959"/>
                </a:solidFill>
                <a:latin typeface="Calibri"/>
              </a:rPr>
              <a:t>TOOL</a:t>
            </a:r>
          </a:p>
        </p:txBody>
      </p:sp>
      <p:sp>
        <p:nvSpPr>
          <p:cNvPr id="6" name="TextBox 5"/>
          <p:cNvSpPr txBox="1"/>
          <p:nvPr/>
        </p:nvSpPr>
        <p:spPr>
          <a:xfrm>
            <a:off x="3017520" y="1755648"/>
            <a:ext cx="4206240" cy="274320"/>
          </a:xfrm>
          <a:prstGeom prst="rect">
            <a:avLst/>
          </a:prstGeom>
          <a:noFill/>
        </p:spPr>
        <p:txBody>
          <a:bodyPr wrap="square" anchor="t" lIns="0" rIns="0" tIns="0" bIns="0">
            <a:spAutoFit/>
          </a:bodyPr>
          <a:lstStyle/>
          <a:p>
            <a:pPr algn="l">
              <a:spcBef>
                <a:spcPts val="0"/>
              </a:spcBef>
              <a:spcAft>
                <a:spcPts val="0"/>
              </a:spcAft>
            </a:pPr>
            <a:r>
              <a:rPr sz="1050" b="1" i="0">
                <a:solidFill>
                  <a:srgbClr val="0563C1"/>
                </a:solidFill>
                <a:latin typeface="Calibri"/>
              </a:rPr>
              <a:t>AUTOMATION (Layer 2)</a:t>
            </a:r>
          </a:p>
        </p:txBody>
      </p:sp>
      <p:sp>
        <p:nvSpPr>
          <p:cNvPr id="7" name="TextBox 6"/>
          <p:cNvSpPr txBox="1"/>
          <p:nvPr/>
        </p:nvSpPr>
        <p:spPr>
          <a:xfrm>
            <a:off x="7360920" y="1755648"/>
            <a:ext cx="4206240" cy="274320"/>
          </a:xfrm>
          <a:prstGeom prst="rect">
            <a:avLst/>
          </a:prstGeom>
          <a:noFill/>
        </p:spPr>
        <p:txBody>
          <a:bodyPr wrap="square" anchor="t" lIns="0" rIns="0" tIns="0" bIns="0">
            <a:spAutoFit/>
          </a:bodyPr>
          <a:lstStyle/>
          <a:p>
            <a:pPr algn="l">
              <a:spcBef>
                <a:spcPts val="0"/>
              </a:spcBef>
              <a:spcAft>
                <a:spcPts val="0"/>
              </a:spcAft>
            </a:pPr>
            <a:r>
              <a:rPr sz="1050" b="1" i="0">
                <a:solidFill>
                  <a:srgbClr val="9A5C12"/>
                </a:solidFill>
                <a:latin typeface="Calibri"/>
              </a:rPr>
              <a:t>INTELLIGENCE &amp; NEXT-GEN (Layer 3)</a:t>
            </a:r>
          </a:p>
        </p:txBody>
      </p:sp>
      <p:sp>
        <p:nvSpPr>
          <p:cNvPr id="8" name="Rounded Rectangle 7"/>
          <p:cNvSpPr/>
          <p:nvPr/>
        </p:nvSpPr>
        <p:spPr>
          <a:xfrm>
            <a:off x="685800" y="2121408"/>
            <a:ext cx="10972800" cy="658368"/>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85800" y="2121408"/>
            <a:ext cx="91440" cy="658368"/>
          </a:xfrm>
          <a:prstGeom prst="roundRect">
            <a:avLst>
              <a:gd name="adj" fmla="val 50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 y="2194560"/>
            <a:ext cx="2103120" cy="530352"/>
          </a:xfrm>
          <a:prstGeom prst="rect">
            <a:avLst/>
          </a:prstGeom>
          <a:noFill/>
        </p:spPr>
        <p:txBody>
          <a:bodyPr wrap="square" anchor="ctr" lIns="0" rIns="0" tIns="0" bIns="0">
            <a:spAutoFit/>
          </a:bodyPr>
          <a:lstStyle/>
          <a:p>
            <a:pPr algn="l">
              <a:spcBef>
                <a:spcPts val="0"/>
              </a:spcBef>
              <a:spcAft>
                <a:spcPts val="0"/>
              </a:spcAft>
            </a:pPr>
            <a:r>
              <a:rPr sz="1250" b="1" i="0">
                <a:solidFill>
                  <a:srgbClr val="09131B"/>
                </a:solidFill>
                <a:latin typeface="Calibri"/>
              </a:rPr>
              <a:t>Data Requests</a:t>
            </a:r>
          </a:p>
        </p:txBody>
      </p:sp>
      <p:sp>
        <p:nvSpPr>
          <p:cNvPr id="11" name="TextBox 10"/>
          <p:cNvSpPr txBox="1"/>
          <p:nvPr/>
        </p:nvSpPr>
        <p:spPr>
          <a:xfrm>
            <a:off x="3017520" y="2194560"/>
            <a:ext cx="4206240" cy="530352"/>
          </a:xfrm>
          <a:prstGeom prst="rect">
            <a:avLst/>
          </a:prstGeom>
          <a:noFill/>
        </p:spPr>
        <p:txBody>
          <a:bodyPr wrap="square" anchor="ctr" lIns="0" rIns="0" tIns="0" bIns="0">
            <a:spAutoFit/>
          </a:bodyPr>
          <a:lstStyle/>
          <a:p>
            <a:pPr algn="l">
              <a:spcBef>
                <a:spcPts val="0"/>
              </a:spcBef>
              <a:spcAft>
                <a:spcPts val="0"/>
              </a:spcAft>
            </a:pPr>
            <a:r>
              <a:rPr sz="1030" b="0" i="0">
                <a:solidFill>
                  <a:srgbClr val="595959"/>
                </a:solidFill>
                <a:latin typeface="Calibri"/>
              </a:rPr>
              <a:t>Auto-status routing · renewal pre-fill · move-to-catalogue (draft) · Power Automate alerts</a:t>
            </a:r>
          </a:p>
        </p:txBody>
      </p:sp>
      <p:sp>
        <p:nvSpPr>
          <p:cNvPr id="12" name="TextBox 11"/>
          <p:cNvSpPr txBox="1"/>
          <p:nvPr/>
        </p:nvSpPr>
        <p:spPr>
          <a:xfrm>
            <a:off x="7360920" y="2194560"/>
            <a:ext cx="4206240" cy="530352"/>
          </a:xfrm>
          <a:prstGeom prst="rect">
            <a:avLst/>
          </a:prstGeom>
          <a:noFill/>
        </p:spPr>
        <p:txBody>
          <a:bodyPr wrap="square" anchor="ctr" lIns="0" rIns="0" tIns="0" bIns="0">
            <a:spAutoFit/>
          </a:bodyPr>
          <a:lstStyle/>
          <a:p>
            <a:pPr algn="l">
              <a:spcBef>
                <a:spcPts val="0"/>
              </a:spcBef>
              <a:spcAft>
                <a:spcPts val="0"/>
              </a:spcAft>
            </a:pPr>
            <a:r>
              <a:rPr sz="1030" b="0" i="0">
                <a:solidFill>
                  <a:srgbClr val="595959"/>
                </a:solidFill>
                <a:latin typeface="Calibri"/>
              </a:rPr>
              <a:t>Duplicate-buy detection · approval-likelihood · status dashboard · Ask Atlas</a:t>
            </a:r>
          </a:p>
        </p:txBody>
      </p:sp>
      <p:sp>
        <p:nvSpPr>
          <p:cNvPr id="13" name="Rounded Rectangle 12"/>
          <p:cNvSpPr/>
          <p:nvPr/>
        </p:nvSpPr>
        <p:spPr>
          <a:xfrm>
            <a:off x="685800" y="2871216"/>
            <a:ext cx="10972800" cy="658368"/>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85800" y="2871216"/>
            <a:ext cx="91440" cy="658368"/>
          </a:xfrm>
          <a:prstGeom prst="roundRect">
            <a:avLst>
              <a:gd name="adj" fmla="val 50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5256" y="2944368"/>
            <a:ext cx="2103120" cy="530352"/>
          </a:xfrm>
          <a:prstGeom prst="rect">
            <a:avLst/>
          </a:prstGeom>
          <a:noFill/>
        </p:spPr>
        <p:txBody>
          <a:bodyPr wrap="square" anchor="ctr" lIns="0" rIns="0" tIns="0" bIns="0">
            <a:spAutoFit/>
          </a:bodyPr>
          <a:lstStyle/>
          <a:p>
            <a:pPr algn="l">
              <a:spcBef>
                <a:spcPts val="0"/>
              </a:spcBef>
              <a:spcAft>
                <a:spcPts val="0"/>
              </a:spcAft>
            </a:pPr>
            <a:r>
              <a:rPr sz="1250" b="1" i="0">
                <a:solidFill>
                  <a:srgbClr val="09131B"/>
                </a:solidFill>
                <a:latin typeface="Calibri"/>
              </a:rPr>
              <a:t>Data Catalogue</a:t>
            </a:r>
          </a:p>
        </p:txBody>
      </p:sp>
      <p:sp>
        <p:nvSpPr>
          <p:cNvPr id="16" name="TextBox 15"/>
          <p:cNvSpPr txBox="1"/>
          <p:nvPr/>
        </p:nvSpPr>
        <p:spPr>
          <a:xfrm>
            <a:off x="3017520" y="2944368"/>
            <a:ext cx="4206240" cy="530352"/>
          </a:xfrm>
          <a:prstGeom prst="rect">
            <a:avLst/>
          </a:prstGeom>
          <a:noFill/>
        </p:spPr>
        <p:txBody>
          <a:bodyPr wrap="square" anchor="ctr" lIns="0" rIns="0" tIns="0" bIns="0">
            <a:spAutoFit/>
          </a:bodyPr>
          <a:lstStyle/>
          <a:p>
            <a:pPr algn="l">
              <a:spcBef>
                <a:spcPts val="0"/>
              </a:spcBef>
              <a:spcAft>
                <a:spcPts val="0"/>
              </a:spcAft>
            </a:pPr>
            <a:r>
              <a:rPr sz="1030" b="0" i="0">
                <a:solidFill>
                  <a:srgbClr val="595959"/>
                </a:solidFill>
                <a:latin typeface="Calibri"/>
              </a:rPr>
              <a:t>PII/PHI auto-classification · approved-request sync · renewal read-back</a:t>
            </a:r>
          </a:p>
        </p:txBody>
      </p:sp>
      <p:sp>
        <p:nvSpPr>
          <p:cNvPr id="17" name="TextBox 16"/>
          <p:cNvSpPr txBox="1"/>
          <p:nvPr/>
        </p:nvSpPr>
        <p:spPr>
          <a:xfrm>
            <a:off x="7360920" y="2944368"/>
            <a:ext cx="4206240" cy="530352"/>
          </a:xfrm>
          <a:prstGeom prst="rect">
            <a:avLst/>
          </a:prstGeom>
          <a:noFill/>
        </p:spPr>
        <p:txBody>
          <a:bodyPr wrap="square" anchor="ctr" lIns="0" rIns="0" tIns="0" bIns="0">
            <a:spAutoFit/>
          </a:bodyPr>
          <a:lstStyle/>
          <a:p>
            <a:pPr algn="l">
              <a:spcBef>
                <a:spcPts val="0"/>
              </a:spcBef>
              <a:spcAft>
                <a:spcPts val="0"/>
              </a:spcAft>
            </a:pPr>
            <a:r>
              <a:rPr sz="1030" b="0" i="0">
                <a:solidFill>
                  <a:srgbClr val="595959"/>
                </a:solidFill>
                <a:latin typeface="Calibri"/>
              </a:rPr>
              <a:t>Quality-risk flags · overlap detection · quality dashboard · Ask Atlas</a:t>
            </a:r>
          </a:p>
        </p:txBody>
      </p:sp>
      <p:sp>
        <p:nvSpPr>
          <p:cNvPr id="18" name="Rounded Rectangle 17"/>
          <p:cNvSpPr/>
          <p:nvPr/>
        </p:nvSpPr>
        <p:spPr>
          <a:xfrm>
            <a:off x="685800" y="3621024"/>
            <a:ext cx="10972800" cy="658368"/>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85800" y="3621024"/>
            <a:ext cx="91440" cy="658368"/>
          </a:xfrm>
          <a:prstGeom prst="roundRect">
            <a:avLst>
              <a:gd name="adj" fmla="val 50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94176"/>
            <a:ext cx="2103120" cy="530352"/>
          </a:xfrm>
          <a:prstGeom prst="rect">
            <a:avLst/>
          </a:prstGeom>
          <a:noFill/>
        </p:spPr>
        <p:txBody>
          <a:bodyPr wrap="square" anchor="ctr" lIns="0" rIns="0" tIns="0" bIns="0">
            <a:spAutoFit/>
          </a:bodyPr>
          <a:lstStyle/>
          <a:p>
            <a:pPr algn="l">
              <a:spcBef>
                <a:spcPts val="0"/>
              </a:spcBef>
              <a:spcAft>
                <a:spcPts val="0"/>
              </a:spcAft>
            </a:pPr>
            <a:r>
              <a:rPr sz="1250" b="1" i="0">
                <a:solidFill>
                  <a:srgbClr val="09131B"/>
                </a:solidFill>
                <a:latin typeface="Calibri"/>
              </a:rPr>
              <a:t>KPI Catalogue</a:t>
            </a:r>
          </a:p>
        </p:txBody>
      </p:sp>
      <p:sp>
        <p:nvSpPr>
          <p:cNvPr id="21" name="TextBox 20"/>
          <p:cNvSpPr txBox="1"/>
          <p:nvPr/>
        </p:nvSpPr>
        <p:spPr>
          <a:xfrm>
            <a:off x="3017520" y="3694176"/>
            <a:ext cx="4206240" cy="530352"/>
          </a:xfrm>
          <a:prstGeom prst="rect">
            <a:avLst/>
          </a:prstGeom>
          <a:noFill/>
        </p:spPr>
        <p:txBody>
          <a:bodyPr wrap="square" anchor="ctr" lIns="0" rIns="0" tIns="0" bIns="0">
            <a:spAutoFit/>
          </a:bodyPr>
          <a:lstStyle/>
          <a:p>
            <a:pPr algn="l">
              <a:spcBef>
                <a:spcPts val="0"/>
              </a:spcBef>
              <a:spcAft>
                <a:spcPts val="0"/>
              </a:spcAft>
            </a:pPr>
            <a:r>
              <a:rPr sz="1030" b="0" i="0">
                <a:solidFill>
                  <a:srgbClr val="595959"/>
                </a:solidFill>
                <a:latin typeface="Calibri"/>
              </a:rPr>
              <a:t>Lineage auto-resolve · retirement propagation</a:t>
            </a:r>
          </a:p>
        </p:txBody>
      </p:sp>
      <p:sp>
        <p:nvSpPr>
          <p:cNvPr id="22" name="TextBox 21"/>
          <p:cNvSpPr txBox="1"/>
          <p:nvPr/>
        </p:nvSpPr>
        <p:spPr>
          <a:xfrm>
            <a:off x="7360920" y="3694176"/>
            <a:ext cx="4206240" cy="530352"/>
          </a:xfrm>
          <a:prstGeom prst="rect">
            <a:avLst/>
          </a:prstGeom>
          <a:noFill/>
        </p:spPr>
        <p:txBody>
          <a:bodyPr wrap="square" anchor="ctr" lIns="0" rIns="0" tIns="0" bIns="0">
            <a:spAutoFit/>
          </a:bodyPr>
          <a:lstStyle/>
          <a:p>
            <a:pPr algn="l">
              <a:spcBef>
                <a:spcPts val="0"/>
              </a:spcBef>
              <a:spcAft>
                <a:spcPts val="0"/>
              </a:spcAft>
            </a:pPr>
            <a:r>
              <a:rPr sz="1030" b="0" i="0">
                <a:solidFill>
                  <a:srgbClr val="595959"/>
                </a:solidFill>
                <a:latin typeface="Calibri"/>
              </a:rPr>
              <a:t>Source quality-risk · impact analysis · scope dashboard · Ask Atlas</a:t>
            </a:r>
          </a:p>
        </p:txBody>
      </p:sp>
      <p:sp>
        <p:nvSpPr>
          <p:cNvPr id="23" name="Rounded Rectangle 22"/>
          <p:cNvSpPr/>
          <p:nvPr/>
        </p:nvSpPr>
        <p:spPr>
          <a:xfrm>
            <a:off x="685800" y="4370832"/>
            <a:ext cx="10972800" cy="658368"/>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85800" y="4370832"/>
            <a:ext cx="91440" cy="658368"/>
          </a:xfrm>
          <a:prstGeom prst="roundRect">
            <a:avLst>
              <a:gd name="adj" fmla="val 50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5256" y="4443984"/>
            <a:ext cx="2103120" cy="530352"/>
          </a:xfrm>
          <a:prstGeom prst="rect">
            <a:avLst/>
          </a:prstGeom>
          <a:noFill/>
        </p:spPr>
        <p:txBody>
          <a:bodyPr wrap="square" anchor="ctr" lIns="0" rIns="0" tIns="0" bIns="0">
            <a:spAutoFit/>
          </a:bodyPr>
          <a:lstStyle/>
          <a:p>
            <a:pPr algn="l">
              <a:spcBef>
                <a:spcPts val="0"/>
              </a:spcBef>
              <a:spcAft>
                <a:spcPts val="0"/>
              </a:spcAft>
            </a:pPr>
            <a:r>
              <a:rPr sz="1250" b="1" i="0">
                <a:solidFill>
                  <a:srgbClr val="09131B"/>
                </a:solidFill>
                <a:latin typeface="Calibri"/>
              </a:rPr>
              <a:t>Vendor Hub</a:t>
            </a:r>
          </a:p>
        </p:txBody>
      </p:sp>
      <p:sp>
        <p:nvSpPr>
          <p:cNvPr id="26" name="TextBox 25"/>
          <p:cNvSpPr txBox="1"/>
          <p:nvPr/>
        </p:nvSpPr>
        <p:spPr>
          <a:xfrm>
            <a:off x="3017520" y="4443984"/>
            <a:ext cx="4206240" cy="530352"/>
          </a:xfrm>
          <a:prstGeom prst="rect">
            <a:avLst/>
          </a:prstGeom>
          <a:noFill/>
        </p:spPr>
        <p:txBody>
          <a:bodyPr wrap="square" anchor="ctr" lIns="0" rIns="0" tIns="0" bIns="0">
            <a:spAutoFit/>
          </a:bodyPr>
          <a:lstStyle/>
          <a:p>
            <a:pPr algn="l">
              <a:spcBef>
                <a:spcPts val="0"/>
              </a:spcBef>
              <a:spcAft>
                <a:spcPts val="0"/>
              </a:spcAft>
            </a:pPr>
            <a:r>
              <a:rPr sz="1030" b="0" i="0">
                <a:solidFill>
                  <a:srgbClr val="595959"/>
                </a:solidFill>
                <a:latin typeface="Calibri"/>
              </a:rPr>
              <a:t>Asset-to-vendor rollup · spend aggregation</a:t>
            </a:r>
          </a:p>
        </p:txBody>
      </p:sp>
      <p:sp>
        <p:nvSpPr>
          <p:cNvPr id="27" name="TextBox 26"/>
          <p:cNvSpPr txBox="1"/>
          <p:nvPr/>
        </p:nvSpPr>
        <p:spPr>
          <a:xfrm>
            <a:off x="7360920" y="4443984"/>
            <a:ext cx="4206240" cy="530352"/>
          </a:xfrm>
          <a:prstGeom prst="rect">
            <a:avLst/>
          </a:prstGeom>
          <a:noFill/>
        </p:spPr>
        <p:txBody>
          <a:bodyPr wrap="square" anchor="ctr" lIns="0" rIns="0" tIns="0" bIns="0">
            <a:spAutoFit/>
          </a:bodyPr>
          <a:lstStyle/>
          <a:p>
            <a:pPr algn="l">
              <a:spcBef>
                <a:spcPts val="0"/>
              </a:spcBef>
              <a:spcAft>
                <a:spcPts val="0"/>
              </a:spcAft>
            </a:pPr>
            <a:r>
              <a:rPr sz="1030" b="0" i="0">
                <a:solidFill>
                  <a:srgbClr val="595959"/>
                </a:solidFill>
                <a:latin typeface="Calibri"/>
              </a:rPr>
              <a:t>Vendor Hub Plus: value, HHI, irreplaceability, leverage · Ask Atlas</a:t>
            </a:r>
          </a:p>
        </p:txBody>
      </p:sp>
      <p:sp>
        <p:nvSpPr>
          <p:cNvPr id="28" name="Rounded Rectangle 27"/>
          <p:cNvSpPr/>
          <p:nvPr/>
        </p:nvSpPr>
        <p:spPr>
          <a:xfrm>
            <a:off x="685800" y="5120640"/>
            <a:ext cx="10972800" cy="658368"/>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85800" y="5120640"/>
            <a:ext cx="91440" cy="658368"/>
          </a:xfrm>
          <a:prstGeom prst="roundRect">
            <a:avLst>
              <a:gd name="adj" fmla="val 50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5256" y="5193792"/>
            <a:ext cx="2103120" cy="530352"/>
          </a:xfrm>
          <a:prstGeom prst="rect">
            <a:avLst/>
          </a:prstGeom>
          <a:noFill/>
        </p:spPr>
        <p:txBody>
          <a:bodyPr wrap="square" anchor="ctr" lIns="0" rIns="0" tIns="0" bIns="0">
            <a:spAutoFit/>
          </a:bodyPr>
          <a:lstStyle/>
          <a:p>
            <a:pPr algn="l">
              <a:spcBef>
                <a:spcPts val="0"/>
              </a:spcBef>
              <a:spcAft>
                <a:spcPts val="0"/>
              </a:spcAft>
            </a:pPr>
            <a:r>
              <a:rPr sz="1250" b="1" i="0">
                <a:solidFill>
                  <a:srgbClr val="09131B"/>
                </a:solidFill>
                <a:latin typeface="Calibri"/>
              </a:rPr>
              <a:t>TPA Hub</a:t>
            </a:r>
          </a:p>
        </p:txBody>
      </p:sp>
      <p:sp>
        <p:nvSpPr>
          <p:cNvPr id="31" name="TextBox 30"/>
          <p:cNvSpPr txBox="1"/>
          <p:nvPr/>
        </p:nvSpPr>
        <p:spPr>
          <a:xfrm>
            <a:off x="3017520" y="5193792"/>
            <a:ext cx="4206240" cy="530352"/>
          </a:xfrm>
          <a:prstGeom prst="rect">
            <a:avLst/>
          </a:prstGeom>
          <a:noFill/>
        </p:spPr>
        <p:txBody>
          <a:bodyPr wrap="square" anchor="ctr" lIns="0" rIns="0" tIns="0" bIns="0">
            <a:spAutoFit/>
          </a:bodyPr>
          <a:lstStyle/>
          <a:p>
            <a:pPr algn="l">
              <a:spcBef>
                <a:spcPts val="0"/>
              </a:spcBef>
              <a:spcAft>
                <a:spcPts val="0"/>
              </a:spcAft>
            </a:pPr>
            <a:r>
              <a:rPr sz="1030" b="0" i="0">
                <a:solidFill>
                  <a:srgbClr val="595959"/>
                </a:solidFill>
                <a:latin typeface="Calibri"/>
              </a:rPr>
              <a:t>30/60/90 reminders · owner escalation · email notifications</a:t>
            </a:r>
          </a:p>
        </p:txBody>
      </p:sp>
      <p:sp>
        <p:nvSpPr>
          <p:cNvPr id="32" name="TextBox 31"/>
          <p:cNvSpPr txBox="1"/>
          <p:nvPr/>
        </p:nvSpPr>
        <p:spPr>
          <a:xfrm>
            <a:off x="7360920" y="5193792"/>
            <a:ext cx="4206240" cy="530352"/>
          </a:xfrm>
          <a:prstGeom prst="rect">
            <a:avLst/>
          </a:prstGeom>
          <a:noFill/>
        </p:spPr>
        <p:txBody>
          <a:bodyPr wrap="square" anchor="ctr" lIns="0" rIns="0" tIns="0" bIns="0">
            <a:spAutoFit/>
          </a:bodyPr>
          <a:lstStyle/>
          <a:p>
            <a:pPr algn="l">
              <a:spcBef>
                <a:spcPts val="0"/>
              </a:spcBef>
              <a:spcAft>
                <a:spcPts val="0"/>
              </a:spcAft>
            </a:pPr>
            <a:r>
              <a:rPr sz="1030" b="0" i="0">
                <a:solidFill>
                  <a:srgbClr val="595959"/>
                </a:solidFill>
                <a:latin typeface="Calibri"/>
              </a:rPr>
              <a:t>Renewal prediction · KPI-impact warning · runway dashboard · Ask Atlas</a:t>
            </a:r>
          </a:p>
        </p:txBody>
      </p:sp>
      <p:sp>
        <p:nvSpPr>
          <p:cNvPr id="33" name="TextBox 32"/>
          <p:cNvSpPr txBox="1"/>
          <p:nvPr/>
        </p:nvSpPr>
        <p:spPr>
          <a:xfrm>
            <a:off x="685800" y="5943600"/>
            <a:ext cx="10820095" cy="457200"/>
          </a:xfrm>
          <a:prstGeom prst="rect">
            <a:avLst/>
          </a:prstGeom>
          <a:noFill/>
        </p:spPr>
        <p:txBody>
          <a:bodyPr wrap="square" anchor="t" lIns="0" rIns="0" tIns="0" bIns="0">
            <a:spAutoFit/>
          </a:bodyPr>
          <a:lstStyle/>
          <a:p>
            <a:pPr algn="l">
              <a:spcBef>
                <a:spcPts val="0"/>
              </a:spcBef>
              <a:spcAft>
                <a:spcPts val="0"/>
              </a:spcAft>
            </a:pPr>
            <a:r>
              <a:rPr sz="1200" b="1" i="0">
                <a:solidFill>
                  <a:srgbClr val="09131B"/>
                </a:solidFill>
                <a:latin typeface="Calibri"/>
              </a:rPr>
              <a:t>Cross-connectivity throughout: every record links to its related asset, KPI, vendor and agreement; Ask Atlas spans all five; one connected dashboard layer.</a:t>
            </a:r>
          </a:p>
        </p:txBody>
      </p:sp>
      <p:sp>
        <p:nvSpPr>
          <p:cNvPr id="34" name="Rectangle 33"/>
          <p:cNvSpPr/>
          <p:nvPr/>
        </p:nvSpPr>
        <p:spPr>
          <a:xfrm>
            <a:off x="685800" y="6419088"/>
            <a:ext cx="10820095" cy="952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5800" y="6473952"/>
            <a:ext cx="7315200" cy="274320"/>
          </a:xfrm>
          <a:prstGeom prst="rect">
            <a:avLst/>
          </a:prstGeom>
          <a:noFill/>
        </p:spPr>
        <p:txBody>
          <a:bodyPr wrap="square" anchor="t" lIns="0" rIns="0" tIns="0" bIns="0">
            <a:spAutoFit/>
          </a:bodyPr>
          <a:lstStyle/>
          <a:p>
            <a:pPr algn="l">
              <a:spcBef>
                <a:spcPts val="0"/>
              </a:spcBef>
              <a:spcAft>
                <a:spcPts val="0"/>
              </a:spcAft>
            </a:pPr>
            <a:r>
              <a:rPr sz="900" b="0" i="0">
                <a:solidFill>
                  <a:srgbClr val="A9AFB6"/>
                </a:solidFill>
                <a:latin typeface="Calibri"/>
              </a:rPr>
              <a:t>Cortex Atlas  ·  Illustrative prototype, synthetic data  ·  Confidential</a:t>
            </a:r>
          </a:p>
        </p:txBody>
      </p:sp>
      <p:sp>
        <p:nvSpPr>
          <p:cNvPr id="36" name="TextBox 35"/>
          <p:cNvSpPr txBox="1"/>
          <p:nvPr/>
        </p:nvSpPr>
        <p:spPr>
          <a:xfrm>
            <a:off x="10591495" y="6473952"/>
            <a:ext cx="914400" cy="274320"/>
          </a:xfrm>
          <a:prstGeom prst="rect">
            <a:avLst/>
          </a:prstGeom>
          <a:noFill/>
        </p:spPr>
        <p:txBody>
          <a:bodyPr wrap="square" anchor="t" lIns="0" rIns="0" tIns="0" bIns="0">
            <a:spAutoFit/>
          </a:bodyPr>
          <a:lstStyle/>
          <a:p>
            <a:pPr algn="r">
              <a:spcBef>
                <a:spcPts val="0"/>
              </a:spcBef>
              <a:spcAft>
                <a:spcPts val="0"/>
              </a:spcAft>
            </a:pPr>
            <a:r>
              <a:rPr sz="900" b="0" i="0">
                <a:solidFill>
                  <a:srgbClr val="A9AFB6"/>
                </a:solidFill>
                <a:latin typeface="Calibri"/>
              </a:rPr>
              <a:t>12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4F4"/>
        </a:solidFill>
        <a:effectLst/>
      </p:bgPr>
    </p:bg>
    <p:spTree>
      <p:nvGrpSpPr>
        <p:cNvPr id="1" name=""/>
        <p:cNvGrpSpPr/>
        <p:nvPr/>
      </p:nvGrpSpPr>
      <p:grpSpPr/>
      <p:sp>
        <p:nvSpPr>
          <p:cNvPr id="2" name="Rectangle 1"/>
          <p:cNvSpPr/>
          <p:nvPr/>
        </p:nvSpPr>
        <p:spPr>
          <a:xfrm>
            <a:off x="685800" y="566928"/>
            <a:ext cx="310896" cy="82296"/>
          </a:xfrm>
          <a:prstGeom prst="rect">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457200"/>
            <a:ext cx="10408615" cy="320040"/>
          </a:xfrm>
          <a:prstGeom prst="rect">
            <a:avLst/>
          </a:prstGeom>
          <a:noFill/>
        </p:spPr>
        <p:txBody>
          <a:bodyPr wrap="square" anchor="t" lIns="0" rIns="0" tIns="0" bIns="0">
            <a:spAutoFit/>
          </a:bodyPr>
          <a:lstStyle/>
          <a:p>
            <a:pPr algn="l">
              <a:spcBef>
                <a:spcPts val="0"/>
              </a:spcBef>
              <a:spcAft>
                <a:spcPts val="0"/>
              </a:spcAft>
            </a:pPr>
            <a:r>
              <a:rPr sz="1250" b="1" i="0">
                <a:solidFill>
                  <a:srgbClr val="F89739"/>
                </a:solidFill>
                <a:latin typeface="Calibri"/>
              </a:rPr>
              <a:t>THE DECISION LAYER</a:t>
            </a:r>
          </a:p>
        </p:txBody>
      </p:sp>
      <p:sp>
        <p:nvSpPr>
          <p:cNvPr id="4" name="TextBox 3"/>
          <p:cNvSpPr txBox="1"/>
          <p:nvPr/>
        </p:nvSpPr>
        <p:spPr>
          <a:xfrm>
            <a:off x="685800" y="841248"/>
            <a:ext cx="10820095" cy="640080"/>
          </a:xfrm>
          <a:prstGeom prst="rect">
            <a:avLst/>
          </a:prstGeom>
          <a:noFill/>
        </p:spPr>
        <p:txBody>
          <a:bodyPr wrap="square" anchor="t" lIns="0" rIns="0" tIns="0" bIns="0">
            <a:spAutoFit/>
          </a:bodyPr>
          <a:lstStyle/>
          <a:p>
            <a:pPr algn="l">
              <a:spcBef>
                <a:spcPts val="0"/>
              </a:spcBef>
              <a:spcAft>
                <a:spcPts val="0"/>
              </a:spcAft>
            </a:pPr>
            <a:r>
              <a:rPr sz="2900" b="1" i="0">
                <a:solidFill>
                  <a:srgbClr val="09131B"/>
                </a:solidFill>
                <a:latin typeface="Calibri"/>
              </a:rPr>
              <a:t>Cross-tool intelligence and a natural-language ask</a:t>
            </a:r>
          </a:p>
        </p:txBody>
      </p:sp>
      <p:sp>
        <p:nvSpPr>
          <p:cNvPr id="5" name="Rounded Rectangle 4"/>
          <p:cNvSpPr/>
          <p:nvPr/>
        </p:nvSpPr>
        <p:spPr>
          <a:xfrm>
            <a:off x="685800" y="1828800"/>
            <a:ext cx="5486400" cy="402336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011680"/>
            <a:ext cx="4937760" cy="457200"/>
          </a:xfrm>
          <a:prstGeom prst="rect">
            <a:avLst/>
          </a:prstGeom>
          <a:noFill/>
        </p:spPr>
        <p:txBody>
          <a:bodyPr wrap="square" anchor="t" lIns="0" rIns="0" tIns="0" bIns="0">
            <a:spAutoFit/>
          </a:bodyPr>
          <a:lstStyle/>
          <a:p>
            <a:pPr algn="l">
              <a:spcBef>
                <a:spcPts val="0"/>
              </a:spcBef>
              <a:spcAft>
                <a:spcPts val="0"/>
              </a:spcAft>
            </a:pPr>
            <a:r>
              <a:rPr sz="1450" b="1" i="0">
                <a:solidFill>
                  <a:srgbClr val="09131B"/>
                </a:solidFill>
                <a:latin typeface="Calibri"/>
              </a:rPr>
              <a:t>Cross-tool signals — ranked by what's at stake</a:t>
            </a:r>
          </a:p>
        </p:txBody>
      </p:sp>
      <p:sp>
        <p:nvSpPr>
          <p:cNvPr id="7" name="Rounded Rectangle 6"/>
          <p:cNvSpPr/>
          <p:nvPr/>
        </p:nvSpPr>
        <p:spPr>
          <a:xfrm>
            <a:off x="960120" y="2560320"/>
            <a:ext cx="109728" cy="713232"/>
          </a:xfrm>
          <a:prstGeom prst="roundRect">
            <a:avLst>
              <a:gd name="adj" fmla="val 50000"/>
            </a:avLst>
          </a:prstGeom>
          <a:solidFill>
            <a:srgbClr val="E845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2514600"/>
            <a:ext cx="4754880" cy="822960"/>
          </a:xfrm>
          <a:prstGeom prst="rect">
            <a:avLst/>
          </a:prstGeom>
          <a:noFill/>
        </p:spPr>
        <p:txBody>
          <a:bodyPr wrap="square" anchor="t" lIns="0" rIns="0" tIns="0" bIns="0">
            <a:spAutoFit/>
          </a:bodyPr>
          <a:lstStyle/>
          <a:p>
            <a:pPr algn="l">
              <a:spcBef>
                <a:spcPts val="0"/>
              </a:spcBef>
              <a:spcAft>
                <a:spcPts val="200"/>
              </a:spcAft>
            </a:pPr>
            <a:r>
              <a:rPr sz="1250" b="1" i="0">
                <a:solidFill>
                  <a:srgbClr val="09131B"/>
                </a:solidFill>
                <a:latin typeface="Calibri"/>
              </a:rPr>
              <a:t>Agreement at risk feeds a Tier-1 KPI</a:t>
            </a:r>
          </a:p>
          <a:p>
            <a:pPr algn="l">
              <a:spcBef>
                <a:spcPts val="0"/>
              </a:spcBef>
              <a:spcAft>
                <a:spcPts val="0"/>
              </a:spcAft>
            </a:pPr>
            <a:r>
              <a:rPr sz="1100" b="0" i="0">
                <a:solidFill>
                  <a:srgbClr val="595959"/>
                </a:solidFill>
                <a:latin typeface="Calibri"/>
              </a:rPr>
              <a:t>Helix TPA expires in ~21 days — sole source behind New-to-Brand Rx Share.</a:t>
            </a:r>
          </a:p>
        </p:txBody>
      </p:sp>
      <p:sp>
        <p:nvSpPr>
          <p:cNvPr id="9" name="Rounded Rectangle 8"/>
          <p:cNvSpPr/>
          <p:nvPr/>
        </p:nvSpPr>
        <p:spPr>
          <a:xfrm>
            <a:off x="960120" y="3383280"/>
            <a:ext cx="109728" cy="713232"/>
          </a:xfrm>
          <a:prstGeom prst="roundRect">
            <a:avLst>
              <a:gd name="adj" fmla="val 50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3337560"/>
            <a:ext cx="4754880" cy="822960"/>
          </a:xfrm>
          <a:prstGeom prst="rect">
            <a:avLst/>
          </a:prstGeom>
          <a:noFill/>
        </p:spPr>
        <p:txBody>
          <a:bodyPr wrap="square" anchor="t" lIns="0" rIns="0" tIns="0" bIns="0">
            <a:spAutoFit/>
          </a:bodyPr>
          <a:lstStyle/>
          <a:p>
            <a:pPr algn="l">
              <a:spcBef>
                <a:spcPts val="0"/>
              </a:spcBef>
              <a:spcAft>
                <a:spcPts val="200"/>
              </a:spcAft>
            </a:pPr>
            <a:r>
              <a:rPr sz="1250" b="1" i="0">
                <a:solidFill>
                  <a:srgbClr val="09131B"/>
                </a:solidFill>
                <a:latin typeface="Calibri"/>
              </a:rPr>
              <a:t>Duplicate-buy risk at intake</a:t>
            </a:r>
          </a:p>
          <a:p>
            <a:pPr algn="l">
              <a:spcBef>
                <a:spcPts val="0"/>
              </a:spcBef>
              <a:spcAft>
                <a:spcPts val="0"/>
              </a:spcAft>
            </a:pPr>
            <a:r>
              <a:rPr sz="1100" b="0" i="0">
                <a:solidFill>
                  <a:srgbClr val="595959"/>
                </a:solidFill>
                <a:latin typeface="Calibri"/>
              </a:rPr>
              <a:t>DP-2042 overlaps a catalogued Oncology EMR asset — ~$640K avoidable.</a:t>
            </a:r>
          </a:p>
        </p:txBody>
      </p:sp>
      <p:sp>
        <p:nvSpPr>
          <p:cNvPr id="11" name="Rounded Rectangle 10"/>
          <p:cNvSpPr/>
          <p:nvPr/>
        </p:nvSpPr>
        <p:spPr>
          <a:xfrm>
            <a:off x="960120" y="4206240"/>
            <a:ext cx="109728" cy="713232"/>
          </a:xfrm>
          <a:prstGeom prst="roundRect">
            <a:avLst>
              <a:gd name="adj" fmla="val 50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88720" y="4160520"/>
            <a:ext cx="4754880" cy="822960"/>
          </a:xfrm>
          <a:prstGeom prst="rect">
            <a:avLst/>
          </a:prstGeom>
          <a:noFill/>
        </p:spPr>
        <p:txBody>
          <a:bodyPr wrap="square" anchor="t" lIns="0" rIns="0" tIns="0" bIns="0">
            <a:spAutoFit/>
          </a:bodyPr>
          <a:lstStyle/>
          <a:p>
            <a:pPr algn="l">
              <a:spcBef>
                <a:spcPts val="0"/>
              </a:spcBef>
              <a:spcAft>
                <a:spcPts val="200"/>
              </a:spcAft>
            </a:pPr>
            <a:r>
              <a:rPr sz="1250" b="1" i="0">
                <a:solidFill>
                  <a:srgbClr val="09131B"/>
                </a:solidFill>
                <a:latin typeface="Calibri"/>
              </a:rPr>
              <a:t>Low-quality asset feeds a strategic KPI</a:t>
            </a:r>
          </a:p>
          <a:p>
            <a:pPr algn="l">
              <a:spcBef>
                <a:spcPts val="0"/>
              </a:spcBef>
              <a:spcAft>
                <a:spcPts val="0"/>
              </a:spcAft>
            </a:pPr>
            <a:r>
              <a:rPr sz="1100" b="0" i="0">
                <a:solidFill>
                  <a:srgbClr val="595959"/>
                </a:solidFill>
                <a:latin typeface="Calibri"/>
              </a:rPr>
              <a:t>Bronze registry data behind the Diagnosed-but-Untreated Funnel.</a:t>
            </a:r>
          </a:p>
        </p:txBody>
      </p:sp>
      <p:sp>
        <p:nvSpPr>
          <p:cNvPr id="13" name="Rounded Rectangle 12"/>
          <p:cNvSpPr/>
          <p:nvPr/>
        </p:nvSpPr>
        <p:spPr>
          <a:xfrm>
            <a:off x="960120" y="5029200"/>
            <a:ext cx="109728" cy="713232"/>
          </a:xfrm>
          <a:prstGeom prst="roundRect">
            <a:avLst>
              <a:gd name="adj" fmla="val 50000"/>
            </a:avLst>
          </a:prstGeom>
          <a:solidFill>
            <a:srgbClr val="0563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88720" y="4983480"/>
            <a:ext cx="4754880" cy="822960"/>
          </a:xfrm>
          <a:prstGeom prst="rect">
            <a:avLst/>
          </a:prstGeom>
          <a:noFill/>
        </p:spPr>
        <p:txBody>
          <a:bodyPr wrap="square" anchor="t" lIns="0" rIns="0" tIns="0" bIns="0">
            <a:spAutoFit/>
          </a:bodyPr>
          <a:lstStyle/>
          <a:p>
            <a:pPr algn="l">
              <a:spcBef>
                <a:spcPts val="0"/>
              </a:spcBef>
              <a:spcAft>
                <a:spcPts val="200"/>
              </a:spcAft>
            </a:pPr>
            <a:r>
              <a:rPr sz="1250" b="1" i="0">
                <a:solidFill>
                  <a:srgbClr val="09131B"/>
                </a:solidFill>
                <a:latin typeface="Calibri"/>
              </a:rPr>
              <a:t>Vendor concentration</a:t>
            </a:r>
          </a:p>
          <a:p>
            <a:pPr algn="l">
              <a:spcBef>
                <a:spcPts val="0"/>
              </a:spcBef>
              <a:spcAft>
                <a:spcPts val="0"/>
              </a:spcAft>
            </a:pPr>
            <a:r>
              <a:rPr sz="1100" b="0" i="0">
                <a:solidFill>
                  <a:srgbClr val="595959"/>
                </a:solidFill>
                <a:latin typeface="Calibri"/>
              </a:rPr>
              <a:t>Top two vendors hold ~50% of spend; estate HHI ≈ 1,825.</a:t>
            </a:r>
          </a:p>
        </p:txBody>
      </p:sp>
      <p:sp>
        <p:nvSpPr>
          <p:cNvPr id="15" name="Rounded Rectangle 14"/>
          <p:cNvSpPr/>
          <p:nvPr/>
        </p:nvSpPr>
        <p:spPr>
          <a:xfrm>
            <a:off x="6446520" y="1828800"/>
            <a:ext cx="5029200" cy="4023360"/>
          </a:xfrm>
          <a:prstGeom prst="roundRect">
            <a:avLst>
              <a:gd name="adj" fmla="val 5000"/>
            </a:avLst>
          </a:prstGeom>
          <a:solidFill>
            <a:srgbClr val="0E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20840" y="2057400"/>
            <a:ext cx="4480560" cy="457200"/>
          </a:xfrm>
          <a:prstGeom prst="rect">
            <a:avLst/>
          </a:prstGeom>
          <a:noFill/>
        </p:spPr>
        <p:txBody>
          <a:bodyPr wrap="square" anchor="t" lIns="0" rIns="0" tIns="0" bIns="0">
            <a:spAutoFit/>
          </a:bodyPr>
          <a:lstStyle/>
          <a:p>
            <a:pPr algn="l">
              <a:spcBef>
                <a:spcPts val="0"/>
              </a:spcBef>
              <a:spcAft>
                <a:spcPts val="0"/>
              </a:spcAft>
            </a:pPr>
            <a:r>
              <a:rPr sz="1200" b="1" i="0">
                <a:solidFill>
                  <a:srgbClr val="F89739"/>
                </a:solidFill>
                <a:latin typeface="Calibri"/>
              </a:rPr>
              <a:t>ASK ATLAS</a:t>
            </a:r>
          </a:p>
        </p:txBody>
      </p:sp>
      <p:sp>
        <p:nvSpPr>
          <p:cNvPr id="17" name="Rounded Rectangle 16"/>
          <p:cNvSpPr/>
          <p:nvPr/>
        </p:nvSpPr>
        <p:spPr>
          <a:xfrm>
            <a:off x="6720840" y="2468880"/>
            <a:ext cx="4480560" cy="502920"/>
          </a:xfrm>
          <a:prstGeom prst="roundRect">
            <a:avLst>
              <a:gd name="adj" fmla="val 20000"/>
            </a:avLst>
          </a:prstGeom>
          <a:solidFill>
            <a:srgbClr val="16242E"/>
          </a:solidFill>
          <a:ln w="12700">
            <a:solidFill>
              <a:srgbClr val="2A3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03720" y="2468880"/>
            <a:ext cx="4114800" cy="502920"/>
          </a:xfrm>
          <a:prstGeom prst="rect">
            <a:avLst/>
          </a:prstGeom>
          <a:noFill/>
        </p:spPr>
        <p:txBody>
          <a:bodyPr wrap="square" anchor="ctr" lIns="0" rIns="0" tIns="0" bIns="0">
            <a:spAutoFit/>
          </a:bodyPr>
          <a:lstStyle/>
          <a:p>
            <a:pPr algn="l">
              <a:spcBef>
                <a:spcPts val="0"/>
              </a:spcBef>
              <a:spcAft>
                <a:spcPts val="0"/>
              </a:spcAft>
            </a:pPr>
            <a:r>
              <a:rPr sz="1150" b="0" i="0">
                <a:solidFill>
                  <a:srgbClr val="C7CCD3"/>
                </a:solidFill>
                <a:latin typeface="Calibri"/>
              </a:rPr>
              <a:t>Which agreements expire soon and feed a Tier-1 KPI?</a:t>
            </a:r>
          </a:p>
        </p:txBody>
      </p:sp>
      <p:sp>
        <p:nvSpPr>
          <p:cNvPr id="19" name="TextBox 18"/>
          <p:cNvSpPr txBox="1"/>
          <p:nvPr/>
        </p:nvSpPr>
        <p:spPr>
          <a:xfrm>
            <a:off x="6720840" y="3200400"/>
            <a:ext cx="4480560" cy="2194560"/>
          </a:xfrm>
          <a:prstGeom prst="rect">
            <a:avLst/>
          </a:prstGeom>
          <a:noFill/>
        </p:spPr>
        <p:txBody>
          <a:bodyPr wrap="square" anchor="t" lIns="0" rIns="0" tIns="0" bIns="0">
            <a:spAutoFit/>
          </a:bodyPr>
          <a:lstStyle/>
          <a:p>
            <a:pPr algn="l">
              <a:spcBef>
                <a:spcPts val="0"/>
              </a:spcBef>
              <a:spcAft>
                <a:spcPts val="1200"/>
              </a:spcAft>
            </a:pPr>
            <a:r>
              <a:rPr sz="1250" b="0" i="0">
                <a:solidFill>
                  <a:srgbClr val="E8EAEE"/>
                </a:solidFill>
                <a:latin typeface="Calibri"/>
              </a:rPr>
              <a:t>Atlas answers across all five tools — grounded in the catalogue, KPI lineage, vendor spend and agreement dates — and links you straight to the record.</a:t>
            </a:r>
          </a:p>
          <a:p>
            <a:pPr algn="l">
              <a:spcBef>
                <a:spcPts val="0"/>
              </a:spcBef>
              <a:spcAft>
                <a:spcPts val="800"/>
              </a:spcAft>
            </a:pPr>
            <a:r>
              <a:rPr sz="1150" b="0" i="0">
                <a:solidFill>
                  <a:srgbClr val="A9AFB6"/>
                </a:solidFill>
                <a:latin typeface="Calibri"/>
              </a:rPr>
              <a:t>Every answer carries a confidence read and an advisory cue:</a:t>
            </a:r>
          </a:p>
          <a:p>
            <a:pPr algn="l">
              <a:spcBef>
                <a:spcPts val="0"/>
              </a:spcBef>
              <a:spcAft>
                <a:spcPts val="0"/>
              </a:spcAft>
            </a:pPr>
            <a:r>
              <a:rPr sz="1150" b="1" i="0">
                <a:solidFill>
                  <a:srgbClr val="7FD1A8"/>
                </a:solidFill>
                <a:latin typeface="Calibri"/>
              </a:rPr>
              <a:t>"Confidence: High · grounded in source rows · Advisory only — a human approves any action."</a:t>
            </a:r>
          </a:p>
        </p:txBody>
      </p:sp>
      <p:sp>
        <p:nvSpPr>
          <p:cNvPr id="20" name="Rectangle 19"/>
          <p:cNvSpPr/>
          <p:nvPr/>
        </p:nvSpPr>
        <p:spPr>
          <a:xfrm>
            <a:off x="685800" y="6419088"/>
            <a:ext cx="10820095" cy="952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6473952"/>
            <a:ext cx="7315200" cy="274320"/>
          </a:xfrm>
          <a:prstGeom prst="rect">
            <a:avLst/>
          </a:prstGeom>
          <a:noFill/>
        </p:spPr>
        <p:txBody>
          <a:bodyPr wrap="square" anchor="t" lIns="0" rIns="0" tIns="0" bIns="0">
            <a:spAutoFit/>
          </a:bodyPr>
          <a:lstStyle/>
          <a:p>
            <a:pPr algn="l">
              <a:spcBef>
                <a:spcPts val="0"/>
              </a:spcBef>
              <a:spcAft>
                <a:spcPts val="0"/>
              </a:spcAft>
            </a:pPr>
            <a:r>
              <a:rPr sz="900" b="0" i="0">
                <a:solidFill>
                  <a:srgbClr val="A9AFB6"/>
                </a:solidFill>
                <a:latin typeface="Calibri"/>
              </a:rPr>
              <a:t>Cortex Atlas  ·  Illustrative prototype, synthetic data  ·  Confidential</a:t>
            </a:r>
          </a:p>
        </p:txBody>
      </p:sp>
      <p:sp>
        <p:nvSpPr>
          <p:cNvPr id="22" name="TextBox 21"/>
          <p:cNvSpPr txBox="1"/>
          <p:nvPr/>
        </p:nvSpPr>
        <p:spPr>
          <a:xfrm>
            <a:off x="10591495" y="6473952"/>
            <a:ext cx="914400" cy="274320"/>
          </a:xfrm>
          <a:prstGeom prst="rect">
            <a:avLst/>
          </a:prstGeom>
          <a:noFill/>
        </p:spPr>
        <p:txBody>
          <a:bodyPr wrap="square" anchor="t" lIns="0" rIns="0" tIns="0" bIns="0">
            <a:spAutoFit/>
          </a:bodyPr>
          <a:lstStyle/>
          <a:p>
            <a:pPr algn="r">
              <a:spcBef>
                <a:spcPts val="0"/>
              </a:spcBef>
              <a:spcAft>
                <a:spcPts val="0"/>
              </a:spcAft>
            </a:pPr>
            <a:r>
              <a:rPr sz="900" b="0" i="0">
                <a:solidFill>
                  <a:srgbClr val="A9AFB6"/>
                </a:solidFill>
                <a:latin typeface="Calibri"/>
              </a:rPr>
              <a:t>13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9131B"/>
        </a:solidFill>
        <a:effectLst/>
      </p:bgPr>
    </p:bg>
    <p:spTree>
      <p:nvGrpSpPr>
        <p:cNvPr id="1" name=""/>
        <p:cNvGrpSpPr/>
        <p:nvPr/>
      </p:nvGrpSpPr>
      <p:grpSpPr/>
      <p:sp>
        <p:nvSpPr>
          <p:cNvPr id="2" name="Rectangle 1"/>
          <p:cNvSpPr/>
          <p:nvPr/>
        </p:nvSpPr>
        <p:spPr>
          <a:xfrm>
            <a:off x="685800" y="2286000"/>
            <a:ext cx="310896" cy="82296"/>
          </a:xfrm>
          <a:prstGeom prst="rect">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176272"/>
            <a:ext cx="9144000" cy="365760"/>
          </a:xfrm>
          <a:prstGeom prst="rect">
            <a:avLst/>
          </a:prstGeom>
          <a:noFill/>
        </p:spPr>
        <p:txBody>
          <a:bodyPr wrap="square" anchor="t" lIns="0" rIns="0" tIns="0" bIns="0">
            <a:spAutoFit/>
          </a:bodyPr>
          <a:lstStyle/>
          <a:p>
            <a:pPr algn="l">
              <a:spcBef>
                <a:spcPts val="0"/>
              </a:spcBef>
              <a:spcAft>
                <a:spcPts val="0"/>
              </a:spcAft>
            </a:pPr>
            <a:r>
              <a:rPr sz="1300" b="1" i="0">
                <a:solidFill>
                  <a:srgbClr val="F89739"/>
                </a:solidFill>
                <a:latin typeface="Calibri"/>
              </a:rPr>
              <a:t>VALUE &amp; DELIVERY</a:t>
            </a:r>
          </a:p>
        </p:txBody>
      </p:sp>
      <p:sp>
        <p:nvSpPr>
          <p:cNvPr id="4" name="TextBox 3"/>
          <p:cNvSpPr txBox="1"/>
          <p:nvPr/>
        </p:nvSpPr>
        <p:spPr>
          <a:xfrm>
            <a:off x="685800" y="2560320"/>
            <a:ext cx="10789920" cy="1280160"/>
          </a:xfrm>
          <a:prstGeom prst="rect">
            <a:avLst/>
          </a:prstGeom>
          <a:noFill/>
        </p:spPr>
        <p:txBody>
          <a:bodyPr wrap="square" anchor="t" lIns="0" rIns="0" tIns="0" bIns="0">
            <a:spAutoFit/>
          </a:bodyPr>
          <a:lstStyle/>
          <a:p>
            <a:pPr algn="l">
              <a:spcBef>
                <a:spcPts val="0"/>
              </a:spcBef>
              <a:spcAft>
                <a:spcPts val="0"/>
              </a:spcAft>
            </a:pPr>
            <a:r>
              <a:rPr sz="4000" b="1" i="0">
                <a:solidFill>
                  <a:srgbClr val="FFFFFF"/>
                </a:solidFill>
                <a:latin typeface="Calibri"/>
              </a:rPr>
              <a:t>From report to decision layer</a:t>
            </a:r>
          </a:p>
        </p:txBody>
      </p:sp>
      <p:sp>
        <p:nvSpPr>
          <p:cNvPr id="5" name="TextBox 4"/>
          <p:cNvSpPr txBox="1"/>
          <p:nvPr/>
        </p:nvSpPr>
        <p:spPr>
          <a:xfrm>
            <a:off x="685800" y="3840480"/>
            <a:ext cx="10058400" cy="914400"/>
          </a:xfrm>
          <a:prstGeom prst="rect">
            <a:avLst/>
          </a:prstGeom>
          <a:noFill/>
        </p:spPr>
        <p:txBody>
          <a:bodyPr wrap="square" anchor="t" lIns="0" rIns="0" tIns="0" bIns="0">
            <a:spAutoFit/>
          </a:bodyPr>
          <a:lstStyle/>
          <a:p>
            <a:pPr algn="l">
              <a:spcBef>
                <a:spcPts val="0"/>
              </a:spcBef>
              <a:spcAft>
                <a:spcPts val="0"/>
              </a:spcAft>
            </a:pPr>
            <a:r>
              <a:rPr sz="1600" b="0" i="0">
                <a:solidFill>
                  <a:srgbClr val="A9AFB6"/>
                </a:solidFill>
                <a:latin typeface="Calibri"/>
              </a:rPr>
              <a:t>What the business gets — and how we build it.</a:t>
            </a:r>
          </a:p>
        </p:txBody>
      </p:sp>
      <p:sp>
        <p:nvSpPr>
          <p:cNvPr id="6" name="TextBox 5"/>
          <p:cNvSpPr txBox="1"/>
          <p:nvPr/>
        </p:nvSpPr>
        <p:spPr>
          <a:xfrm>
            <a:off x="9494215" y="548640"/>
            <a:ext cx="2011680" cy="457200"/>
          </a:xfrm>
          <a:prstGeom prst="rect">
            <a:avLst/>
          </a:prstGeom>
          <a:noFill/>
        </p:spPr>
        <p:txBody>
          <a:bodyPr wrap="square" anchor="t" lIns="0" rIns="0" tIns="0" bIns="0">
            <a:spAutoFit/>
          </a:bodyPr>
          <a:lstStyle/>
          <a:p>
            <a:pPr algn="r">
              <a:spcBef>
                <a:spcPts val="0"/>
              </a:spcBef>
              <a:spcAft>
                <a:spcPts val="0"/>
              </a:spcAft>
            </a:pPr>
            <a:r>
              <a:rPr sz="1500" b="1" i="0">
                <a:solidFill>
                  <a:srgbClr val="3A4A54"/>
                </a:solidFill>
                <a:latin typeface="Calibri"/>
              </a:rPr>
              <a:t>04 / 06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4F4"/>
        </a:solidFill>
        <a:effectLst/>
      </p:bgPr>
    </p:bg>
    <p:spTree>
      <p:nvGrpSpPr>
        <p:cNvPr id="1" name=""/>
        <p:cNvGrpSpPr/>
        <p:nvPr/>
      </p:nvGrpSpPr>
      <p:grpSpPr/>
      <p:sp>
        <p:nvSpPr>
          <p:cNvPr id="2" name="Rectangle 1"/>
          <p:cNvSpPr/>
          <p:nvPr/>
        </p:nvSpPr>
        <p:spPr>
          <a:xfrm>
            <a:off x="685800" y="566928"/>
            <a:ext cx="310896" cy="82296"/>
          </a:xfrm>
          <a:prstGeom prst="rect">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457200"/>
            <a:ext cx="10408615" cy="320040"/>
          </a:xfrm>
          <a:prstGeom prst="rect">
            <a:avLst/>
          </a:prstGeom>
          <a:noFill/>
        </p:spPr>
        <p:txBody>
          <a:bodyPr wrap="square" anchor="t" lIns="0" rIns="0" tIns="0" bIns="0">
            <a:spAutoFit/>
          </a:bodyPr>
          <a:lstStyle/>
          <a:p>
            <a:pPr algn="l">
              <a:spcBef>
                <a:spcPts val="0"/>
              </a:spcBef>
              <a:spcAft>
                <a:spcPts val="0"/>
              </a:spcAft>
            </a:pPr>
            <a:r>
              <a:rPr sz="1250" b="1" i="0">
                <a:solidFill>
                  <a:srgbClr val="F89739"/>
                </a:solidFill>
                <a:latin typeface="Calibri"/>
              </a:rPr>
              <a:t>BUSINESS VALUE</a:t>
            </a:r>
          </a:p>
        </p:txBody>
      </p:sp>
      <p:sp>
        <p:nvSpPr>
          <p:cNvPr id="4" name="TextBox 3"/>
          <p:cNvSpPr txBox="1"/>
          <p:nvPr/>
        </p:nvSpPr>
        <p:spPr>
          <a:xfrm>
            <a:off x="685800" y="841248"/>
            <a:ext cx="10820095" cy="640080"/>
          </a:xfrm>
          <a:prstGeom prst="rect">
            <a:avLst/>
          </a:prstGeom>
          <a:noFill/>
        </p:spPr>
        <p:txBody>
          <a:bodyPr wrap="square" anchor="t" lIns="0" rIns="0" tIns="0" bIns="0">
            <a:spAutoFit/>
          </a:bodyPr>
          <a:lstStyle/>
          <a:p>
            <a:pPr algn="l">
              <a:spcBef>
                <a:spcPts val="0"/>
              </a:spcBef>
              <a:spcAft>
                <a:spcPts val="0"/>
              </a:spcAft>
            </a:pPr>
            <a:r>
              <a:rPr sz="2900" b="1" i="0">
                <a:solidFill>
                  <a:srgbClr val="09131B"/>
                </a:solidFill>
                <a:latin typeface="Calibri"/>
              </a:rPr>
              <a:t>Five outcomes leadership can point to</a:t>
            </a:r>
          </a:p>
        </p:txBody>
      </p:sp>
      <p:sp>
        <p:nvSpPr>
          <p:cNvPr id="5" name="Rounded Rectangle 4"/>
          <p:cNvSpPr/>
          <p:nvPr/>
        </p:nvSpPr>
        <p:spPr>
          <a:xfrm>
            <a:off x="685800" y="1828800"/>
            <a:ext cx="5349240" cy="96012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86968" y="2103120"/>
            <a:ext cx="420624" cy="420624"/>
          </a:xfrm>
          <a:prstGeom prst="roundRect">
            <a:avLst>
              <a:gd name="adj" fmla="val 25000"/>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103120"/>
            <a:ext cx="420624" cy="420624"/>
          </a:xfrm>
          <a:prstGeom prst="rect">
            <a:avLst/>
          </a:prstGeom>
          <a:noFill/>
        </p:spPr>
        <p:txBody>
          <a:bodyPr wrap="square" anchor="ctr" lIns="0" rIns="0" tIns="0" bIns="0">
            <a:spAutoFit/>
          </a:bodyPr>
          <a:lstStyle/>
          <a:p>
            <a:pPr algn="ctr">
              <a:spcBef>
                <a:spcPts val="0"/>
              </a:spcBef>
              <a:spcAft>
                <a:spcPts val="0"/>
              </a:spcAft>
            </a:pPr>
            <a:r>
              <a:rPr sz="1400" b="1" i="0">
                <a:solidFill>
                  <a:srgbClr val="FFFFFF"/>
                </a:solidFill>
                <a:latin typeface="Calibri"/>
              </a:rPr>
              <a:t>1</a:t>
            </a:r>
          </a:p>
        </p:txBody>
      </p:sp>
      <p:sp>
        <p:nvSpPr>
          <p:cNvPr id="8" name="TextBox 7"/>
          <p:cNvSpPr txBox="1"/>
          <p:nvPr/>
        </p:nvSpPr>
        <p:spPr>
          <a:xfrm>
            <a:off x="1554480" y="1975104"/>
            <a:ext cx="2606040" cy="731520"/>
          </a:xfrm>
          <a:prstGeom prst="rect">
            <a:avLst/>
          </a:prstGeom>
          <a:noFill/>
        </p:spPr>
        <p:txBody>
          <a:bodyPr wrap="square" anchor="ctr" lIns="0" rIns="0" tIns="0" bIns="0">
            <a:spAutoFit/>
          </a:bodyPr>
          <a:lstStyle/>
          <a:p>
            <a:pPr algn="l">
              <a:spcBef>
                <a:spcPts val="0"/>
              </a:spcBef>
              <a:spcAft>
                <a:spcPts val="200"/>
              </a:spcAft>
            </a:pPr>
            <a:r>
              <a:rPr sz="1450" b="1" i="0">
                <a:solidFill>
                  <a:srgbClr val="09131B"/>
                </a:solidFill>
                <a:latin typeface="Calibri"/>
              </a:rPr>
              <a:t>Stop duplicate spend</a:t>
            </a:r>
          </a:p>
          <a:p>
            <a:pPr algn="l">
              <a:spcBef>
                <a:spcPts val="0"/>
              </a:spcBef>
              <a:spcAft>
                <a:spcPts val="0"/>
              </a:spcAft>
            </a:pPr>
            <a:r>
              <a:rPr sz="1130" b="0" i="0">
                <a:solidFill>
                  <a:srgbClr val="595959"/>
                </a:solidFill>
                <a:latin typeface="Calibri"/>
              </a:rPr>
              <a:t>Overlap is caught at the point of request, before commitment — direct, recurring savings.</a:t>
            </a:r>
          </a:p>
        </p:txBody>
      </p:sp>
      <p:sp>
        <p:nvSpPr>
          <p:cNvPr id="9" name="TextBox 8"/>
          <p:cNvSpPr txBox="1"/>
          <p:nvPr/>
        </p:nvSpPr>
        <p:spPr>
          <a:xfrm>
            <a:off x="4297680" y="2103120"/>
            <a:ext cx="1554480" cy="411480"/>
          </a:xfrm>
          <a:prstGeom prst="rect">
            <a:avLst/>
          </a:prstGeom>
          <a:noFill/>
        </p:spPr>
        <p:txBody>
          <a:bodyPr wrap="square" anchor="ctr" lIns="0" rIns="0" tIns="0" bIns="0">
            <a:spAutoFit/>
          </a:bodyPr>
          <a:lstStyle/>
          <a:p>
            <a:pPr algn="r">
              <a:spcBef>
                <a:spcPts val="0"/>
              </a:spcBef>
              <a:spcAft>
                <a:spcPts val="0"/>
              </a:spcAft>
            </a:pPr>
            <a:r>
              <a:rPr sz="950" b="1" i="0">
                <a:solidFill>
                  <a:srgbClr val="1E7F4F"/>
                </a:solidFill>
                <a:latin typeface="Calibri"/>
              </a:rPr>
              <a:t>PROCUREMENT</a:t>
            </a:r>
          </a:p>
        </p:txBody>
      </p:sp>
      <p:sp>
        <p:nvSpPr>
          <p:cNvPr id="10" name="Rounded Rectangle 9"/>
          <p:cNvSpPr/>
          <p:nvPr/>
        </p:nvSpPr>
        <p:spPr>
          <a:xfrm>
            <a:off x="6309360" y="1828800"/>
            <a:ext cx="5349240" cy="96012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510528" y="2103120"/>
            <a:ext cx="420624" cy="420624"/>
          </a:xfrm>
          <a:prstGeom prst="roundRect">
            <a:avLst>
              <a:gd name="adj" fmla="val 25000"/>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10528" y="2103120"/>
            <a:ext cx="420624" cy="420624"/>
          </a:xfrm>
          <a:prstGeom prst="rect">
            <a:avLst/>
          </a:prstGeom>
          <a:noFill/>
        </p:spPr>
        <p:txBody>
          <a:bodyPr wrap="square" anchor="ctr" lIns="0" rIns="0" tIns="0" bIns="0">
            <a:spAutoFit/>
          </a:bodyPr>
          <a:lstStyle/>
          <a:p>
            <a:pPr algn="ctr">
              <a:spcBef>
                <a:spcPts val="0"/>
              </a:spcBef>
              <a:spcAft>
                <a:spcPts val="0"/>
              </a:spcAft>
            </a:pPr>
            <a:r>
              <a:rPr sz="1400" b="1" i="0">
                <a:solidFill>
                  <a:srgbClr val="FFFFFF"/>
                </a:solidFill>
                <a:latin typeface="Calibri"/>
              </a:rPr>
              <a:t>2</a:t>
            </a:r>
          </a:p>
        </p:txBody>
      </p:sp>
      <p:sp>
        <p:nvSpPr>
          <p:cNvPr id="13" name="TextBox 12"/>
          <p:cNvSpPr txBox="1"/>
          <p:nvPr/>
        </p:nvSpPr>
        <p:spPr>
          <a:xfrm>
            <a:off x="7178040" y="1975104"/>
            <a:ext cx="2606040" cy="731520"/>
          </a:xfrm>
          <a:prstGeom prst="rect">
            <a:avLst/>
          </a:prstGeom>
          <a:noFill/>
        </p:spPr>
        <p:txBody>
          <a:bodyPr wrap="square" anchor="ctr" lIns="0" rIns="0" tIns="0" bIns="0">
            <a:spAutoFit/>
          </a:bodyPr>
          <a:lstStyle/>
          <a:p>
            <a:pPr algn="l">
              <a:spcBef>
                <a:spcPts val="0"/>
              </a:spcBef>
              <a:spcAft>
                <a:spcPts val="200"/>
              </a:spcAft>
            </a:pPr>
            <a:r>
              <a:rPr sz="1450" b="1" i="0">
                <a:solidFill>
                  <a:srgbClr val="09131B"/>
                </a:solidFill>
                <a:latin typeface="Calibri"/>
              </a:rPr>
              <a:t>Never miss a renewal</a:t>
            </a:r>
          </a:p>
          <a:p>
            <a:pPr algn="l">
              <a:spcBef>
                <a:spcPts val="0"/>
              </a:spcBef>
              <a:spcAft>
                <a:spcPts val="0"/>
              </a:spcAft>
            </a:pPr>
            <a:r>
              <a:rPr sz="1130" b="0" i="0">
                <a:solidFill>
                  <a:srgbClr val="595959"/>
                </a:solidFill>
                <a:latin typeface="Calibri"/>
              </a:rPr>
              <a:t>Automated 30/60/90 reminders plus impact-aware warnings end lapses and rushed, low-leverage renewals.</a:t>
            </a:r>
          </a:p>
        </p:txBody>
      </p:sp>
      <p:sp>
        <p:nvSpPr>
          <p:cNvPr id="14" name="TextBox 13"/>
          <p:cNvSpPr txBox="1"/>
          <p:nvPr/>
        </p:nvSpPr>
        <p:spPr>
          <a:xfrm>
            <a:off x="9921240" y="2103120"/>
            <a:ext cx="1554480" cy="411480"/>
          </a:xfrm>
          <a:prstGeom prst="rect">
            <a:avLst/>
          </a:prstGeom>
          <a:noFill/>
        </p:spPr>
        <p:txBody>
          <a:bodyPr wrap="square" anchor="ctr" lIns="0" rIns="0" tIns="0" bIns="0">
            <a:spAutoFit/>
          </a:bodyPr>
          <a:lstStyle/>
          <a:p>
            <a:pPr algn="r">
              <a:spcBef>
                <a:spcPts val="0"/>
              </a:spcBef>
              <a:spcAft>
                <a:spcPts val="0"/>
              </a:spcAft>
            </a:pPr>
            <a:r>
              <a:rPr sz="950" b="1" i="0">
                <a:solidFill>
                  <a:srgbClr val="1E7F4F"/>
                </a:solidFill>
                <a:latin typeface="Calibri"/>
              </a:rPr>
              <a:t>LEGAL / CONTINUITY</a:t>
            </a:r>
          </a:p>
        </p:txBody>
      </p:sp>
      <p:sp>
        <p:nvSpPr>
          <p:cNvPr id="15" name="Rounded Rectangle 14"/>
          <p:cNvSpPr/>
          <p:nvPr/>
        </p:nvSpPr>
        <p:spPr>
          <a:xfrm>
            <a:off x="685800" y="2907792"/>
            <a:ext cx="5349240" cy="96012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86968" y="3182112"/>
            <a:ext cx="420624" cy="420624"/>
          </a:xfrm>
          <a:prstGeom prst="roundRect">
            <a:avLst>
              <a:gd name="adj" fmla="val 25000"/>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6968" y="3182112"/>
            <a:ext cx="420624" cy="420624"/>
          </a:xfrm>
          <a:prstGeom prst="rect">
            <a:avLst/>
          </a:prstGeom>
          <a:noFill/>
        </p:spPr>
        <p:txBody>
          <a:bodyPr wrap="square" anchor="ctr" lIns="0" rIns="0" tIns="0" bIns="0">
            <a:spAutoFit/>
          </a:bodyPr>
          <a:lstStyle/>
          <a:p>
            <a:pPr algn="ctr">
              <a:spcBef>
                <a:spcPts val="0"/>
              </a:spcBef>
              <a:spcAft>
                <a:spcPts val="0"/>
              </a:spcAft>
            </a:pPr>
            <a:r>
              <a:rPr sz="1400" b="1" i="0">
                <a:solidFill>
                  <a:srgbClr val="FFFFFF"/>
                </a:solidFill>
                <a:latin typeface="Calibri"/>
              </a:rPr>
              <a:t>3</a:t>
            </a:r>
          </a:p>
        </p:txBody>
      </p:sp>
      <p:sp>
        <p:nvSpPr>
          <p:cNvPr id="18" name="TextBox 17"/>
          <p:cNvSpPr txBox="1"/>
          <p:nvPr/>
        </p:nvSpPr>
        <p:spPr>
          <a:xfrm>
            <a:off x="1554480" y="3054096"/>
            <a:ext cx="2606040" cy="731520"/>
          </a:xfrm>
          <a:prstGeom prst="rect">
            <a:avLst/>
          </a:prstGeom>
          <a:noFill/>
        </p:spPr>
        <p:txBody>
          <a:bodyPr wrap="square" anchor="ctr" lIns="0" rIns="0" tIns="0" bIns="0">
            <a:spAutoFit/>
          </a:bodyPr>
          <a:lstStyle/>
          <a:p>
            <a:pPr algn="l">
              <a:spcBef>
                <a:spcPts val="0"/>
              </a:spcBef>
              <a:spcAft>
                <a:spcPts val="200"/>
              </a:spcAft>
            </a:pPr>
            <a:r>
              <a:rPr sz="1450" b="1" i="0">
                <a:solidFill>
                  <a:srgbClr val="09131B"/>
                </a:solidFill>
                <a:latin typeface="Calibri"/>
              </a:rPr>
              <a:t>Negotiate from strength</a:t>
            </a:r>
          </a:p>
          <a:p>
            <a:pPr algn="l">
              <a:spcBef>
                <a:spcPts val="0"/>
              </a:spcBef>
              <a:spcAft>
                <a:spcPts val="0"/>
              </a:spcAft>
            </a:pPr>
            <a:r>
              <a:rPr sz="1130" b="0" i="0">
                <a:solidFill>
                  <a:srgbClr val="595959"/>
                </a:solidFill>
                <a:latin typeface="Calibri"/>
              </a:rPr>
              <a:t>Vendor value, concentration and coverage analytics turn renewals into informed negotiations.</a:t>
            </a:r>
          </a:p>
        </p:txBody>
      </p:sp>
      <p:sp>
        <p:nvSpPr>
          <p:cNvPr id="19" name="TextBox 18"/>
          <p:cNvSpPr txBox="1"/>
          <p:nvPr/>
        </p:nvSpPr>
        <p:spPr>
          <a:xfrm>
            <a:off x="4297680" y="3182112"/>
            <a:ext cx="1554480" cy="411480"/>
          </a:xfrm>
          <a:prstGeom prst="rect">
            <a:avLst/>
          </a:prstGeom>
          <a:noFill/>
        </p:spPr>
        <p:txBody>
          <a:bodyPr wrap="square" anchor="ctr" lIns="0" rIns="0" tIns="0" bIns="0">
            <a:spAutoFit/>
          </a:bodyPr>
          <a:lstStyle/>
          <a:p>
            <a:pPr algn="r">
              <a:spcBef>
                <a:spcPts val="0"/>
              </a:spcBef>
              <a:spcAft>
                <a:spcPts val="0"/>
              </a:spcAft>
            </a:pPr>
            <a:r>
              <a:rPr sz="950" b="1" i="0">
                <a:solidFill>
                  <a:srgbClr val="1E7F4F"/>
                </a:solidFill>
                <a:latin typeface="Calibri"/>
              </a:rPr>
              <a:t>PROCUREMENT / CI</a:t>
            </a:r>
          </a:p>
        </p:txBody>
      </p:sp>
      <p:sp>
        <p:nvSpPr>
          <p:cNvPr id="20" name="Rounded Rectangle 19"/>
          <p:cNvSpPr/>
          <p:nvPr/>
        </p:nvSpPr>
        <p:spPr>
          <a:xfrm>
            <a:off x="6309360" y="2907792"/>
            <a:ext cx="5349240" cy="96012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510528" y="3182112"/>
            <a:ext cx="420624" cy="420624"/>
          </a:xfrm>
          <a:prstGeom prst="roundRect">
            <a:avLst>
              <a:gd name="adj" fmla="val 25000"/>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10528" y="3182112"/>
            <a:ext cx="420624" cy="420624"/>
          </a:xfrm>
          <a:prstGeom prst="rect">
            <a:avLst/>
          </a:prstGeom>
          <a:noFill/>
        </p:spPr>
        <p:txBody>
          <a:bodyPr wrap="square" anchor="ctr" lIns="0" rIns="0" tIns="0" bIns="0">
            <a:spAutoFit/>
          </a:bodyPr>
          <a:lstStyle/>
          <a:p>
            <a:pPr algn="ctr">
              <a:spcBef>
                <a:spcPts val="0"/>
              </a:spcBef>
              <a:spcAft>
                <a:spcPts val="0"/>
              </a:spcAft>
            </a:pPr>
            <a:r>
              <a:rPr sz="1400" b="1" i="0">
                <a:solidFill>
                  <a:srgbClr val="FFFFFF"/>
                </a:solidFill>
                <a:latin typeface="Calibri"/>
              </a:rPr>
              <a:t>4</a:t>
            </a:r>
          </a:p>
        </p:txBody>
      </p:sp>
      <p:sp>
        <p:nvSpPr>
          <p:cNvPr id="23" name="TextBox 22"/>
          <p:cNvSpPr txBox="1"/>
          <p:nvPr/>
        </p:nvSpPr>
        <p:spPr>
          <a:xfrm>
            <a:off x="7178040" y="3054096"/>
            <a:ext cx="2606040" cy="731520"/>
          </a:xfrm>
          <a:prstGeom prst="rect">
            <a:avLst/>
          </a:prstGeom>
          <a:noFill/>
        </p:spPr>
        <p:txBody>
          <a:bodyPr wrap="square" anchor="ctr" lIns="0" rIns="0" tIns="0" bIns="0">
            <a:spAutoFit/>
          </a:bodyPr>
          <a:lstStyle/>
          <a:p>
            <a:pPr algn="l">
              <a:spcBef>
                <a:spcPts val="0"/>
              </a:spcBef>
              <a:spcAft>
                <a:spcPts val="200"/>
              </a:spcAft>
            </a:pPr>
            <a:r>
              <a:rPr sz="1450" b="1" i="0">
                <a:solidFill>
                  <a:srgbClr val="09131B"/>
                </a:solidFill>
                <a:latin typeface="Calibri"/>
              </a:rPr>
              <a:t>Audit-ready by default</a:t>
            </a:r>
          </a:p>
          <a:p>
            <a:pPr algn="l">
              <a:spcBef>
                <a:spcPts val="0"/>
              </a:spcBef>
              <a:spcAft>
                <a:spcPts val="0"/>
              </a:spcAft>
            </a:pPr>
            <a:r>
              <a:rPr sz="1130" b="0" i="0">
                <a:solidFill>
                  <a:srgbClr val="595959"/>
                </a:solidFill>
                <a:latin typeface="Calibri"/>
              </a:rPr>
              <a:t>Automatic PII/PHI classification and full lineage make governance the default, not a project.</a:t>
            </a:r>
          </a:p>
        </p:txBody>
      </p:sp>
      <p:sp>
        <p:nvSpPr>
          <p:cNvPr id="24" name="TextBox 23"/>
          <p:cNvSpPr txBox="1"/>
          <p:nvPr/>
        </p:nvSpPr>
        <p:spPr>
          <a:xfrm>
            <a:off x="9921240" y="3182112"/>
            <a:ext cx="1554480" cy="411480"/>
          </a:xfrm>
          <a:prstGeom prst="rect">
            <a:avLst/>
          </a:prstGeom>
          <a:noFill/>
        </p:spPr>
        <p:txBody>
          <a:bodyPr wrap="square" anchor="ctr" lIns="0" rIns="0" tIns="0" bIns="0">
            <a:spAutoFit/>
          </a:bodyPr>
          <a:lstStyle/>
          <a:p>
            <a:pPr algn="r">
              <a:spcBef>
                <a:spcPts val="0"/>
              </a:spcBef>
              <a:spcAft>
                <a:spcPts val="0"/>
              </a:spcAft>
            </a:pPr>
            <a:r>
              <a:rPr sz="950" b="1" i="0">
                <a:solidFill>
                  <a:srgbClr val="1E7F4F"/>
                </a:solidFill>
                <a:latin typeface="Calibri"/>
              </a:rPr>
              <a:t>COMPLIANCE</a:t>
            </a:r>
          </a:p>
        </p:txBody>
      </p:sp>
      <p:sp>
        <p:nvSpPr>
          <p:cNvPr id="25" name="Rounded Rectangle 24"/>
          <p:cNvSpPr/>
          <p:nvPr/>
        </p:nvSpPr>
        <p:spPr>
          <a:xfrm>
            <a:off x="685800" y="3986784"/>
            <a:ext cx="10972800" cy="96012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86968" y="4261104"/>
            <a:ext cx="420624" cy="420624"/>
          </a:xfrm>
          <a:prstGeom prst="roundRect">
            <a:avLst>
              <a:gd name="adj" fmla="val 25000"/>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86968" y="4261104"/>
            <a:ext cx="420624" cy="420624"/>
          </a:xfrm>
          <a:prstGeom prst="rect">
            <a:avLst/>
          </a:prstGeom>
          <a:noFill/>
        </p:spPr>
        <p:txBody>
          <a:bodyPr wrap="square" anchor="ctr" lIns="0" rIns="0" tIns="0" bIns="0">
            <a:spAutoFit/>
          </a:bodyPr>
          <a:lstStyle/>
          <a:p>
            <a:pPr algn="ctr">
              <a:spcBef>
                <a:spcPts val="0"/>
              </a:spcBef>
              <a:spcAft>
                <a:spcPts val="0"/>
              </a:spcAft>
            </a:pPr>
            <a:r>
              <a:rPr sz="1400" b="1" i="0">
                <a:solidFill>
                  <a:srgbClr val="FFFFFF"/>
                </a:solidFill>
                <a:latin typeface="Calibri"/>
              </a:rPr>
              <a:t>5</a:t>
            </a:r>
          </a:p>
        </p:txBody>
      </p:sp>
      <p:sp>
        <p:nvSpPr>
          <p:cNvPr id="28" name="TextBox 27"/>
          <p:cNvSpPr txBox="1"/>
          <p:nvPr/>
        </p:nvSpPr>
        <p:spPr>
          <a:xfrm>
            <a:off x="1554480" y="4133088"/>
            <a:ext cx="8229600" cy="731520"/>
          </a:xfrm>
          <a:prstGeom prst="rect">
            <a:avLst/>
          </a:prstGeom>
          <a:noFill/>
        </p:spPr>
        <p:txBody>
          <a:bodyPr wrap="square" anchor="ctr" lIns="0" rIns="0" tIns="0" bIns="0">
            <a:spAutoFit/>
          </a:bodyPr>
          <a:lstStyle/>
          <a:p>
            <a:pPr algn="l">
              <a:spcBef>
                <a:spcPts val="0"/>
              </a:spcBef>
              <a:spcAft>
                <a:spcPts val="200"/>
              </a:spcAft>
            </a:pPr>
            <a:r>
              <a:rPr sz="1450" b="1" i="0">
                <a:solidFill>
                  <a:srgbClr val="09131B"/>
                </a:solidFill>
                <a:latin typeface="Calibri"/>
              </a:rPr>
              <a:t>Faster, confident decisions</a:t>
            </a:r>
          </a:p>
          <a:p>
            <a:pPr algn="l">
              <a:spcBef>
                <a:spcPts val="0"/>
              </a:spcBef>
              <a:spcAft>
                <a:spcPts val="0"/>
              </a:spcAft>
            </a:pPr>
            <a:r>
              <a:rPr sz="1130" b="0" i="0">
                <a:solidFill>
                  <a:srgbClr val="595959"/>
                </a:solidFill>
                <a:latin typeface="Calibri"/>
              </a:rPr>
              <a:t>One source of truth and a natural-language ask cut manual lookups and let teams trust the number.</a:t>
            </a:r>
          </a:p>
        </p:txBody>
      </p:sp>
      <p:sp>
        <p:nvSpPr>
          <p:cNvPr id="29" name="TextBox 28"/>
          <p:cNvSpPr txBox="1"/>
          <p:nvPr/>
        </p:nvSpPr>
        <p:spPr>
          <a:xfrm>
            <a:off x="9921240" y="4261104"/>
            <a:ext cx="1554480" cy="411480"/>
          </a:xfrm>
          <a:prstGeom prst="rect">
            <a:avLst/>
          </a:prstGeom>
          <a:noFill/>
        </p:spPr>
        <p:txBody>
          <a:bodyPr wrap="square" anchor="ctr" lIns="0" rIns="0" tIns="0" bIns="0">
            <a:spAutoFit/>
          </a:bodyPr>
          <a:lstStyle/>
          <a:p>
            <a:pPr algn="r">
              <a:spcBef>
                <a:spcPts val="0"/>
              </a:spcBef>
              <a:spcAft>
                <a:spcPts val="0"/>
              </a:spcAft>
            </a:pPr>
            <a:r>
              <a:rPr sz="950" b="1" i="0">
                <a:solidFill>
                  <a:srgbClr val="1E7F4F"/>
                </a:solidFill>
                <a:latin typeface="Calibri"/>
              </a:rPr>
              <a:t>COMMERCIAL INSIGHTS</a:t>
            </a:r>
          </a:p>
        </p:txBody>
      </p:sp>
      <p:sp>
        <p:nvSpPr>
          <p:cNvPr id="30" name="Rectangle 29"/>
          <p:cNvSpPr/>
          <p:nvPr/>
        </p:nvSpPr>
        <p:spPr>
          <a:xfrm>
            <a:off x="685800" y="6419088"/>
            <a:ext cx="10820095" cy="952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6473952"/>
            <a:ext cx="7315200" cy="274320"/>
          </a:xfrm>
          <a:prstGeom prst="rect">
            <a:avLst/>
          </a:prstGeom>
          <a:noFill/>
        </p:spPr>
        <p:txBody>
          <a:bodyPr wrap="square" anchor="t" lIns="0" rIns="0" tIns="0" bIns="0">
            <a:spAutoFit/>
          </a:bodyPr>
          <a:lstStyle/>
          <a:p>
            <a:pPr algn="l">
              <a:spcBef>
                <a:spcPts val="0"/>
              </a:spcBef>
              <a:spcAft>
                <a:spcPts val="0"/>
              </a:spcAft>
            </a:pPr>
            <a:r>
              <a:rPr sz="900" b="0" i="0">
                <a:solidFill>
                  <a:srgbClr val="A9AFB6"/>
                </a:solidFill>
                <a:latin typeface="Calibri"/>
              </a:rPr>
              <a:t>Cortex Atlas  ·  Illustrative prototype, synthetic data  ·  Confidential</a:t>
            </a:r>
          </a:p>
        </p:txBody>
      </p:sp>
      <p:sp>
        <p:nvSpPr>
          <p:cNvPr id="32" name="TextBox 31"/>
          <p:cNvSpPr txBox="1"/>
          <p:nvPr/>
        </p:nvSpPr>
        <p:spPr>
          <a:xfrm>
            <a:off x="10591495" y="6473952"/>
            <a:ext cx="914400" cy="274320"/>
          </a:xfrm>
          <a:prstGeom prst="rect">
            <a:avLst/>
          </a:prstGeom>
          <a:noFill/>
        </p:spPr>
        <p:txBody>
          <a:bodyPr wrap="square" anchor="t" lIns="0" rIns="0" tIns="0" bIns="0">
            <a:spAutoFit/>
          </a:bodyPr>
          <a:lstStyle/>
          <a:p>
            <a:pPr algn="r">
              <a:spcBef>
                <a:spcPts val="0"/>
              </a:spcBef>
              <a:spcAft>
                <a:spcPts val="0"/>
              </a:spcAft>
            </a:pPr>
            <a:r>
              <a:rPr sz="900" b="0" i="0">
                <a:solidFill>
                  <a:srgbClr val="A9AFB6"/>
                </a:solidFill>
                <a:latin typeface="Calibri"/>
              </a:rPr>
              <a:t>14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4F4"/>
        </a:solidFill>
        <a:effectLst/>
      </p:bgPr>
    </p:bg>
    <p:spTree>
      <p:nvGrpSpPr>
        <p:cNvPr id="1" name=""/>
        <p:cNvGrpSpPr/>
        <p:nvPr/>
      </p:nvGrpSpPr>
      <p:grpSpPr/>
      <p:sp>
        <p:nvSpPr>
          <p:cNvPr id="2" name="Rectangle 1"/>
          <p:cNvSpPr/>
          <p:nvPr/>
        </p:nvSpPr>
        <p:spPr>
          <a:xfrm>
            <a:off x="685800" y="566928"/>
            <a:ext cx="310896" cy="82296"/>
          </a:xfrm>
          <a:prstGeom prst="rect">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457200"/>
            <a:ext cx="10408615" cy="320040"/>
          </a:xfrm>
          <a:prstGeom prst="rect">
            <a:avLst/>
          </a:prstGeom>
          <a:noFill/>
        </p:spPr>
        <p:txBody>
          <a:bodyPr wrap="square" anchor="t" lIns="0" rIns="0" tIns="0" bIns="0">
            <a:spAutoFit/>
          </a:bodyPr>
          <a:lstStyle/>
          <a:p>
            <a:pPr algn="l">
              <a:spcBef>
                <a:spcPts val="0"/>
              </a:spcBef>
              <a:spcAft>
                <a:spcPts val="0"/>
              </a:spcAft>
            </a:pPr>
            <a:r>
              <a:rPr sz="1250" b="1" i="0">
                <a:solidFill>
                  <a:srgbClr val="F89739"/>
                </a:solidFill>
                <a:latin typeface="Calibri"/>
              </a:rPr>
              <a:t>DESIGN &amp; ARCHITECTURE</a:t>
            </a:r>
          </a:p>
        </p:txBody>
      </p:sp>
      <p:sp>
        <p:nvSpPr>
          <p:cNvPr id="4" name="TextBox 3"/>
          <p:cNvSpPr txBox="1"/>
          <p:nvPr/>
        </p:nvSpPr>
        <p:spPr>
          <a:xfrm>
            <a:off x="685800" y="841248"/>
            <a:ext cx="10820095" cy="640080"/>
          </a:xfrm>
          <a:prstGeom prst="rect">
            <a:avLst/>
          </a:prstGeom>
          <a:noFill/>
        </p:spPr>
        <p:txBody>
          <a:bodyPr wrap="square" anchor="t" lIns="0" rIns="0" tIns="0" bIns="0">
            <a:spAutoFit/>
          </a:bodyPr>
          <a:lstStyle/>
          <a:p>
            <a:pPr algn="l">
              <a:spcBef>
                <a:spcPts val="0"/>
              </a:spcBef>
              <a:spcAft>
                <a:spcPts val="0"/>
              </a:spcAft>
            </a:pPr>
            <a:r>
              <a:rPr sz="2900" b="1" i="0">
                <a:solidFill>
                  <a:srgbClr val="09131B"/>
                </a:solidFill>
                <a:latin typeface="Calibri"/>
              </a:rPr>
              <a:t>Built to drop into your Microsoft estate — and the Cortex suite</a:t>
            </a:r>
          </a:p>
        </p:txBody>
      </p:sp>
      <p:sp>
        <p:nvSpPr>
          <p:cNvPr id="5" name="Rounded Rectangle 4"/>
          <p:cNvSpPr/>
          <p:nvPr/>
        </p:nvSpPr>
        <p:spPr>
          <a:xfrm>
            <a:off x="685800" y="1828800"/>
            <a:ext cx="5349240" cy="402336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011680"/>
            <a:ext cx="4800600" cy="3657600"/>
          </a:xfrm>
          <a:prstGeom prst="rect">
            <a:avLst/>
          </a:prstGeom>
          <a:noFill/>
        </p:spPr>
        <p:txBody>
          <a:bodyPr wrap="square" anchor="t" lIns="0" rIns="0" tIns="0" bIns="0">
            <a:spAutoFit/>
          </a:bodyPr>
          <a:lstStyle/>
          <a:p>
            <a:pPr algn="l">
              <a:spcBef>
                <a:spcPts val="0"/>
              </a:spcBef>
              <a:spcAft>
                <a:spcPts val="700"/>
              </a:spcAft>
            </a:pPr>
            <a:r>
              <a:rPr sz="1500" b="1" i="0">
                <a:solidFill>
                  <a:srgbClr val="09131B"/>
                </a:solidFill>
                <a:latin typeface="Calibri"/>
              </a:rPr>
              <a:t>The prototype you're seeing</a:t>
            </a:r>
            <a:r>
              <a:rPr sz="1250" b="1">
                <a:solidFill>
                  <a:srgbClr val="F89739"/>
                </a:solidFill>
                <a:latin typeface="Calibri"/>
              </a:rPr>
              <a:t>—  </a:t>
            </a:r>
            <a:r>
              <a:rPr sz="1250" b="1">
                <a:solidFill>
                  <a:srgbClr val="09131B"/>
                </a:solidFill>
                <a:latin typeface="Calibri"/>
              </a:rPr>
              <a:t>One self-contained file.</a:t>
            </a:r>
            <a:r>
              <a:rPr sz="1250">
                <a:solidFill>
                  <a:srgbClr val="595959"/>
                </a:solidFill>
                <a:latin typeface="Calibri"/>
              </a:rPr>
              <a:t> Runs in any browser, fully offline — no install to evaluate it.</a:t>
            </a:r>
          </a:p>
          <a:p>
            <a:pPr algn="l">
              <a:spcBef>
                <a:spcPts val="0"/>
              </a:spcBef>
              <a:spcAft>
                <a:spcPts val="700"/>
              </a:spcAft>
            </a:pPr>
            <a:r>
              <a:rPr sz="1250" b="1">
                <a:solidFill>
                  <a:srgbClr val="F89739"/>
                </a:solidFill>
                <a:latin typeface="Calibri"/>
              </a:rPr>
              <a:t>—  </a:t>
            </a:r>
            <a:r>
              <a:rPr sz="1250" b="1">
                <a:solidFill>
                  <a:srgbClr val="09131B"/>
                </a:solidFill>
                <a:latin typeface="Calibri"/>
              </a:rPr>
              <a:t>Cortex design system.</a:t>
            </a:r>
            <a:r>
              <a:rPr sz="1250">
                <a:solidFill>
                  <a:srgbClr val="595959"/>
                </a:solidFill>
                <a:latin typeface="Calibri"/>
              </a:rPr>
              <a:t> Same look and behaviour as Compass, Vantage and Meridian.</a:t>
            </a:r>
          </a:p>
          <a:p>
            <a:pPr algn="l">
              <a:spcBef>
                <a:spcPts val="0"/>
              </a:spcBef>
              <a:spcAft>
                <a:spcPts val="700"/>
              </a:spcAft>
            </a:pPr>
            <a:r>
              <a:rPr sz="1250" b="1">
                <a:solidFill>
                  <a:srgbClr val="F89739"/>
                </a:solidFill>
                <a:latin typeface="Calibri"/>
              </a:rPr>
              <a:t>—  </a:t>
            </a:r>
            <a:r>
              <a:rPr sz="1250" b="1">
                <a:solidFill>
                  <a:srgbClr val="09131B"/>
                </a:solidFill>
                <a:latin typeface="Calibri"/>
              </a:rPr>
              <a:t>Lift-and-shift ready.</a:t>
            </a:r>
            <a:r>
              <a:rPr sz="1250">
                <a:solidFill>
                  <a:srgbClr val="595959"/>
                </a:solidFill>
                <a:latin typeface="Calibri"/>
              </a:rPr>
              <a:t> Drops into the cortex-commercial-suite with near-zero rework.</a:t>
            </a:r>
          </a:p>
          <a:p>
            <a:pPr algn="l">
              <a:spcBef>
                <a:spcPts val="0"/>
              </a:spcBef>
              <a:spcAft>
                <a:spcPts val="700"/>
              </a:spcAft>
            </a:pPr>
            <a:r>
              <a:rPr sz="1250" b="1">
                <a:solidFill>
                  <a:srgbClr val="F89739"/>
                </a:solidFill>
                <a:latin typeface="Calibri"/>
              </a:rPr>
              <a:t>—  </a:t>
            </a:r>
            <a:r>
              <a:rPr sz="1250" b="1">
                <a:solidFill>
                  <a:srgbClr val="09131B"/>
                </a:solidFill>
                <a:latin typeface="Calibri"/>
              </a:rPr>
              <a:t>Synthetic data only.</a:t>
            </a:r>
            <a:r>
              <a:rPr sz="1250">
                <a:solidFill>
                  <a:srgbClr val="595959"/>
                </a:solidFill>
                <a:latin typeface="Calibri"/>
              </a:rPr>
              <a:t> No real client or patient data anywhere in the prototype.</a:t>
            </a:r>
          </a:p>
        </p:txBody>
      </p:sp>
      <p:sp>
        <p:nvSpPr>
          <p:cNvPr id="7" name="Rounded Rectangle 6"/>
          <p:cNvSpPr/>
          <p:nvPr/>
        </p:nvSpPr>
        <p:spPr>
          <a:xfrm>
            <a:off x="6309360" y="1828800"/>
            <a:ext cx="5349240" cy="402336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2011680"/>
            <a:ext cx="4800600" cy="457200"/>
          </a:xfrm>
          <a:prstGeom prst="rect">
            <a:avLst/>
          </a:prstGeom>
          <a:noFill/>
        </p:spPr>
        <p:txBody>
          <a:bodyPr wrap="square" anchor="t" lIns="0" rIns="0" tIns="0" bIns="0">
            <a:spAutoFit/>
          </a:bodyPr>
          <a:lstStyle/>
          <a:p>
            <a:pPr algn="l">
              <a:spcBef>
                <a:spcPts val="0"/>
              </a:spcBef>
              <a:spcAft>
                <a:spcPts val="800"/>
              </a:spcAft>
            </a:pPr>
            <a:r>
              <a:rPr sz="1500" b="1" i="0">
                <a:solidFill>
                  <a:srgbClr val="09131B"/>
                </a:solidFill>
                <a:latin typeface="Calibri"/>
              </a:rPr>
              <a:t>Target production stack — Microsoft-native</a:t>
            </a:r>
          </a:p>
        </p:txBody>
      </p:sp>
      <p:sp>
        <p:nvSpPr>
          <p:cNvPr id="9" name="Rounded Rectangle 8"/>
          <p:cNvSpPr/>
          <p:nvPr/>
        </p:nvSpPr>
        <p:spPr>
          <a:xfrm>
            <a:off x="6583680" y="2551176"/>
            <a:ext cx="91440" cy="457200"/>
          </a:xfrm>
          <a:prstGeom prst="roundRect">
            <a:avLst>
              <a:gd name="adj" fmla="val 50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12280" y="2514600"/>
            <a:ext cx="4572000" cy="548640"/>
          </a:xfrm>
          <a:prstGeom prst="rect">
            <a:avLst/>
          </a:prstGeom>
          <a:noFill/>
        </p:spPr>
        <p:txBody>
          <a:bodyPr wrap="square" anchor="t" lIns="0" rIns="0" tIns="0" bIns="0">
            <a:spAutoFit/>
          </a:bodyPr>
          <a:lstStyle/>
          <a:p>
            <a:pPr algn="l">
              <a:spcBef>
                <a:spcPts val="0"/>
              </a:spcBef>
              <a:spcAft>
                <a:spcPts val="100"/>
              </a:spcAft>
            </a:pPr>
            <a:r>
              <a:rPr sz="1250" b="1" i="0">
                <a:solidFill>
                  <a:srgbClr val="09131B"/>
                </a:solidFill>
                <a:latin typeface="Calibri"/>
              </a:rPr>
              <a:t>SharePoint</a:t>
            </a:r>
          </a:p>
          <a:p>
            <a:pPr algn="l">
              <a:spcBef>
                <a:spcPts val="0"/>
              </a:spcBef>
              <a:spcAft>
                <a:spcPts val="0"/>
              </a:spcAft>
            </a:pPr>
            <a:r>
              <a:rPr sz="1080" b="0" i="0">
                <a:solidFill>
                  <a:srgbClr val="595959"/>
                </a:solidFill>
                <a:latin typeface="Calibri"/>
              </a:rPr>
              <a:t>Storage &amp; lists — the records system</a:t>
            </a:r>
          </a:p>
        </p:txBody>
      </p:sp>
      <p:sp>
        <p:nvSpPr>
          <p:cNvPr id="11" name="Rounded Rectangle 10"/>
          <p:cNvSpPr/>
          <p:nvPr/>
        </p:nvSpPr>
        <p:spPr>
          <a:xfrm>
            <a:off x="6583680" y="3172968"/>
            <a:ext cx="91440" cy="457200"/>
          </a:xfrm>
          <a:prstGeom prst="roundRect">
            <a:avLst>
              <a:gd name="adj" fmla="val 50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2280" y="3136392"/>
            <a:ext cx="4572000" cy="548640"/>
          </a:xfrm>
          <a:prstGeom prst="rect">
            <a:avLst/>
          </a:prstGeom>
          <a:noFill/>
        </p:spPr>
        <p:txBody>
          <a:bodyPr wrap="square" anchor="t" lIns="0" rIns="0" tIns="0" bIns="0">
            <a:spAutoFit/>
          </a:bodyPr>
          <a:lstStyle/>
          <a:p>
            <a:pPr algn="l">
              <a:spcBef>
                <a:spcPts val="0"/>
              </a:spcBef>
              <a:spcAft>
                <a:spcPts val="100"/>
              </a:spcAft>
            </a:pPr>
            <a:r>
              <a:rPr sz="1250" b="1" i="0">
                <a:solidFill>
                  <a:srgbClr val="09131B"/>
                </a:solidFill>
                <a:latin typeface="Calibri"/>
              </a:rPr>
              <a:t>Power Automate</a:t>
            </a:r>
          </a:p>
          <a:p>
            <a:pPr algn="l">
              <a:spcBef>
                <a:spcPts val="0"/>
              </a:spcBef>
              <a:spcAft>
                <a:spcPts val="0"/>
              </a:spcAft>
            </a:pPr>
            <a:r>
              <a:rPr sz="1080" b="0" i="0">
                <a:solidFill>
                  <a:srgbClr val="595959"/>
                </a:solidFill>
                <a:latin typeface="Calibri"/>
              </a:rPr>
              <a:t>Workflow &amp; the 30/60/90 reminders</a:t>
            </a:r>
          </a:p>
        </p:txBody>
      </p:sp>
      <p:sp>
        <p:nvSpPr>
          <p:cNvPr id="13" name="Rounded Rectangle 12"/>
          <p:cNvSpPr/>
          <p:nvPr/>
        </p:nvSpPr>
        <p:spPr>
          <a:xfrm>
            <a:off x="6583680" y="3794760"/>
            <a:ext cx="91440" cy="457200"/>
          </a:xfrm>
          <a:prstGeom prst="roundRect">
            <a:avLst>
              <a:gd name="adj" fmla="val 50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12280" y="3758184"/>
            <a:ext cx="4572000" cy="548640"/>
          </a:xfrm>
          <a:prstGeom prst="rect">
            <a:avLst/>
          </a:prstGeom>
          <a:noFill/>
        </p:spPr>
        <p:txBody>
          <a:bodyPr wrap="square" anchor="t" lIns="0" rIns="0" tIns="0" bIns="0">
            <a:spAutoFit/>
          </a:bodyPr>
          <a:lstStyle/>
          <a:p>
            <a:pPr algn="l">
              <a:spcBef>
                <a:spcPts val="0"/>
              </a:spcBef>
              <a:spcAft>
                <a:spcPts val="100"/>
              </a:spcAft>
            </a:pPr>
            <a:r>
              <a:rPr sz="1250" b="1" i="0">
                <a:solidFill>
                  <a:srgbClr val="09131B"/>
                </a:solidFill>
                <a:latin typeface="Calibri"/>
              </a:rPr>
              <a:t>Microsoft Purview</a:t>
            </a:r>
          </a:p>
          <a:p>
            <a:pPr algn="l">
              <a:spcBef>
                <a:spcPts val="0"/>
              </a:spcBef>
              <a:spcAft>
                <a:spcPts val="0"/>
              </a:spcAft>
            </a:pPr>
            <a:r>
              <a:rPr sz="1080" b="0" i="0">
                <a:solidFill>
                  <a:srgbClr val="595959"/>
                </a:solidFill>
                <a:latin typeface="Calibri"/>
              </a:rPr>
              <a:t>Catalogue, classification &amp; lineage</a:t>
            </a:r>
          </a:p>
        </p:txBody>
      </p:sp>
      <p:sp>
        <p:nvSpPr>
          <p:cNvPr id="15" name="Rounded Rectangle 14"/>
          <p:cNvSpPr/>
          <p:nvPr/>
        </p:nvSpPr>
        <p:spPr>
          <a:xfrm>
            <a:off x="6583680" y="4416552"/>
            <a:ext cx="91440" cy="457200"/>
          </a:xfrm>
          <a:prstGeom prst="roundRect">
            <a:avLst>
              <a:gd name="adj" fmla="val 50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12280" y="4379976"/>
            <a:ext cx="4572000" cy="548640"/>
          </a:xfrm>
          <a:prstGeom prst="rect">
            <a:avLst/>
          </a:prstGeom>
          <a:noFill/>
        </p:spPr>
        <p:txBody>
          <a:bodyPr wrap="square" anchor="t" lIns="0" rIns="0" tIns="0" bIns="0">
            <a:spAutoFit/>
          </a:bodyPr>
          <a:lstStyle/>
          <a:p>
            <a:pPr algn="l">
              <a:spcBef>
                <a:spcPts val="0"/>
              </a:spcBef>
              <a:spcAft>
                <a:spcPts val="100"/>
              </a:spcAft>
            </a:pPr>
            <a:r>
              <a:rPr sz="1250" b="1" i="0">
                <a:solidFill>
                  <a:srgbClr val="09131B"/>
                </a:solidFill>
                <a:latin typeface="Calibri"/>
              </a:rPr>
              <a:t>Azure OpenAI</a:t>
            </a:r>
          </a:p>
          <a:p>
            <a:pPr algn="l">
              <a:spcBef>
                <a:spcPts val="0"/>
              </a:spcBef>
              <a:spcAft>
                <a:spcPts val="0"/>
              </a:spcAft>
            </a:pPr>
            <a:r>
              <a:rPr sz="1080" b="0" i="0">
                <a:solidFill>
                  <a:srgbClr val="595959"/>
                </a:solidFill>
                <a:latin typeface="Calibri"/>
              </a:rPr>
              <a:t>The intelligence &amp; Ask Atlas layer</a:t>
            </a:r>
          </a:p>
        </p:txBody>
      </p:sp>
      <p:sp>
        <p:nvSpPr>
          <p:cNvPr id="17" name="Rounded Rectangle 16"/>
          <p:cNvSpPr/>
          <p:nvPr/>
        </p:nvSpPr>
        <p:spPr>
          <a:xfrm>
            <a:off x="6583680" y="5038344"/>
            <a:ext cx="91440" cy="457200"/>
          </a:xfrm>
          <a:prstGeom prst="roundRect">
            <a:avLst>
              <a:gd name="adj" fmla="val 50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12280" y="5001768"/>
            <a:ext cx="4572000" cy="548640"/>
          </a:xfrm>
          <a:prstGeom prst="rect">
            <a:avLst/>
          </a:prstGeom>
          <a:noFill/>
        </p:spPr>
        <p:txBody>
          <a:bodyPr wrap="square" anchor="t" lIns="0" rIns="0" tIns="0" bIns="0">
            <a:spAutoFit/>
          </a:bodyPr>
          <a:lstStyle/>
          <a:p>
            <a:pPr algn="l">
              <a:spcBef>
                <a:spcPts val="0"/>
              </a:spcBef>
              <a:spcAft>
                <a:spcPts val="100"/>
              </a:spcAft>
            </a:pPr>
            <a:r>
              <a:rPr sz="1250" b="1" i="0">
                <a:solidFill>
                  <a:srgbClr val="09131B"/>
                </a:solidFill>
                <a:latin typeface="Calibri"/>
              </a:rPr>
              <a:t>Databricks / Model N / SAP</a:t>
            </a:r>
          </a:p>
          <a:p>
            <a:pPr algn="l">
              <a:spcBef>
                <a:spcPts val="0"/>
              </a:spcBef>
              <a:spcAft>
                <a:spcPts val="0"/>
              </a:spcAft>
            </a:pPr>
            <a:r>
              <a:rPr sz="1080" b="0" i="0">
                <a:solidFill>
                  <a:srgbClr val="595959"/>
                </a:solidFill>
                <a:latin typeface="Calibri"/>
              </a:rPr>
              <a:t>Data, spend and contract feeds</a:t>
            </a:r>
          </a:p>
        </p:txBody>
      </p:sp>
      <p:sp>
        <p:nvSpPr>
          <p:cNvPr id="19" name="Rectangle 18"/>
          <p:cNvSpPr/>
          <p:nvPr/>
        </p:nvSpPr>
        <p:spPr>
          <a:xfrm>
            <a:off x="685800" y="6419088"/>
            <a:ext cx="10820095" cy="952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6473952"/>
            <a:ext cx="7315200" cy="274320"/>
          </a:xfrm>
          <a:prstGeom prst="rect">
            <a:avLst/>
          </a:prstGeom>
          <a:noFill/>
        </p:spPr>
        <p:txBody>
          <a:bodyPr wrap="square" anchor="t" lIns="0" rIns="0" tIns="0" bIns="0">
            <a:spAutoFit/>
          </a:bodyPr>
          <a:lstStyle/>
          <a:p>
            <a:pPr algn="l">
              <a:spcBef>
                <a:spcPts val="0"/>
              </a:spcBef>
              <a:spcAft>
                <a:spcPts val="0"/>
              </a:spcAft>
            </a:pPr>
            <a:r>
              <a:rPr sz="900" b="0" i="0">
                <a:solidFill>
                  <a:srgbClr val="A9AFB6"/>
                </a:solidFill>
                <a:latin typeface="Calibri"/>
              </a:rPr>
              <a:t>Cortex Atlas  ·  Illustrative prototype, synthetic data  ·  Confidential</a:t>
            </a:r>
          </a:p>
        </p:txBody>
      </p:sp>
      <p:sp>
        <p:nvSpPr>
          <p:cNvPr id="21" name="TextBox 20"/>
          <p:cNvSpPr txBox="1"/>
          <p:nvPr/>
        </p:nvSpPr>
        <p:spPr>
          <a:xfrm>
            <a:off x="10591495" y="6473952"/>
            <a:ext cx="914400" cy="274320"/>
          </a:xfrm>
          <a:prstGeom prst="rect">
            <a:avLst/>
          </a:prstGeom>
          <a:noFill/>
        </p:spPr>
        <p:txBody>
          <a:bodyPr wrap="square" anchor="t" lIns="0" rIns="0" tIns="0" bIns="0">
            <a:spAutoFit/>
          </a:bodyPr>
          <a:lstStyle/>
          <a:p>
            <a:pPr algn="r">
              <a:spcBef>
                <a:spcPts val="0"/>
              </a:spcBef>
              <a:spcAft>
                <a:spcPts val="0"/>
              </a:spcAft>
            </a:pPr>
            <a:r>
              <a:rPr sz="900" b="0" i="0">
                <a:solidFill>
                  <a:srgbClr val="A9AFB6"/>
                </a:solidFill>
                <a:latin typeface="Calibri"/>
              </a:rPr>
              <a:t>15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4F4"/>
        </a:solidFill>
        <a:effectLst/>
      </p:bgPr>
    </p:bg>
    <p:spTree>
      <p:nvGrpSpPr>
        <p:cNvPr id="1" name=""/>
        <p:cNvGrpSpPr/>
        <p:nvPr/>
      </p:nvGrpSpPr>
      <p:grpSpPr/>
      <p:sp>
        <p:nvSpPr>
          <p:cNvPr id="2" name="Rectangle 1"/>
          <p:cNvSpPr/>
          <p:nvPr/>
        </p:nvSpPr>
        <p:spPr>
          <a:xfrm>
            <a:off x="685800" y="566928"/>
            <a:ext cx="310896" cy="82296"/>
          </a:xfrm>
          <a:prstGeom prst="rect">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457200"/>
            <a:ext cx="10408615" cy="320040"/>
          </a:xfrm>
          <a:prstGeom prst="rect">
            <a:avLst/>
          </a:prstGeom>
          <a:noFill/>
        </p:spPr>
        <p:txBody>
          <a:bodyPr wrap="square" anchor="t" lIns="0" rIns="0" tIns="0" bIns="0">
            <a:spAutoFit/>
          </a:bodyPr>
          <a:lstStyle/>
          <a:p>
            <a:pPr algn="l">
              <a:spcBef>
                <a:spcPts val="0"/>
              </a:spcBef>
              <a:spcAft>
                <a:spcPts val="0"/>
              </a:spcAft>
            </a:pPr>
            <a:r>
              <a:rPr sz="1250" b="1" i="0">
                <a:solidFill>
                  <a:srgbClr val="F89739"/>
                </a:solidFill>
                <a:latin typeface="Calibri"/>
              </a:rPr>
              <a:t>DELIVERY ROADMAP</a:t>
            </a:r>
          </a:p>
        </p:txBody>
      </p:sp>
      <p:sp>
        <p:nvSpPr>
          <p:cNvPr id="4" name="TextBox 3"/>
          <p:cNvSpPr txBox="1"/>
          <p:nvPr/>
        </p:nvSpPr>
        <p:spPr>
          <a:xfrm>
            <a:off x="685800" y="841248"/>
            <a:ext cx="10820095" cy="640080"/>
          </a:xfrm>
          <a:prstGeom prst="rect">
            <a:avLst/>
          </a:prstGeom>
          <a:noFill/>
        </p:spPr>
        <p:txBody>
          <a:bodyPr wrap="square" anchor="t" lIns="0" rIns="0" tIns="0" bIns="0">
            <a:spAutoFit/>
          </a:bodyPr>
          <a:lstStyle/>
          <a:p>
            <a:pPr algn="l">
              <a:spcBef>
                <a:spcPts val="0"/>
              </a:spcBef>
              <a:spcAft>
                <a:spcPts val="0"/>
              </a:spcAft>
            </a:pPr>
            <a:r>
              <a:rPr sz="2900" b="1" i="0">
                <a:solidFill>
                  <a:srgbClr val="09131B"/>
                </a:solidFill>
                <a:latin typeface="Calibri"/>
              </a:rPr>
              <a:t>A phased rollout — value at every step</a:t>
            </a:r>
          </a:p>
        </p:txBody>
      </p:sp>
      <p:sp>
        <p:nvSpPr>
          <p:cNvPr id="5" name="Rounded Rectangle 4"/>
          <p:cNvSpPr/>
          <p:nvPr/>
        </p:nvSpPr>
        <p:spPr>
          <a:xfrm>
            <a:off x="685800" y="2011680"/>
            <a:ext cx="3502152" cy="292608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 y="2011680"/>
            <a:ext cx="3502152" cy="128016"/>
          </a:xfrm>
          <a:prstGeom prst="roundRect">
            <a:avLst>
              <a:gd name="adj" fmla="val 50000"/>
            </a:avLst>
          </a:prstGeom>
          <a:solidFill>
            <a:srgbClr val="0563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77440"/>
            <a:ext cx="3044952" cy="2468880"/>
          </a:xfrm>
          <a:prstGeom prst="rect">
            <a:avLst/>
          </a:prstGeom>
          <a:noFill/>
        </p:spPr>
        <p:txBody>
          <a:bodyPr wrap="square" anchor="t" lIns="0" rIns="0" tIns="0" bIns="0">
            <a:spAutoFit/>
          </a:bodyPr>
          <a:lstStyle/>
          <a:p>
            <a:pPr algn="l">
              <a:spcBef>
                <a:spcPts val="0"/>
              </a:spcBef>
              <a:spcAft>
                <a:spcPts val="200"/>
              </a:spcAft>
            </a:pPr>
            <a:r>
              <a:rPr sz="1100" b="1" i="0">
                <a:solidFill>
                  <a:srgbClr val="0563C1"/>
                </a:solidFill>
                <a:latin typeface="Calibri"/>
              </a:rPr>
              <a:t>PHASE 1</a:t>
            </a:r>
          </a:p>
          <a:p>
            <a:pPr algn="l">
              <a:spcBef>
                <a:spcPts val="0"/>
              </a:spcBef>
              <a:spcAft>
                <a:spcPts val="800"/>
              </a:spcAft>
            </a:pPr>
            <a:r>
              <a:rPr sz="1800" b="1" i="0">
                <a:solidFill>
                  <a:srgbClr val="09131B"/>
                </a:solidFill>
                <a:latin typeface="Calibri"/>
              </a:rPr>
              <a:t>Foundation</a:t>
            </a:r>
          </a:p>
          <a:p>
            <a:pPr algn="l">
              <a:spcBef>
                <a:spcPts val="0"/>
              </a:spcBef>
              <a:spcAft>
                <a:spcPts val="0"/>
              </a:spcAft>
            </a:pPr>
            <a:r>
              <a:rPr sz="1200" b="0" i="0">
                <a:solidFill>
                  <a:srgbClr val="595959"/>
                </a:solidFill>
                <a:latin typeface="Calibri"/>
              </a:rPr>
              <a:t>Migrate the five tools, the data model and the cross-links onto SharePoint. The as-is estate, connected and trustworthy.</a:t>
            </a:r>
          </a:p>
        </p:txBody>
      </p:sp>
      <p:sp>
        <p:nvSpPr>
          <p:cNvPr id="8" name="TextBox 7"/>
          <p:cNvSpPr txBox="1"/>
          <p:nvPr/>
        </p:nvSpPr>
        <p:spPr>
          <a:xfrm>
            <a:off x="4169664" y="3291840"/>
            <a:ext cx="146304" cy="457200"/>
          </a:xfrm>
          <a:prstGeom prst="rect">
            <a:avLst/>
          </a:prstGeom>
          <a:noFill/>
        </p:spPr>
        <p:txBody>
          <a:bodyPr wrap="square" anchor="ctr" lIns="0" rIns="0" tIns="0" bIns="0">
            <a:spAutoFit/>
          </a:bodyPr>
          <a:lstStyle/>
          <a:p>
            <a:pPr algn="ctr">
              <a:spcBef>
                <a:spcPts val="0"/>
              </a:spcBef>
              <a:spcAft>
                <a:spcPts val="0"/>
              </a:spcAft>
            </a:pPr>
            <a:r>
              <a:rPr sz="1600" b="1" i="0">
                <a:solidFill>
                  <a:srgbClr val="A9AFB6"/>
                </a:solidFill>
                <a:latin typeface="Calibri"/>
              </a:rPr>
              <a:t>→</a:t>
            </a:r>
          </a:p>
        </p:txBody>
      </p:sp>
      <p:sp>
        <p:nvSpPr>
          <p:cNvPr id="9" name="Rounded Rectangle 8"/>
          <p:cNvSpPr/>
          <p:nvPr/>
        </p:nvSpPr>
        <p:spPr>
          <a:xfrm>
            <a:off x="4279392" y="2011680"/>
            <a:ext cx="3502152" cy="292608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279392" y="2011680"/>
            <a:ext cx="3502152" cy="128016"/>
          </a:xfrm>
          <a:prstGeom prst="roundRect">
            <a:avLst>
              <a:gd name="adj" fmla="val 50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07992" y="2377440"/>
            <a:ext cx="3044952" cy="2468880"/>
          </a:xfrm>
          <a:prstGeom prst="rect">
            <a:avLst/>
          </a:prstGeom>
          <a:noFill/>
        </p:spPr>
        <p:txBody>
          <a:bodyPr wrap="square" anchor="t" lIns="0" rIns="0" tIns="0" bIns="0">
            <a:spAutoFit/>
          </a:bodyPr>
          <a:lstStyle/>
          <a:p>
            <a:pPr algn="l">
              <a:spcBef>
                <a:spcPts val="0"/>
              </a:spcBef>
              <a:spcAft>
                <a:spcPts val="200"/>
              </a:spcAft>
            </a:pPr>
            <a:r>
              <a:rPr sz="1100" b="1" i="0">
                <a:solidFill>
                  <a:srgbClr val="9A5C12"/>
                </a:solidFill>
                <a:latin typeface="Calibri"/>
              </a:rPr>
              <a:t>PHASE 2</a:t>
            </a:r>
          </a:p>
          <a:p>
            <a:pPr algn="l">
              <a:spcBef>
                <a:spcPts val="0"/>
              </a:spcBef>
              <a:spcAft>
                <a:spcPts val="800"/>
              </a:spcAft>
            </a:pPr>
            <a:r>
              <a:rPr sz="1800" b="1" i="0">
                <a:solidFill>
                  <a:srgbClr val="09131B"/>
                </a:solidFill>
                <a:latin typeface="Calibri"/>
              </a:rPr>
              <a:t>Automation</a:t>
            </a:r>
          </a:p>
          <a:p>
            <a:pPr algn="l">
              <a:spcBef>
                <a:spcPts val="0"/>
              </a:spcBef>
              <a:spcAft>
                <a:spcPts val="0"/>
              </a:spcAft>
            </a:pPr>
            <a:r>
              <a:rPr sz="1200" b="0" i="0">
                <a:solidFill>
                  <a:srgbClr val="595959"/>
                </a:solidFill>
                <a:latin typeface="Calibri"/>
              </a:rPr>
              <a:t>Power Automate reminders, approved-request → catalogue sync, renewal pre-fill, Purview PII/PHI classification, duplicate detection.</a:t>
            </a:r>
          </a:p>
        </p:txBody>
      </p:sp>
      <p:sp>
        <p:nvSpPr>
          <p:cNvPr id="12" name="TextBox 11"/>
          <p:cNvSpPr txBox="1"/>
          <p:nvPr/>
        </p:nvSpPr>
        <p:spPr>
          <a:xfrm>
            <a:off x="7763256" y="3291840"/>
            <a:ext cx="146304" cy="457200"/>
          </a:xfrm>
          <a:prstGeom prst="rect">
            <a:avLst/>
          </a:prstGeom>
          <a:noFill/>
        </p:spPr>
        <p:txBody>
          <a:bodyPr wrap="square" anchor="ctr" lIns="0" rIns="0" tIns="0" bIns="0">
            <a:spAutoFit/>
          </a:bodyPr>
          <a:lstStyle/>
          <a:p>
            <a:pPr algn="ctr">
              <a:spcBef>
                <a:spcPts val="0"/>
              </a:spcBef>
              <a:spcAft>
                <a:spcPts val="0"/>
              </a:spcAft>
            </a:pPr>
            <a:r>
              <a:rPr sz="1600" b="1" i="0">
                <a:solidFill>
                  <a:srgbClr val="A9AFB6"/>
                </a:solidFill>
                <a:latin typeface="Calibri"/>
              </a:rPr>
              <a:t>→</a:t>
            </a:r>
          </a:p>
        </p:txBody>
      </p:sp>
      <p:sp>
        <p:nvSpPr>
          <p:cNvPr id="13" name="Rounded Rectangle 12"/>
          <p:cNvSpPr/>
          <p:nvPr/>
        </p:nvSpPr>
        <p:spPr>
          <a:xfrm>
            <a:off x="7872984" y="2011680"/>
            <a:ext cx="3502152" cy="292608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872984" y="2011680"/>
            <a:ext cx="3502152" cy="128016"/>
          </a:xfrm>
          <a:prstGeom prst="roundRect">
            <a:avLst>
              <a:gd name="adj" fmla="val 50000"/>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01584" y="2377440"/>
            <a:ext cx="3044952" cy="2468880"/>
          </a:xfrm>
          <a:prstGeom prst="rect">
            <a:avLst/>
          </a:prstGeom>
          <a:noFill/>
        </p:spPr>
        <p:txBody>
          <a:bodyPr wrap="square" anchor="t" lIns="0" rIns="0" tIns="0" bIns="0">
            <a:spAutoFit/>
          </a:bodyPr>
          <a:lstStyle/>
          <a:p>
            <a:pPr algn="l">
              <a:spcBef>
                <a:spcPts val="0"/>
              </a:spcBef>
              <a:spcAft>
                <a:spcPts val="200"/>
              </a:spcAft>
            </a:pPr>
            <a:r>
              <a:rPr sz="1100" b="1" i="0">
                <a:solidFill>
                  <a:srgbClr val="1E7F4F"/>
                </a:solidFill>
                <a:latin typeface="Calibri"/>
              </a:rPr>
              <a:t>PHASE 3</a:t>
            </a:r>
          </a:p>
          <a:p>
            <a:pPr algn="l">
              <a:spcBef>
                <a:spcPts val="0"/>
              </a:spcBef>
              <a:spcAft>
                <a:spcPts val="800"/>
              </a:spcAft>
            </a:pPr>
            <a:r>
              <a:rPr sz="1800" b="1" i="0">
                <a:solidFill>
                  <a:srgbClr val="09131B"/>
                </a:solidFill>
                <a:latin typeface="Calibri"/>
              </a:rPr>
              <a:t>Intelligence</a:t>
            </a:r>
          </a:p>
          <a:p>
            <a:pPr algn="l">
              <a:spcBef>
                <a:spcPts val="0"/>
              </a:spcBef>
              <a:spcAft>
                <a:spcPts val="0"/>
              </a:spcAft>
            </a:pPr>
            <a:r>
              <a:rPr sz="1200" b="0" i="0">
                <a:solidFill>
                  <a:srgbClr val="595959"/>
                </a:solidFill>
                <a:latin typeface="Calibri"/>
              </a:rPr>
              <a:t>Vendor Hub Plus, renewal prediction, cross-tool signals and Ask Atlas on Azure OpenAI — the full decision layer.</a:t>
            </a:r>
          </a:p>
        </p:txBody>
      </p:sp>
      <p:sp>
        <p:nvSpPr>
          <p:cNvPr id="16" name="TextBox 15"/>
          <p:cNvSpPr txBox="1"/>
          <p:nvPr/>
        </p:nvSpPr>
        <p:spPr>
          <a:xfrm>
            <a:off x="685800" y="5212080"/>
            <a:ext cx="10820095" cy="731520"/>
          </a:xfrm>
          <a:prstGeom prst="rect">
            <a:avLst/>
          </a:prstGeom>
          <a:noFill/>
        </p:spPr>
        <p:txBody>
          <a:bodyPr wrap="square" anchor="t" lIns="0" rIns="0" tIns="0" bIns="0">
            <a:spAutoFit/>
          </a:bodyPr>
          <a:lstStyle/>
          <a:p>
            <a:pPr algn="l">
              <a:spcBef>
                <a:spcPts val="0"/>
              </a:spcBef>
              <a:spcAft>
                <a:spcPts val="0"/>
              </a:spcAft>
            </a:pPr>
            <a:r>
              <a:rPr sz="1400" b="1" i="0">
                <a:solidFill>
                  <a:srgbClr val="09131B"/>
                </a:solidFill>
                <a:latin typeface="Calibri"/>
              </a:rPr>
              <a:t>The prototype already demonstrates all three layers — so each phase de-risks the next, and you see working value from Phase 1 onward.</a:t>
            </a:r>
          </a:p>
        </p:txBody>
      </p:sp>
      <p:sp>
        <p:nvSpPr>
          <p:cNvPr id="17" name="Rectangle 16"/>
          <p:cNvSpPr/>
          <p:nvPr/>
        </p:nvSpPr>
        <p:spPr>
          <a:xfrm>
            <a:off x="685800" y="6419088"/>
            <a:ext cx="10820095" cy="952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6473952"/>
            <a:ext cx="7315200" cy="274320"/>
          </a:xfrm>
          <a:prstGeom prst="rect">
            <a:avLst/>
          </a:prstGeom>
          <a:noFill/>
        </p:spPr>
        <p:txBody>
          <a:bodyPr wrap="square" anchor="t" lIns="0" rIns="0" tIns="0" bIns="0">
            <a:spAutoFit/>
          </a:bodyPr>
          <a:lstStyle/>
          <a:p>
            <a:pPr algn="l">
              <a:spcBef>
                <a:spcPts val="0"/>
              </a:spcBef>
              <a:spcAft>
                <a:spcPts val="0"/>
              </a:spcAft>
            </a:pPr>
            <a:r>
              <a:rPr sz="900" b="0" i="0">
                <a:solidFill>
                  <a:srgbClr val="A9AFB6"/>
                </a:solidFill>
                <a:latin typeface="Calibri"/>
              </a:rPr>
              <a:t>Cortex Atlas  ·  Illustrative prototype, synthetic data  ·  Confidential</a:t>
            </a:r>
          </a:p>
        </p:txBody>
      </p:sp>
      <p:sp>
        <p:nvSpPr>
          <p:cNvPr id="19" name="TextBox 18"/>
          <p:cNvSpPr txBox="1"/>
          <p:nvPr/>
        </p:nvSpPr>
        <p:spPr>
          <a:xfrm>
            <a:off x="10591495" y="6473952"/>
            <a:ext cx="914400" cy="274320"/>
          </a:xfrm>
          <a:prstGeom prst="rect">
            <a:avLst/>
          </a:prstGeom>
          <a:noFill/>
        </p:spPr>
        <p:txBody>
          <a:bodyPr wrap="square" anchor="t" lIns="0" rIns="0" tIns="0" bIns="0">
            <a:spAutoFit/>
          </a:bodyPr>
          <a:lstStyle/>
          <a:p>
            <a:pPr algn="r">
              <a:spcBef>
                <a:spcPts val="0"/>
              </a:spcBef>
              <a:spcAft>
                <a:spcPts val="0"/>
              </a:spcAft>
            </a:pPr>
            <a:r>
              <a:rPr sz="900" b="0" i="0">
                <a:solidFill>
                  <a:srgbClr val="A9AFB6"/>
                </a:solidFill>
                <a:latin typeface="Calibri"/>
              </a:rPr>
              <a:t>16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4F4"/>
        </a:solidFill>
        <a:effectLst/>
      </p:bgPr>
    </p:bg>
    <p:spTree>
      <p:nvGrpSpPr>
        <p:cNvPr id="1" name=""/>
        <p:cNvGrpSpPr/>
        <p:nvPr/>
      </p:nvGrpSpPr>
      <p:grpSpPr/>
      <p:sp>
        <p:nvSpPr>
          <p:cNvPr id="2" name="Rectangle 1"/>
          <p:cNvSpPr/>
          <p:nvPr/>
        </p:nvSpPr>
        <p:spPr>
          <a:xfrm>
            <a:off x="685800" y="566928"/>
            <a:ext cx="310896" cy="82296"/>
          </a:xfrm>
          <a:prstGeom prst="rect">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457200"/>
            <a:ext cx="10408615" cy="320040"/>
          </a:xfrm>
          <a:prstGeom prst="rect">
            <a:avLst/>
          </a:prstGeom>
          <a:noFill/>
        </p:spPr>
        <p:txBody>
          <a:bodyPr wrap="square" anchor="t" lIns="0" rIns="0" tIns="0" bIns="0">
            <a:spAutoFit/>
          </a:bodyPr>
          <a:lstStyle/>
          <a:p>
            <a:pPr algn="l">
              <a:spcBef>
                <a:spcPts val="0"/>
              </a:spcBef>
              <a:spcAft>
                <a:spcPts val="0"/>
              </a:spcAft>
            </a:pPr>
            <a:r>
              <a:rPr sz="1250" b="1" i="0">
                <a:solidFill>
                  <a:srgbClr val="F89739"/>
                </a:solidFill>
                <a:latin typeface="Calibri"/>
              </a:rPr>
              <a:t>WHY THIS APPROACH</a:t>
            </a:r>
          </a:p>
        </p:txBody>
      </p:sp>
      <p:sp>
        <p:nvSpPr>
          <p:cNvPr id="4" name="TextBox 3"/>
          <p:cNvSpPr txBox="1"/>
          <p:nvPr/>
        </p:nvSpPr>
        <p:spPr>
          <a:xfrm>
            <a:off x="685800" y="841248"/>
            <a:ext cx="10820095" cy="640080"/>
          </a:xfrm>
          <a:prstGeom prst="rect">
            <a:avLst/>
          </a:prstGeom>
          <a:noFill/>
        </p:spPr>
        <p:txBody>
          <a:bodyPr wrap="square" anchor="t" lIns="0" rIns="0" tIns="0" bIns="0">
            <a:spAutoFit/>
          </a:bodyPr>
          <a:lstStyle/>
          <a:p>
            <a:pPr algn="l">
              <a:spcBef>
                <a:spcPts val="0"/>
              </a:spcBef>
              <a:spcAft>
                <a:spcPts val="0"/>
              </a:spcAft>
            </a:pPr>
            <a:r>
              <a:rPr sz="2900" b="1" i="0">
                <a:solidFill>
                  <a:srgbClr val="09131B"/>
                </a:solidFill>
                <a:latin typeface="Calibri"/>
              </a:rPr>
              <a:t>Lower risk, faster value, proven pattern</a:t>
            </a:r>
          </a:p>
        </p:txBody>
      </p:sp>
      <p:sp>
        <p:nvSpPr>
          <p:cNvPr id="5" name="Rounded Rectangle 4"/>
          <p:cNvSpPr/>
          <p:nvPr/>
        </p:nvSpPr>
        <p:spPr>
          <a:xfrm>
            <a:off x="685800" y="1920240"/>
            <a:ext cx="5349240" cy="169164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41832" y="2194560"/>
            <a:ext cx="457200" cy="457200"/>
          </a:xfrm>
          <a:prstGeom prst="roundRect">
            <a:avLst>
              <a:gd name="adj" fmla="val 25000"/>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 y="2194560"/>
            <a:ext cx="457200" cy="457200"/>
          </a:xfrm>
          <a:prstGeom prst="rect">
            <a:avLst/>
          </a:prstGeom>
          <a:noFill/>
        </p:spPr>
        <p:txBody>
          <a:bodyPr wrap="square" anchor="ctr" lIns="0" rIns="0" tIns="0" bIns="0">
            <a:spAutoFit/>
          </a:bodyPr>
          <a:lstStyle/>
          <a:p>
            <a:pPr algn="ctr">
              <a:spcBef>
                <a:spcPts val="0"/>
              </a:spcBef>
              <a:spcAft>
                <a:spcPts val="0"/>
              </a:spcAft>
            </a:pPr>
            <a:r>
              <a:rPr sz="1400" b="1" i="0">
                <a:solidFill>
                  <a:srgbClr val="FFFFFF"/>
                </a:solidFill>
                <a:latin typeface="Calibri"/>
              </a:rPr>
              <a:t>✓</a:t>
            </a:r>
          </a:p>
        </p:txBody>
      </p:sp>
      <p:sp>
        <p:nvSpPr>
          <p:cNvPr id="8" name="TextBox 7"/>
          <p:cNvSpPr txBox="1"/>
          <p:nvPr/>
        </p:nvSpPr>
        <p:spPr>
          <a:xfrm>
            <a:off x="1600200" y="2176272"/>
            <a:ext cx="4160520" cy="1188720"/>
          </a:xfrm>
          <a:prstGeom prst="rect">
            <a:avLst/>
          </a:prstGeom>
          <a:noFill/>
        </p:spPr>
        <p:txBody>
          <a:bodyPr wrap="square" anchor="t" lIns="0" rIns="0" tIns="0" bIns="0">
            <a:spAutoFit/>
          </a:bodyPr>
          <a:lstStyle/>
          <a:p>
            <a:pPr algn="l">
              <a:spcBef>
                <a:spcPts val="0"/>
              </a:spcBef>
              <a:spcAft>
                <a:spcPts val="600"/>
              </a:spcAft>
            </a:pPr>
            <a:r>
              <a:rPr sz="1600" b="1" i="0">
                <a:solidFill>
                  <a:srgbClr val="09131B"/>
                </a:solidFill>
                <a:latin typeface="Calibri"/>
              </a:rPr>
              <a:t>Proven in the suite</a:t>
            </a:r>
          </a:p>
          <a:p>
            <a:pPr algn="l">
              <a:spcBef>
                <a:spcPts val="0"/>
              </a:spcBef>
              <a:spcAft>
                <a:spcPts val="0"/>
              </a:spcAft>
            </a:pPr>
            <a:r>
              <a:rPr sz="1250" b="0" i="0">
                <a:solidFill>
                  <a:srgbClr val="595959"/>
                </a:solidFill>
                <a:latin typeface="Calibri"/>
              </a:rPr>
              <a:t>Atlas reuses the exact design and structure as Compass, Vantage and Meridian — a pattern already delivered, not invented here.</a:t>
            </a:r>
          </a:p>
        </p:txBody>
      </p:sp>
      <p:sp>
        <p:nvSpPr>
          <p:cNvPr id="9" name="Rounded Rectangle 8"/>
          <p:cNvSpPr/>
          <p:nvPr/>
        </p:nvSpPr>
        <p:spPr>
          <a:xfrm>
            <a:off x="6309360" y="1920240"/>
            <a:ext cx="5349240" cy="169164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65392" y="2194560"/>
            <a:ext cx="457200" cy="457200"/>
          </a:xfrm>
          <a:prstGeom prst="roundRect">
            <a:avLst>
              <a:gd name="adj" fmla="val 25000"/>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65392" y="2194560"/>
            <a:ext cx="457200" cy="457200"/>
          </a:xfrm>
          <a:prstGeom prst="rect">
            <a:avLst/>
          </a:prstGeom>
          <a:noFill/>
        </p:spPr>
        <p:txBody>
          <a:bodyPr wrap="square" anchor="ctr" lIns="0" rIns="0" tIns="0" bIns="0">
            <a:spAutoFit/>
          </a:bodyPr>
          <a:lstStyle/>
          <a:p>
            <a:pPr algn="ctr">
              <a:spcBef>
                <a:spcPts val="0"/>
              </a:spcBef>
              <a:spcAft>
                <a:spcPts val="0"/>
              </a:spcAft>
            </a:pPr>
            <a:r>
              <a:rPr sz="1400" b="1" i="0">
                <a:solidFill>
                  <a:srgbClr val="FFFFFF"/>
                </a:solidFill>
                <a:latin typeface="Calibri"/>
              </a:rPr>
              <a:t>✓</a:t>
            </a:r>
          </a:p>
        </p:txBody>
      </p:sp>
      <p:sp>
        <p:nvSpPr>
          <p:cNvPr id="12" name="TextBox 11"/>
          <p:cNvSpPr txBox="1"/>
          <p:nvPr/>
        </p:nvSpPr>
        <p:spPr>
          <a:xfrm>
            <a:off x="7223760" y="2176272"/>
            <a:ext cx="4160520" cy="1188720"/>
          </a:xfrm>
          <a:prstGeom prst="rect">
            <a:avLst/>
          </a:prstGeom>
          <a:noFill/>
        </p:spPr>
        <p:txBody>
          <a:bodyPr wrap="square" anchor="t" lIns="0" rIns="0" tIns="0" bIns="0">
            <a:spAutoFit/>
          </a:bodyPr>
          <a:lstStyle/>
          <a:p>
            <a:pPr algn="l">
              <a:spcBef>
                <a:spcPts val="0"/>
              </a:spcBef>
              <a:spcAft>
                <a:spcPts val="600"/>
              </a:spcAft>
            </a:pPr>
            <a:r>
              <a:rPr sz="1600" b="1" i="0">
                <a:solidFill>
                  <a:srgbClr val="09131B"/>
                </a:solidFill>
                <a:latin typeface="Calibri"/>
              </a:rPr>
              <a:t>Your stack, orchestrated</a:t>
            </a:r>
          </a:p>
          <a:p>
            <a:pPr algn="l">
              <a:spcBef>
                <a:spcPts val="0"/>
              </a:spcBef>
              <a:spcAft>
                <a:spcPts val="0"/>
              </a:spcAft>
            </a:pPr>
            <a:r>
              <a:rPr sz="1250" b="0" i="0">
                <a:solidFill>
                  <a:srgbClr val="595959"/>
                </a:solidFill>
                <a:latin typeface="Calibri"/>
              </a:rPr>
              <a:t>Built on Microsoft tools you already own — minimal new procurement, security or training overhead.</a:t>
            </a:r>
          </a:p>
        </p:txBody>
      </p:sp>
      <p:sp>
        <p:nvSpPr>
          <p:cNvPr id="13" name="Rounded Rectangle 12"/>
          <p:cNvSpPr/>
          <p:nvPr/>
        </p:nvSpPr>
        <p:spPr>
          <a:xfrm>
            <a:off x="685800" y="3794759"/>
            <a:ext cx="5349240" cy="169164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41832" y="4069079"/>
            <a:ext cx="457200" cy="457200"/>
          </a:xfrm>
          <a:prstGeom prst="roundRect">
            <a:avLst>
              <a:gd name="adj" fmla="val 25000"/>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1832" y="4069079"/>
            <a:ext cx="457200" cy="457200"/>
          </a:xfrm>
          <a:prstGeom prst="rect">
            <a:avLst/>
          </a:prstGeom>
          <a:noFill/>
        </p:spPr>
        <p:txBody>
          <a:bodyPr wrap="square" anchor="ctr" lIns="0" rIns="0" tIns="0" bIns="0">
            <a:spAutoFit/>
          </a:bodyPr>
          <a:lstStyle/>
          <a:p>
            <a:pPr algn="ctr">
              <a:spcBef>
                <a:spcPts val="0"/>
              </a:spcBef>
              <a:spcAft>
                <a:spcPts val="0"/>
              </a:spcAft>
            </a:pPr>
            <a:r>
              <a:rPr sz="1400" b="1" i="0">
                <a:solidFill>
                  <a:srgbClr val="FFFFFF"/>
                </a:solidFill>
                <a:latin typeface="Calibri"/>
              </a:rPr>
              <a:t>✓</a:t>
            </a:r>
          </a:p>
        </p:txBody>
      </p:sp>
      <p:sp>
        <p:nvSpPr>
          <p:cNvPr id="16" name="TextBox 15"/>
          <p:cNvSpPr txBox="1"/>
          <p:nvPr/>
        </p:nvSpPr>
        <p:spPr>
          <a:xfrm>
            <a:off x="1600200" y="4050791"/>
            <a:ext cx="4160520" cy="1188720"/>
          </a:xfrm>
          <a:prstGeom prst="rect">
            <a:avLst/>
          </a:prstGeom>
          <a:noFill/>
        </p:spPr>
        <p:txBody>
          <a:bodyPr wrap="square" anchor="t" lIns="0" rIns="0" tIns="0" bIns="0">
            <a:spAutoFit/>
          </a:bodyPr>
          <a:lstStyle/>
          <a:p>
            <a:pPr algn="l">
              <a:spcBef>
                <a:spcPts val="0"/>
              </a:spcBef>
              <a:spcAft>
                <a:spcPts val="600"/>
              </a:spcAft>
            </a:pPr>
            <a:r>
              <a:rPr sz="1600" b="1" i="0">
                <a:solidFill>
                  <a:srgbClr val="09131B"/>
                </a:solidFill>
                <a:latin typeface="Calibri"/>
              </a:rPr>
              <a:t>Evaluate it today</a:t>
            </a:r>
          </a:p>
          <a:p>
            <a:pPr algn="l">
              <a:spcBef>
                <a:spcPts val="0"/>
              </a:spcBef>
              <a:spcAft>
                <a:spcPts val="0"/>
              </a:spcAft>
            </a:pPr>
            <a:r>
              <a:rPr sz="1250" b="0" i="0">
                <a:solidFill>
                  <a:srgbClr val="595959"/>
                </a:solidFill>
                <a:latin typeface="Calibri"/>
              </a:rPr>
              <a:t>A working, offline prototype means stakeholders can click through and react now — no leap of faith.</a:t>
            </a:r>
          </a:p>
        </p:txBody>
      </p:sp>
      <p:sp>
        <p:nvSpPr>
          <p:cNvPr id="17" name="Rounded Rectangle 16"/>
          <p:cNvSpPr/>
          <p:nvPr/>
        </p:nvSpPr>
        <p:spPr>
          <a:xfrm>
            <a:off x="6309360" y="3794759"/>
            <a:ext cx="5349240" cy="1691640"/>
          </a:xfrm>
          <a:prstGeom prst="roundRect">
            <a:avLst>
              <a:gd name="adj" fmla="val 6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565392" y="4069079"/>
            <a:ext cx="457200" cy="457200"/>
          </a:xfrm>
          <a:prstGeom prst="roundRect">
            <a:avLst>
              <a:gd name="adj" fmla="val 25000"/>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65392" y="4069079"/>
            <a:ext cx="457200" cy="457200"/>
          </a:xfrm>
          <a:prstGeom prst="rect">
            <a:avLst/>
          </a:prstGeom>
          <a:noFill/>
        </p:spPr>
        <p:txBody>
          <a:bodyPr wrap="square" anchor="ctr" lIns="0" rIns="0" tIns="0" bIns="0">
            <a:spAutoFit/>
          </a:bodyPr>
          <a:lstStyle/>
          <a:p>
            <a:pPr algn="ctr">
              <a:spcBef>
                <a:spcPts val="0"/>
              </a:spcBef>
              <a:spcAft>
                <a:spcPts val="0"/>
              </a:spcAft>
            </a:pPr>
            <a:r>
              <a:rPr sz="1400" b="1" i="0">
                <a:solidFill>
                  <a:srgbClr val="FFFFFF"/>
                </a:solidFill>
                <a:latin typeface="Calibri"/>
              </a:rPr>
              <a:t>✓</a:t>
            </a:r>
          </a:p>
        </p:txBody>
      </p:sp>
      <p:sp>
        <p:nvSpPr>
          <p:cNvPr id="20" name="TextBox 19"/>
          <p:cNvSpPr txBox="1"/>
          <p:nvPr/>
        </p:nvSpPr>
        <p:spPr>
          <a:xfrm>
            <a:off x="7223760" y="4050791"/>
            <a:ext cx="4160520" cy="1188720"/>
          </a:xfrm>
          <a:prstGeom prst="rect">
            <a:avLst/>
          </a:prstGeom>
          <a:noFill/>
        </p:spPr>
        <p:txBody>
          <a:bodyPr wrap="square" anchor="t" lIns="0" rIns="0" tIns="0" bIns="0">
            <a:spAutoFit/>
          </a:bodyPr>
          <a:lstStyle/>
          <a:p>
            <a:pPr algn="l">
              <a:spcBef>
                <a:spcPts val="0"/>
              </a:spcBef>
              <a:spcAft>
                <a:spcPts val="600"/>
              </a:spcAft>
            </a:pPr>
            <a:r>
              <a:rPr sz="1600" b="1" i="0">
                <a:solidFill>
                  <a:srgbClr val="09131B"/>
                </a:solidFill>
                <a:latin typeface="Calibri"/>
              </a:rPr>
              <a:t>Built to grow</a:t>
            </a:r>
          </a:p>
          <a:p>
            <a:pPr algn="l">
              <a:spcBef>
                <a:spcPts val="0"/>
              </a:spcBef>
              <a:spcAft>
                <a:spcPts val="0"/>
              </a:spcAft>
            </a:pPr>
            <a:r>
              <a:rPr sz="1250" b="0" i="0">
                <a:solidFill>
                  <a:srgbClr val="595959"/>
                </a:solidFill>
                <a:latin typeface="Calibri"/>
              </a:rPr>
              <a:t>Clean module separation means automation and intelligence bolt on without a rewrite.</a:t>
            </a:r>
          </a:p>
        </p:txBody>
      </p:sp>
      <p:sp>
        <p:nvSpPr>
          <p:cNvPr id="21" name="Rectangle 20"/>
          <p:cNvSpPr/>
          <p:nvPr/>
        </p:nvSpPr>
        <p:spPr>
          <a:xfrm>
            <a:off x="685800" y="6419088"/>
            <a:ext cx="10820095" cy="952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6473952"/>
            <a:ext cx="7315200" cy="274320"/>
          </a:xfrm>
          <a:prstGeom prst="rect">
            <a:avLst/>
          </a:prstGeom>
          <a:noFill/>
        </p:spPr>
        <p:txBody>
          <a:bodyPr wrap="square" anchor="t" lIns="0" rIns="0" tIns="0" bIns="0">
            <a:spAutoFit/>
          </a:bodyPr>
          <a:lstStyle/>
          <a:p>
            <a:pPr algn="l">
              <a:spcBef>
                <a:spcPts val="0"/>
              </a:spcBef>
              <a:spcAft>
                <a:spcPts val="0"/>
              </a:spcAft>
            </a:pPr>
            <a:r>
              <a:rPr sz="900" b="0" i="0">
                <a:solidFill>
                  <a:srgbClr val="A9AFB6"/>
                </a:solidFill>
                <a:latin typeface="Calibri"/>
              </a:rPr>
              <a:t>Cortex Atlas  ·  Illustrative prototype, synthetic data  ·  Confidential</a:t>
            </a:r>
          </a:p>
        </p:txBody>
      </p:sp>
      <p:sp>
        <p:nvSpPr>
          <p:cNvPr id="23" name="TextBox 22"/>
          <p:cNvSpPr txBox="1"/>
          <p:nvPr/>
        </p:nvSpPr>
        <p:spPr>
          <a:xfrm>
            <a:off x="10591495" y="6473952"/>
            <a:ext cx="914400" cy="274320"/>
          </a:xfrm>
          <a:prstGeom prst="rect">
            <a:avLst/>
          </a:prstGeom>
          <a:noFill/>
        </p:spPr>
        <p:txBody>
          <a:bodyPr wrap="square" anchor="t" lIns="0" rIns="0" tIns="0" bIns="0">
            <a:spAutoFit/>
          </a:bodyPr>
          <a:lstStyle/>
          <a:p>
            <a:pPr algn="r">
              <a:spcBef>
                <a:spcPts val="0"/>
              </a:spcBef>
              <a:spcAft>
                <a:spcPts val="0"/>
              </a:spcAft>
            </a:pPr>
            <a:r>
              <a:rPr sz="900" b="0" i="0">
                <a:solidFill>
                  <a:srgbClr val="A9AFB6"/>
                </a:solidFill>
                <a:latin typeface="Calibri"/>
              </a:rPr>
              <a:t>17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9131B"/>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640080"/>
            <a:ext cx="9144000" cy="365760"/>
          </a:xfrm>
          <a:prstGeom prst="rect">
            <a:avLst/>
          </a:prstGeom>
          <a:noFill/>
        </p:spPr>
        <p:txBody>
          <a:bodyPr wrap="square" anchor="t" lIns="0" rIns="0" tIns="0" bIns="0">
            <a:spAutoFit/>
          </a:bodyPr>
          <a:lstStyle/>
          <a:p>
            <a:pPr algn="l">
              <a:spcBef>
                <a:spcPts val="0"/>
              </a:spcBef>
              <a:spcAft>
                <a:spcPts val="0"/>
              </a:spcAft>
            </a:pPr>
            <a:r>
              <a:rPr sz="1300" b="1" i="0">
                <a:solidFill>
                  <a:srgbClr val="F89739"/>
                </a:solidFill>
                <a:latin typeface="Calibri"/>
              </a:rPr>
              <a:t>NEXT STEPS</a:t>
            </a:r>
          </a:p>
        </p:txBody>
      </p:sp>
      <p:sp>
        <p:nvSpPr>
          <p:cNvPr id="4" name="TextBox 3"/>
          <p:cNvSpPr txBox="1"/>
          <p:nvPr/>
        </p:nvSpPr>
        <p:spPr>
          <a:xfrm>
            <a:off x="685800" y="1005840"/>
            <a:ext cx="10789920" cy="822960"/>
          </a:xfrm>
          <a:prstGeom prst="rect">
            <a:avLst/>
          </a:prstGeom>
          <a:noFill/>
        </p:spPr>
        <p:txBody>
          <a:bodyPr wrap="square" anchor="t" lIns="0" rIns="0" tIns="0" bIns="0">
            <a:spAutoFit/>
          </a:bodyPr>
          <a:lstStyle/>
          <a:p>
            <a:pPr algn="l">
              <a:spcBef>
                <a:spcPts val="0"/>
              </a:spcBef>
              <a:spcAft>
                <a:spcPts val="0"/>
              </a:spcAft>
            </a:pPr>
            <a:r>
              <a:rPr sz="3600" b="1" i="0">
                <a:solidFill>
                  <a:srgbClr val="FFFFFF"/>
                </a:solidFill>
                <a:latin typeface="Calibri"/>
              </a:rPr>
              <a:t>How we start</a:t>
            </a:r>
          </a:p>
        </p:txBody>
      </p:sp>
      <p:sp>
        <p:nvSpPr>
          <p:cNvPr id="5" name="Rounded Rectangle 4"/>
          <p:cNvSpPr/>
          <p:nvPr/>
        </p:nvSpPr>
        <p:spPr>
          <a:xfrm>
            <a:off x="685800" y="2103120"/>
            <a:ext cx="457200" cy="457200"/>
          </a:xfrm>
          <a:prstGeom prst="roundRect">
            <a:avLst>
              <a:gd name="adj" fmla="val 25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2103120"/>
            <a:ext cx="457200" cy="457200"/>
          </a:xfrm>
          <a:prstGeom prst="rect">
            <a:avLst/>
          </a:prstGeom>
          <a:noFill/>
        </p:spPr>
        <p:txBody>
          <a:bodyPr wrap="square" anchor="ctr" lIns="0" rIns="0" tIns="0" bIns="0">
            <a:spAutoFit/>
          </a:bodyPr>
          <a:lstStyle/>
          <a:p>
            <a:pPr algn="ctr">
              <a:spcBef>
                <a:spcPts val="0"/>
              </a:spcBef>
              <a:spcAft>
                <a:spcPts val="0"/>
              </a:spcAft>
            </a:pPr>
            <a:r>
              <a:rPr sz="1400" b="1" i="0">
                <a:solidFill>
                  <a:srgbClr val="09131B"/>
                </a:solidFill>
                <a:latin typeface="Calibri"/>
              </a:rPr>
              <a:t>1</a:t>
            </a:r>
          </a:p>
        </p:txBody>
      </p:sp>
      <p:sp>
        <p:nvSpPr>
          <p:cNvPr id="7" name="TextBox 6"/>
          <p:cNvSpPr txBox="1"/>
          <p:nvPr/>
        </p:nvSpPr>
        <p:spPr>
          <a:xfrm>
            <a:off x="1417320" y="2084832"/>
            <a:ext cx="10058400" cy="868680"/>
          </a:xfrm>
          <a:prstGeom prst="rect">
            <a:avLst/>
          </a:prstGeom>
          <a:noFill/>
        </p:spPr>
        <p:txBody>
          <a:bodyPr wrap="square" anchor="t" lIns="0" rIns="0" tIns="0" bIns="0">
            <a:spAutoFit/>
          </a:bodyPr>
          <a:lstStyle/>
          <a:p>
            <a:pPr algn="l">
              <a:spcBef>
                <a:spcPts val="0"/>
              </a:spcBef>
              <a:spcAft>
                <a:spcPts val="200"/>
              </a:spcAft>
            </a:pPr>
            <a:r>
              <a:rPr sz="1700" b="1" i="0">
                <a:solidFill>
                  <a:srgbClr val="FFFFFF"/>
                </a:solidFill>
                <a:latin typeface="Calibri"/>
              </a:rPr>
              <a:t>Walk the prototype live</a:t>
            </a:r>
          </a:p>
          <a:p>
            <a:pPr algn="l">
              <a:spcBef>
                <a:spcPts val="0"/>
              </a:spcBef>
              <a:spcAft>
                <a:spcPts val="0"/>
              </a:spcAft>
            </a:pPr>
            <a:r>
              <a:rPr sz="1250" b="0" i="0">
                <a:solidFill>
                  <a:srgbClr val="C7CCD3"/>
                </a:solidFill>
                <a:latin typeface="Calibri"/>
              </a:rPr>
              <a:t>A hands-on session with your CI and procurement leads — react to the real thing.</a:t>
            </a:r>
          </a:p>
        </p:txBody>
      </p:sp>
      <p:sp>
        <p:nvSpPr>
          <p:cNvPr id="8" name="Rounded Rectangle 7"/>
          <p:cNvSpPr/>
          <p:nvPr/>
        </p:nvSpPr>
        <p:spPr>
          <a:xfrm>
            <a:off x="685800" y="3035808"/>
            <a:ext cx="457200" cy="457200"/>
          </a:xfrm>
          <a:prstGeom prst="roundRect">
            <a:avLst>
              <a:gd name="adj" fmla="val 25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3035808"/>
            <a:ext cx="457200" cy="457200"/>
          </a:xfrm>
          <a:prstGeom prst="rect">
            <a:avLst/>
          </a:prstGeom>
          <a:noFill/>
        </p:spPr>
        <p:txBody>
          <a:bodyPr wrap="square" anchor="ctr" lIns="0" rIns="0" tIns="0" bIns="0">
            <a:spAutoFit/>
          </a:bodyPr>
          <a:lstStyle/>
          <a:p>
            <a:pPr algn="ctr">
              <a:spcBef>
                <a:spcPts val="0"/>
              </a:spcBef>
              <a:spcAft>
                <a:spcPts val="0"/>
              </a:spcAft>
            </a:pPr>
            <a:r>
              <a:rPr sz="1400" b="1" i="0">
                <a:solidFill>
                  <a:srgbClr val="09131B"/>
                </a:solidFill>
                <a:latin typeface="Calibri"/>
              </a:rPr>
              <a:t>2</a:t>
            </a:r>
          </a:p>
        </p:txBody>
      </p:sp>
      <p:sp>
        <p:nvSpPr>
          <p:cNvPr id="10" name="TextBox 9"/>
          <p:cNvSpPr txBox="1"/>
          <p:nvPr/>
        </p:nvSpPr>
        <p:spPr>
          <a:xfrm>
            <a:off x="1417320" y="3017520"/>
            <a:ext cx="10058400" cy="868680"/>
          </a:xfrm>
          <a:prstGeom prst="rect">
            <a:avLst/>
          </a:prstGeom>
          <a:noFill/>
        </p:spPr>
        <p:txBody>
          <a:bodyPr wrap="square" anchor="t" lIns="0" rIns="0" tIns="0" bIns="0">
            <a:spAutoFit/>
          </a:bodyPr>
          <a:lstStyle/>
          <a:p>
            <a:pPr algn="l">
              <a:spcBef>
                <a:spcPts val="0"/>
              </a:spcBef>
              <a:spcAft>
                <a:spcPts val="200"/>
              </a:spcAft>
            </a:pPr>
            <a:r>
              <a:rPr sz="1700" b="1" i="0">
                <a:solidFill>
                  <a:srgbClr val="FFFFFF"/>
                </a:solidFill>
                <a:latin typeface="Calibri"/>
              </a:rPr>
              <a:t>Baseline data audit</a:t>
            </a:r>
          </a:p>
          <a:p>
            <a:pPr algn="l">
              <a:spcBef>
                <a:spcPts val="0"/>
              </a:spcBef>
              <a:spcAft>
                <a:spcPts val="0"/>
              </a:spcAft>
            </a:pPr>
            <a:r>
              <a:rPr sz="1250" b="0" i="0">
                <a:solidFill>
                  <a:srgbClr val="C7CCD3"/>
                </a:solidFill>
                <a:latin typeface="Calibri"/>
              </a:rPr>
              <a:t>Point Atlas at your real estate to quantify duplication, renewal risk and concentration — the disclaimer becomes real numbers.</a:t>
            </a:r>
          </a:p>
        </p:txBody>
      </p:sp>
      <p:sp>
        <p:nvSpPr>
          <p:cNvPr id="11" name="Rounded Rectangle 10"/>
          <p:cNvSpPr/>
          <p:nvPr/>
        </p:nvSpPr>
        <p:spPr>
          <a:xfrm>
            <a:off x="685800" y="3968496"/>
            <a:ext cx="457200" cy="457200"/>
          </a:xfrm>
          <a:prstGeom prst="roundRect">
            <a:avLst>
              <a:gd name="adj" fmla="val 25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968496"/>
            <a:ext cx="457200" cy="457200"/>
          </a:xfrm>
          <a:prstGeom prst="rect">
            <a:avLst/>
          </a:prstGeom>
          <a:noFill/>
        </p:spPr>
        <p:txBody>
          <a:bodyPr wrap="square" anchor="ctr" lIns="0" rIns="0" tIns="0" bIns="0">
            <a:spAutoFit/>
          </a:bodyPr>
          <a:lstStyle/>
          <a:p>
            <a:pPr algn="ctr">
              <a:spcBef>
                <a:spcPts val="0"/>
              </a:spcBef>
              <a:spcAft>
                <a:spcPts val="0"/>
              </a:spcAft>
            </a:pPr>
            <a:r>
              <a:rPr sz="1400" b="1" i="0">
                <a:solidFill>
                  <a:srgbClr val="09131B"/>
                </a:solidFill>
                <a:latin typeface="Calibri"/>
              </a:rPr>
              <a:t>3</a:t>
            </a:r>
          </a:p>
        </p:txBody>
      </p:sp>
      <p:sp>
        <p:nvSpPr>
          <p:cNvPr id="13" name="TextBox 12"/>
          <p:cNvSpPr txBox="1"/>
          <p:nvPr/>
        </p:nvSpPr>
        <p:spPr>
          <a:xfrm>
            <a:off x="1417320" y="3950208"/>
            <a:ext cx="10058400" cy="868680"/>
          </a:xfrm>
          <a:prstGeom prst="rect">
            <a:avLst/>
          </a:prstGeom>
          <a:noFill/>
        </p:spPr>
        <p:txBody>
          <a:bodyPr wrap="square" anchor="t" lIns="0" rIns="0" tIns="0" bIns="0">
            <a:spAutoFit/>
          </a:bodyPr>
          <a:lstStyle/>
          <a:p>
            <a:pPr algn="l">
              <a:spcBef>
                <a:spcPts val="0"/>
              </a:spcBef>
              <a:spcAft>
                <a:spcPts val="200"/>
              </a:spcAft>
            </a:pPr>
            <a:r>
              <a:rPr sz="1700" b="1" i="0">
                <a:solidFill>
                  <a:srgbClr val="FFFFFF"/>
                </a:solidFill>
                <a:latin typeface="Calibri"/>
              </a:rPr>
              <a:t>Confirm scope &amp; architecture</a:t>
            </a:r>
          </a:p>
          <a:p>
            <a:pPr algn="l">
              <a:spcBef>
                <a:spcPts val="0"/>
              </a:spcBef>
              <a:spcAft>
                <a:spcPts val="0"/>
              </a:spcAft>
            </a:pPr>
            <a:r>
              <a:rPr sz="1250" b="0" i="0">
                <a:solidFill>
                  <a:srgbClr val="C7CCD3"/>
                </a:solidFill>
                <a:latin typeface="Calibri"/>
              </a:rPr>
              <a:t>Agree Phase 1 boundaries and the SharePoint / Power Automate / Purview target with your IT team.</a:t>
            </a:r>
          </a:p>
        </p:txBody>
      </p:sp>
      <p:sp>
        <p:nvSpPr>
          <p:cNvPr id="14" name="Rounded Rectangle 13"/>
          <p:cNvSpPr/>
          <p:nvPr/>
        </p:nvSpPr>
        <p:spPr>
          <a:xfrm>
            <a:off x="685800" y="4901184"/>
            <a:ext cx="457200" cy="457200"/>
          </a:xfrm>
          <a:prstGeom prst="roundRect">
            <a:avLst>
              <a:gd name="adj" fmla="val 25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901184"/>
            <a:ext cx="457200" cy="457200"/>
          </a:xfrm>
          <a:prstGeom prst="rect">
            <a:avLst/>
          </a:prstGeom>
          <a:noFill/>
        </p:spPr>
        <p:txBody>
          <a:bodyPr wrap="square" anchor="ctr" lIns="0" rIns="0" tIns="0" bIns="0">
            <a:spAutoFit/>
          </a:bodyPr>
          <a:lstStyle/>
          <a:p>
            <a:pPr algn="ctr">
              <a:spcBef>
                <a:spcPts val="0"/>
              </a:spcBef>
              <a:spcAft>
                <a:spcPts val="0"/>
              </a:spcAft>
            </a:pPr>
            <a:r>
              <a:rPr sz="1400" b="1" i="0">
                <a:solidFill>
                  <a:srgbClr val="09131B"/>
                </a:solidFill>
                <a:latin typeface="Calibri"/>
              </a:rPr>
              <a:t>4</a:t>
            </a:r>
          </a:p>
        </p:txBody>
      </p:sp>
      <p:sp>
        <p:nvSpPr>
          <p:cNvPr id="16" name="TextBox 15"/>
          <p:cNvSpPr txBox="1"/>
          <p:nvPr/>
        </p:nvSpPr>
        <p:spPr>
          <a:xfrm>
            <a:off x="1417320" y="4882896"/>
            <a:ext cx="10058400" cy="868680"/>
          </a:xfrm>
          <a:prstGeom prst="rect">
            <a:avLst/>
          </a:prstGeom>
          <a:noFill/>
        </p:spPr>
        <p:txBody>
          <a:bodyPr wrap="square" anchor="t" lIns="0" rIns="0" tIns="0" bIns="0">
            <a:spAutoFit/>
          </a:bodyPr>
          <a:lstStyle/>
          <a:p>
            <a:pPr algn="l">
              <a:spcBef>
                <a:spcPts val="0"/>
              </a:spcBef>
              <a:spcAft>
                <a:spcPts val="200"/>
              </a:spcAft>
            </a:pPr>
            <a:r>
              <a:rPr sz="1700" b="1" i="0">
                <a:solidFill>
                  <a:srgbClr val="FFFFFF"/>
                </a:solidFill>
                <a:latin typeface="Calibri"/>
              </a:rPr>
              <a:t>Stand up Phase 1</a:t>
            </a:r>
          </a:p>
          <a:p>
            <a:pPr algn="l">
              <a:spcBef>
                <a:spcPts val="0"/>
              </a:spcBef>
              <a:spcAft>
                <a:spcPts val="0"/>
              </a:spcAft>
            </a:pPr>
            <a:r>
              <a:rPr sz="1250" b="0" i="0">
                <a:solidFill>
                  <a:srgbClr val="C7CCD3"/>
                </a:solidFill>
                <a:latin typeface="Calibri"/>
              </a:rPr>
              <a:t>Migrate the connected five-tool foundation — value from day one.</a:t>
            </a:r>
          </a:p>
        </p:txBody>
      </p:sp>
      <p:sp>
        <p:nvSpPr>
          <p:cNvPr id="17" name="TextBox 16"/>
          <p:cNvSpPr txBox="1"/>
          <p:nvPr/>
        </p:nvSpPr>
        <p:spPr>
          <a:xfrm>
            <a:off x="685800" y="6126480"/>
            <a:ext cx="10789920" cy="457200"/>
          </a:xfrm>
          <a:prstGeom prst="rect">
            <a:avLst/>
          </a:prstGeom>
          <a:noFill/>
        </p:spPr>
        <p:txBody>
          <a:bodyPr wrap="square" anchor="t" lIns="0" rIns="0" tIns="0" bIns="0">
            <a:spAutoFit/>
          </a:bodyPr>
          <a:lstStyle/>
          <a:p>
            <a:pPr algn="l">
              <a:spcBef>
                <a:spcPts val="0"/>
              </a:spcBef>
              <a:spcAft>
                <a:spcPts val="0"/>
              </a:spcAft>
            </a:pPr>
            <a:r>
              <a:rPr sz="1500" b="1" i="0">
                <a:solidFill>
                  <a:srgbClr val="F89739"/>
                </a:solidFill>
                <a:latin typeface="Calibri"/>
              </a:rPr>
              <a:t>Thank you.  Let's open the prototype.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4F4F4"/>
        </a:solidFill>
        <a:effectLst/>
      </p:bgPr>
    </p:bg>
    <p:spTree>
      <p:nvGrpSpPr>
        <p:cNvPr id="1" name=""/>
        <p:cNvGrpSpPr/>
        <p:nvPr/>
      </p:nvGrpSpPr>
      <p:grpSpPr/>
      <p:sp>
        <p:nvSpPr>
          <p:cNvPr id="2" name="Rectangle 1"/>
          <p:cNvSpPr/>
          <p:nvPr/>
        </p:nvSpPr>
        <p:spPr>
          <a:xfrm>
            <a:off x="685800" y="566928"/>
            <a:ext cx="310896" cy="82296"/>
          </a:xfrm>
          <a:prstGeom prst="rect">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457200"/>
            <a:ext cx="10408615" cy="320040"/>
          </a:xfrm>
          <a:prstGeom prst="rect">
            <a:avLst/>
          </a:prstGeom>
          <a:noFill/>
        </p:spPr>
        <p:txBody>
          <a:bodyPr wrap="square" anchor="t" lIns="0" rIns="0" tIns="0" bIns="0">
            <a:spAutoFit/>
          </a:bodyPr>
          <a:lstStyle/>
          <a:p>
            <a:pPr algn="l">
              <a:spcBef>
                <a:spcPts val="0"/>
              </a:spcBef>
              <a:spcAft>
                <a:spcPts val="0"/>
              </a:spcAft>
            </a:pPr>
            <a:r>
              <a:rPr sz="1250" b="1" i="0">
                <a:solidFill>
                  <a:srgbClr val="F89739"/>
                </a:solidFill>
                <a:latin typeface="Calibri"/>
              </a:rPr>
              <a:t>APPENDIX</a:t>
            </a:r>
          </a:p>
        </p:txBody>
      </p:sp>
      <p:sp>
        <p:nvSpPr>
          <p:cNvPr id="4" name="TextBox 3"/>
          <p:cNvSpPr txBox="1"/>
          <p:nvPr/>
        </p:nvSpPr>
        <p:spPr>
          <a:xfrm>
            <a:off x="685800" y="841248"/>
            <a:ext cx="10820095" cy="640080"/>
          </a:xfrm>
          <a:prstGeom prst="rect">
            <a:avLst/>
          </a:prstGeom>
          <a:noFill/>
        </p:spPr>
        <p:txBody>
          <a:bodyPr wrap="square" anchor="t" lIns="0" rIns="0" tIns="0" bIns="0">
            <a:spAutoFit/>
          </a:bodyPr>
          <a:lstStyle/>
          <a:p>
            <a:pPr algn="l">
              <a:spcBef>
                <a:spcPts val="0"/>
              </a:spcBef>
              <a:spcAft>
                <a:spcPts val="0"/>
              </a:spcAft>
            </a:pPr>
            <a:r>
              <a:rPr sz="2900" b="1" i="0">
                <a:solidFill>
                  <a:srgbClr val="09131B"/>
                </a:solidFill>
                <a:latin typeface="Calibri"/>
              </a:rPr>
              <a:t>Notes, scope and disclaimer</a:t>
            </a:r>
          </a:p>
        </p:txBody>
      </p:sp>
      <p:sp>
        <p:nvSpPr>
          <p:cNvPr id="5" name="TextBox 4"/>
          <p:cNvSpPr txBox="1"/>
          <p:nvPr/>
        </p:nvSpPr>
        <p:spPr>
          <a:xfrm>
            <a:off x="685800" y="1828800"/>
            <a:ext cx="10820095" cy="4114800"/>
          </a:xfrm>
          <a:prstGeom prst="rect">
            <a:avLst/>
          </a:prstGeom>
          <a:noFill/>
        </p:spPr>
        <p:txBody>
          <a:bodyPr wrap="square" anchor="t" lIns="0" rIns="0" tIns="0" bIns="0">
            <a:spAutoFit/>
          </a:bodyPr>
          <a:lstStyle/>
          <a:p>
            <a:pPr algn="l">
              <a:spcBef>
                <a:spcPts val="0"/>
              </a:spcBef>
              <a:spcAft>
                <a:spcPts val="600"/>
              </a:spcAft>
            </a:pPr>
            <a:r>
              <a:rPr sz="1400" b="1" i="0">
                <a:solidFill>
                  <a:srgbClr val="09131B"/>
                </a:solidFill>
                <a:latin typeface="Calibri"/>
              </a:rPr>
              <a:t>On the data</a:t>
            </a:r>
          </a:p>
          <a:p>
            <a:pPr algn="l">
              <a:spcBef>
                <a:spcPts val="0"/>
              </a:spcBef>
              <a:spcAft>
                <a:spcPts val="1200"/>
              </a:spcAft>
            </a:pPr>
            <a:r>
              <a:rPr sz="1250" b="0" i="0">
                <a:solidFill>
                  <a:srgbClr val="595959"/>
                </a:solidFill>
                <a:latin typeface="Calibri"/>
              </a:rPr>
              <a:t>All figures, companies, brands and vendors in this prototype and deck are synthetic and illustrative (NovaCura Pharmaceuticals; brands OncoNova, Immunexa, CardioZen, Neurovia, RareGene; invented vendors such as Helix Health Data and Cardinal Claims Co). Public vendor names (Veeva, IQVIA, Databricks, Model N, SAP, SharePoint, Microsoft Purview) appear only as integration labels.</a:t>
            </a:r>
          </a:p>
          <a:p>
            <a:pPr algn="l">
              <a:spcBef>
                <a:spcPts val="0"/>
              </a:spcBef>
              <a:spcAft>
                <a:spcPts val="600"/>
              </a:spcAft>
            </a:pPr>
            <a:r>
              <a:rPr sz="1400" b="1" i="0">
                <a:solidFill>
                  <a:srgbClr val="09131B"/>
                </a:solidFill>
                <a:latin typeface="Calibri"/>
              </a:rPr>
              <a:t>On the figures</a:t>
            </a:r>
          </a:p>
          <a:p>
            <a:pPr algn="l">
              <a:spcBef>
                <a:spcPts val="0"/>
              </a:spcBef>
              <a:spcAft>
                <a:spcPts val="1200"/>
              </a:spcAft>
            </a:pPr>
            <a:r>
              <a:rPr sz="1250" b="0" i="0">
                <a:solidFill>
                  <a:srgbClr val="595959"/>
                </a:solidFill>
                <a:latin typeface="Calibri"/>
              </a:rPr>
              <a:t>Numbers shown — spend, HHI, expiry counts, duplicate exposure — are directional and exist to demonstrate the mechanics. A client baseline audit is required before any figure is used externally or for decisions.</a:t>
            </a:r>
          </a:p>
          <a:p>
            <a:pPr algn="l">
              <a:spcBef>
                <a:spcPts val="0"/>
              </a:spcBef>
              <a:spcAft>
                <a:spcPts val="600"/>
              </a:spcAft>
            </a:pPr>
            <a:r>
              <a:rPr sz="1400" b="1" i="0">
                <a:solidFill>
                  <a:srgbClr val="09131B"/>
                </a:solidFill>
                <a:latin typeface="Calibri"/>
              </a:rPr>
              <a:t>On the intelligence</a:t>
            </a:r>
          </a:p>
          <a:p>
            <a:pPr algn="l">
              <a:spcBef>
                <a:spcPts val="0"/>
              </a:spcBef>
              <a:spcAft>
                <a:spcPts val="0"/>
              </a:spcAft>
            </a:pPr>
            <a:r>
              <a:rPr sz="1250" b="0" i="0">
                <a:solidFill>
                  <a:srgbClr val="595959"/>
                </a:solidFill>
                <a:latin typeface="Calibri"/>
              </a:rPr>
              <a:t>Every AI and analytics output in Atlas is advisory only, carries a confidence read, and requires human approval. There are no autonomous decisions or actions.</a:t>
            </a:r>
          </a:p>
        </p:txBody>
      </p:sp>
      <p:sp>
        <p:nvSpPr>
          <p:cNvPr id="6" name="Rectangle 5"/>
          <p:cNvSpPr/>
          <p:nvPr/>
        </p:nvSpPr>
        <p:spPr>
          <a:xfrm>
            <a:off x="685800" y="6419088"/>
            <a:ext cx="10820095" cy="952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473952"/>
            <a:ext cx="7315200" cy="274320"/>
          </a:xfrm>
          <a:prstGeom prst="rect">
            <a:avLst/>
          </a:prstGeom>
          <a:noFill/>
        </p:spPr>
        <p:txBody>
          <a:bodyPr wrap="square" anchor="t" lIns="0" rIns="0" tIns="0" bIns="0">
            <a:spAutoFit/>
          </a:bodyPr>
          <a:lstStyle/>
          <a:p>
            <a:pPr algn="l">
              <a:spcBef>
                <a:spcPts val="0"/>
              </a:spcBef>
              <a:spcAft>
                <a:spcPts val="0"/>
              </a:spcAft>
            </a:pPr>
            <a:r>
              <a:rPr sz="900" b="0" i="0">
                <a:solidFill>
                  <a:srgbClr val="A9AFB6"/>
                </a:solidFill>
                <a:latin typeface="Calibri"/>
              </a:rPr>
              <a:t>Cortex Atlas  ·  Illustrative prototype, synthetic data  ·  Confidential</a:t>
            </a:r>
          </a:p>
        </p:txBody>
      </p:sp>
      <p:sp>
        <p:nvSpPr>
          <p:cNvPr id="8" name="TextBox 7"/>
          <p:cNvSpPr txBox="1"/>
          <p:nvPr/>
        </p:nvSpPr>
        <p:spPr>
          <a:xfrm>
            <a:off x="10591495" y="6473952"/>
            <a:ext cx="914400" cy="274320"/>
          </a:xfrm>
          <a:prstGeom prst="rect">
            <a:avLst/>
          </a:prstGeom>
          <a:noFill/>
        </p:spPr>
        <p:txBody>
          <a:bodyPr wrap="square" anchor="t" lIns="0" rIns="0" tIns="0" bIns="0">
            <a:spAutoFit/>
          </a:bodyPr>
          <a:lstStyle/>
          <a:p>
            <a:pPr algn="r">
              <a:spcBef>
                <a:spcPts val="0"/>
              </a:spcBef>
              <a:spcAft>
                <a:spcPts val="0"/>
              </a:spcAft>
            </a:pPr>
            <a:r>
              <a:rPr sz="900" b="0" i="0">
                <a:solidFill>
                  <a:srgbClr val="A9AFB6"/>
                </a:solidFill>
                <a:latin typeface="Calibri"/>
              </a:rPr>
              <a:t>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