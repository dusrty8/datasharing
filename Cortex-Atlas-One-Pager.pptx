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1417320"/>
          </a:xfrm>
          <a:prstGeom prst="rect">
            <a:avLst/>
          </a:prstGeom>
          <a:solidFill>
            <a:srgbClr val="0913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772400" cy="109728"/>
          </a:xfrm>
          <a:prstGeom prst="rect">
            <a:avLst/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92608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Cortex Atlas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C7CCD3"/>
                </a:solidFill>
                <a:latin typeface="Calibri"/>
              </a:rPr>
              <a:t>Commercial data governance, connected.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329184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0E1A22"/>
          </a:solidFill>
          <a:ln w="12700">
            <a:solidFill>
              <a:srgbClr val="2A3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0" y="329184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EXECUTIVE ONE-PAGER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8229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9AFB6"/>
                </a:solidFill>
                <a:latin typeface="Calibri"/>
              </a:rPr>
              <a:t>For Commercial Insights &amp;</a:t>
            </a:r>
            <a:br/>
            <a:r>
              <a:rPr sz="900" b="0">
                <a:solidFill>
                  <a:srgbClr val="A9AFB6"/>
                </a:solidFill>
                <a:latin typeface="Calibri"/>
              </a:rPr>
              <a:t>Data Procurement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201168" cy="64008"/>
          </a:xfrm>
          <a:prstGeom prst="rect">
            <a:avLst/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591056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89739"/>
                </a:solidFill>
                <a:latin typeface="Calibri"/>
              </a:rPr>
              <a:t>THE CHALLENGE &amp; THE IDEA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6858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0">
                <a:solidFill>
                  <a:srgbClr val="595959"/>
                </a:solidFill>
                <a:latin typeface="Calibri"/>
              </a:rPr>
              <a:t>Five tools — requests, catalogue, KPIs, vendors, agreements — run today as disconnected SharePoint forms. Cortex Atlas connects them into one estate: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31136"/>
            <a:ext cx="6858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9131B"/>
                </a:solidFill>
                <a:latin typeface="Calibri"/>
              </a:rPr>
              <a:t>"One asset, five tools" — a request becomes a catalogued asset, measured by KPIs, supplied by a vendor, governed by an agreement, every link clickable.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87752"/>
            <a:ext cx="12984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679192"/>
            <a:ext cx="1078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89739"/>
                </a:solidFill>
                <a:latin typeface="Calibri"/>
              </a:rPr>
              <a:t>DPRH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9131B"/>
                </a:solidFill>
                <a:latin typeface="Calibri"/>
              </a:rPr>
              <a:t>Data Requests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46504" y="2770632"/>
            <a:ext cx="109728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9739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47088" y="2587752"/>
            <a:ext cx="12984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956816" y="2679192"/>
            <a:ext cx="1078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89739"/>
                </a:solidFill>
                <a:latin typeface="Calibri"/>
              </a:rPr>
              <a:t>ASSET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9131B"/>
                </a:solidFill>
                <a:latin typeface="Calibri"/>
              </a:rPr>
              <a:t>Data Catalogue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2770632"/>
            <a:ext cx="109728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9739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36976" y="2587752"/>
            <a:ext cx="12984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46704" y="2679192"/>
            <a:ext cx="1078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89739"/>
                </a:solidFill>
                <a:latin typeface="Calibri"/>
              </a:rPr>
              <a:t>METRIC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9131B"/>
                </a:solidFill>
                <a:latin typeface="Calibri"/>
              </a:rPr>
              <a:t>KPI Catalogue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770632"/>
            <a:ext cx="109728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9739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26864" y="2587752"/>
            <a:ext cx="12984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36592" y="2679192"/>
            <a:ext cx="1078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89739"/>
                </a:solidFill>
                <a:latin typeface="Calibri"/>
              </a:rPr>
              <a:t>VENDOR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9131B"/>
                </a:solidFill>
                <a:latin typeface="Calibri"/>
              </a:rPr>
              <a:t>Vendor Hub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16168" y="2770632"/>
            <a:ext cx="109728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89739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16752" y="2587752"/>
            <a:ext cx="12984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0" y="2679192"/>
            <a:ext cx="10789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F89739"/>
                </a:solidFill>
                <a:latin typeface="Calibri"/>
              </a:rPr>
              <a:t>TPA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9131B"/>
                </a:solidFill>
                <a:latin typeface="Calibri"/>
              </a:rPr>
              <a:t>TPA Hub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794760"/>
            <a:ext cx="33375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397764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89739"/>
                </a:solidFill>
                <a:latin typeface="Calibri"/>
              </a:rPr>
              <a:t>WHAT IT DOES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4270248"/>
            <a:ext cx="29352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Data Requests  </a:t>
            </a:r>
            <a:r>
              <a:rPr sz="950">
                <a:solidFill>
                  <a:srgbClr val="595959"/>
                </a:solidFill>
                <a:latin typeface="Calibri"/>
              </a:rPr>
              <a:t>status-driven, role-gated form; duplicate-buy detection (AI) at intake.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Data Catalogue  </a:t>
            </a:r>
            <a:r>
              <a:rPr sz="950">
                <a:solidFill>
                  <a:srgbClr val="595959"/>
                </a:solidFill>
                <a:latin typeface="Calibri"/>
              </a:rPr>
              <a:t>system of record; auto PII/PHI classification; quality flags.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KPI Catalogue  </a:t>
            </a:r>
            <a:r>
              <a:rPr sz="950">
                <a:solidFill>
                  <a:srgbClr val="595959"/>
                </a:solidFill>
                <a:latin typeface="Calibri"/>
              </a:rPr>
              <a:t>every metric with lineage back to its source asset.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Vendor Hub  </a:t>
            </a:r>
            <a:r>
              <a:rPr sz="950">
                <a:solidFill>
                  <a:srgbClr val="595959"/>
                </a:solidFill>
                <a:latin typeface="Calibri"/>
              </a:rPr>
              <a:t>what each vendor holds, purchased vs available.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TPA Hub  </a:t>
            </a:r>
            <a:r>
              <a:rPr sz="950">
                <a:solidFill>
                  <a:srgbClr val="595959"/>
                </a:solidFill>
                <a:latin typeface="Calibri"/>
              </a:rPr>
              <a:t>agreement register with a live 30/60/90 reminder engine.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8076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89739"/>
                </a:solidFill>
                <a:latin typeface="Calibri"/>
              </a:rPr>
              <a:t>THREE LAYERS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73368"/>
            <a:ext cx="293522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Estate  </a:t>
            </a:r>
            <a:r>
              <a:rPr sz="950">
                <a:solidFill>
                  <a:srgbClr val="595959"/>
                </a:solidFill>
                <a:latin typeface="Calibri"/>
              </a:rPr>
              <a:t>the five tools, faithful to how they work today.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Automation  </a:t>
            </a:r>
            <a:r>
              <a:rPr sz="950">
                <a:solidFill>
                  <a:srgbClr val="595959"/>
                </a:solidFill>
                <a:latin typeface="Calibri"/>
              </a:rPr>
              <a:t>reminders, request↔catalogue sync, classification.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Intelligence  </a:t>
            </a:r>
            <a:r>
              <a:rPr sz="950">
                <a:solidFill>
                  <a:srgbClr val="595959"/>
                </a:solidFill>
                <a:latin typeface="Calibri"/>
              </a:rPr>
              <a:t>cross-tool signals, vendor value, dashboards &amp; Ask Atlas (AI).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977640" y="3794760"/>
            <a:ext cx="3337560" cy="39776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78808" y="397764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E7F4F"/>
                </a:solidFill>
                <a:latin typeface="Calibri"/>
              </a:rPr>
              <a:t>WHY IT MATTERS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8808" y="4270248"/>
            <a:ext cx="293522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Stop duplicate spend  </a:t>
            </a:r>
            <a:r>
              <a:rPr sz="950">
                <a:solidFill>
                  <a:srgbClr val="595959"/>
                </a:solidFill>
                <a:latin typeface="Calibri"/>
              </a:rPr>
              <a:t>overlap caught before money is committed.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Never miss a renewal  </a:t>
            </a:r>
            <a:r>
              <a:rPr sz="950">
                <a:solidFill>
                  <a:srgbClr val="595959"/>
                </a:solidFill>
                <a:latin typeface="Calibri"/>
              </a:rPr>
              <a:t>automated, impact-aware expiry warnings.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Negotiate from strength  </a:t>
            </a:r>
            <a:r>
              <a:rPr sz="950">
                <a:solidFill>
                  <a:srgbClr val="595959"/>
                </a:solidFill>
                <a:latin typeface="Calibri"/>
              </a:rPr>
              <a:t>vendor value &amp; concentration analytics.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Audit-ready by default  </a:t>
            </a:r>
            <a:r>
              <a:rPr sz="950">
                <a:solidFill>
                  <a:srgbClr val="595959"/>
                </a:solidFill>
                <a:latin typeface="Calibri"/>
              </a:rPr>
              <a:t>automatic classification and full lineage.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Decide with confidence  </a:t>
            </a:r>
            <a:r>
              <a:rPr sz="950">
                <a:solidFill>
                  <a:srgbClr val="595959"/>
                </a:solidFill>
                <a:latin typeface="Calibri"/>
              </a:rPr>
              <a:t>one source of truth + plain-English ask.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78808" y="6080760"/>
            <a:ext cx="2935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89739"/>
                </a:solidFill>
                <a:latin typeface="Calibri"/>
              </a:rPr>
              <a:t>WHAT THE PROTOTYPE SURFACES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78808" y="6373368"/>
            <a:ext cx="293522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~$1.09M  </a:t>
            </a:r>
            <a:r>
              <a:rPr sz="950">
                <a:solidFill>
                  <a:srgbClr val="595959"/>
                </a:solidFill>
                <a:latin typeface="Calibri"/>
              </a:rPr>
              <a:t>of duplicate-buy exposure flagged at intake.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6 agreements  </a:t>
            </a:r>
            <a:r>
              <a:rPr sz="950">
                <a:solidFill>
                  <a:srgbClr val="595959"/>
                </a:solidFill>
                <a:latin typeface="Calibri"/>
              </a:rPr>
              <a:t>expire within 90 days (3 within 30).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HHI ~1,825  </a:t>
            </a:r>
            <a:r>
              <a:rPr sz="950">
                <a:solidFill>
                  <a:srgbClr val="595959"/>
                </a:solidFill>
                <a:latin typeface="Calibri"/>
              </a:rPr>
              <a:t>top two vendors hold ~50% of spend.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89739"/>
                </a:solidFill>
                <a:latin typeface="Calibri"/>
              </a:rPr>
              <a:t>— </a:t>
            </a:r>
            <a:r>
              <a:rPr sz="950" b="1">
                <a:solidFill>
                  <a:srgbClr val="09131B"/>
                </a:solidFill>
                <a:latin typeface="Calibri"/>
              </a:rPr>
              <a:t>1 Bronze asset  </a:t>
            </a:r>
            <a:r>
              <a:rPr sz="950">
                <a:solidFill>
                  <a:srgbClr val="595959"/>
                </a:solidFill>
                <a:latin typeface="Calibri"/>
              </a:rPr>
              <a:t>feeding a Global, strategic KPI.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8019288"/>
            <a:ext cx="201168" cy="64008"/>
          </a:xfrm>
          <a:prstGeom prst="rect">
            <a:avLst/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7964424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89739"/>
                </a:solidFill>
                <a:latin typeface="Calibri"/>
              </a:rPr>
              <a:t>NEXT STEPS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8330184"/>
            <a:ext cx="162763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85216" y="8513064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8513064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9131B"/>
                </a:solidFill>
                <a:latin typeface="Calibri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" y="8421624"/>
            <a:ext cx="107899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9131B"/>
                </a:solidFill>
                <a:latin typeface="Calibri"/>
              </a:rPr>
              <a:t>Walk the prototype live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139696" y="8330184"/>
            <a:ext cx="162763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2267712" y="8513064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267712" y="8513064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9131B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33472" y="8421624"/>
            <a:ext cx="107899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9131B"/>
                </a:solidFill>
                <a:latin typeface="Calibri"/>
              </a:rPr>
              <a:t>Baseline data audit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822192" y="8330184"/>
            <a:ext cx="162763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3950208" y="8513064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50208" y="8513064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9131B"/>
                </a:solidFill>
                <a:latin typeface="Calibr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15968" y="8421624"/>
            <a:ext cx="107899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9131B"/>
                </a:solidFill>
                <a:latin typeface="Calibri"/>
              </a:rPr>
              <a:t>Confirm scope &amp; architecture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04688" y="8330184"/>
            <a:ext cx="1627632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632704" y="8513064"/>
            <a:ext cx="292608" cy="292608"/>
          </a:xfrm>
          <a:prstGeom prst="roundRect">
            <a:avLst>
              <a:gd name="adj" fmla="val 25000"/>
            </a:avLst>
          </a:prstGeom>
          <a:solidFill>
            <a:srgbClr val="F897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32704" y="8513064"/>
            <a:ext cx="292608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9131B"/>
                </a:solidFill>
                <a:latin typeface="Calibri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998464" y="8421624"/>
            <a:ext cx="107899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80" b="1">
                <a:solidFill>
                  <a:srgbClr val="09131B"/>
                </a:solidFill>
                <a:latin typeface="Calibri"/>
              </a:rPr>
              <a:t>Stand up Phase 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9098280"/>
            <a:ext cx="6858000" cy="9525"/>
          </a:xfrm>
          <a:prstGeom prst="rect">
            <a:avLst/>
          </a:prstGeom>
          <a:solidFill>
            <a:srgbClr val="D6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9189720"/>
            <a:ext cx="6858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9131B"/>
                </a:solidFill>
                <a:latin typeface="Calibri"/>
              </a:rPr>
              <a:t>Target stack: SharePoint · Power Automate · Microsoft Purview · Azure OpenAI.  Delivered in three phases — value from Phase 1.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9AFB6"/>
                </a:solidFill>
                <a:latin typeface="Calibri"/>
              </a:rPr>
              <a:t>Illustrative prototype, synthetic data (NovaCura Pharmaceuticals). Figures directional pending a client baseline audit. All AI output is advisory — a human approves any action.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