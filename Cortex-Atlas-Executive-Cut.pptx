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cut — designed for a 10-15 minute leadership conversation or as a pre-read. Same story as the full deck, compressed to the decisions a sponsor cares about. Open on the outcome, not the tech: 'we connected five tools so the business stops paying for data twice, never gets surprised by a renewal, and walks into vendor negotiations with the 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for the whole problem. Name the risk owner for each card: procurement (duplicate spend), legal/continuity (renewals), supply risk (concentration), compliance (audit). You're assembling a coalition of sponsors. The closing line reframes blame as fixable 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mental model. Trace one asset end to end out loud to make the flow real. Then the three layers: foundation earns trust, automation removes effort, intelligence makes it a decision layer. Stress it's ONE tool delivered together — the layers are depth, not separate purchases.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platform on one slide. Read down the left for the lifecycle of an asset; the right column shows the automation/intelligence each tool carries. If you're demoing live, this is your map before you click in. Keep it to a minute and move to the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procurement leadership remembers. Instead of only knowing WHO our vendors are, we know what each is WORTH, what depends on them, and where the leverage is. This directly arms their next renewal. Use the concrete reads but label them illustrative pending the baseline audit.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pieces become a decision layer. Left: it pushes the few issues that need a decision; right: ask anything in plain English. The trust message for pharma: grounded (cites sources, no invented numbers), shows confidence, advisory only — human approves. No autonomous actions.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Outcomes, each tied to the executive who owns it. Lead with the two most quantifiable — duplicate spend and renewals. If asked for ROI numbers, be honest: the prototype shows the mechanism; the baseline audit quantifies it against their real estate.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IT and de-risk the programme in one slide. Left: we orchestrate tools you already own — minimal new procurement, security or training. Right: phased delivery means working value from Phase 1, each phase proving the next. Talk phases, not fixed dates, until scoping.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a low-commitment ask: the next step is just a live walkthrough — easy yes. The baseline audit is the hook that unlocks budget by converting illustrative numbers into their real exposure. End on the product: open the prototype.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1325880"/>
            <a:ext cx="2468880" cy="457200"/>
          </a:xfrm>
          <a:prstGeom prst="roundRect">
            <a:avLst>
              <a:gd name="adj" fmla="val 50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25880"/>
            <a:ext cx="2468880" cy="457200"/>
          </a:xfrm>
          <a:prstGeom prst="rect">
            <a:avLst/>
          </a:prstGeom>
          <a:noFill/>
        </p:spPr>
        <p:txBody>
          <a:bodyPr wrap="square" anchor="ctr" lIns="0" rIns="0" tIns="0" bIns="0">
            <a:spAutoFit/>
          </a:bodyPr>
          <a:lstStyle/>
          <a:p>
            <a:pPr algn="ctr">
              <a:spcBef>
                <a:spcPts val="0"/>
              </a:spcBef>
              <a:spcAft>
                <a:spcPts val="0"/>
              </a:spcAft>
            </a:pPr>
            <a:r>
              <a:rPr sz="1100" b="1">
                <a:solidFill>
                  <a:srgbClr val="F89739"/>
                </a:solidFill>
                <a:latin typeface="Calibri"/>
              </a:rPr>
              <a:t>EXECUTIVE SUMMARY</a:t>
            </a:r>
          </a:p>
        </p:txBody>
      </p:sp>
      <p:sp>
        <p:nvSpPr>
          <p:cNvPr id="5" name="TextBox 4"/>
          <p:cNvSpPr txBox="1"/>
          <p:nvPr/>
        </p:nvSpPr>
        <p:spPr>
          <a:xfrm>
            <a:off x="685800" y="2148840"/>
            <a:ext cx="10515600" cy="1188720"/>
          </a:xfrm>
          <a:prstGeom prst="rect">
            <a:avLst/>
          </a:prstGeom>
          <a:noFill/>
        </p:spPr>
        <p:txBody>
          <a:bodyPr wrap="square" anchor="t" lIns="0" rIns="0" tIns="0" bIns="0">
            <a:spAutoFit/>
          </a:bodyPr>
          <a:lstStyle/>
          <a:p>
            <a:pPr algn="l">
              <a:spcBef>
                <a:spcPts val="0"/>
              </a:spcBef>
              <a:spcAft>
                <a:spcPts val="200"/>
              </a:spcAft>
            </a:pPr>
            <a:r>
              <a:rPr sz="5800" b="1">
                <a:solidFill>
                  <a:srgbClr val="FFFFFF"/>
                </a:solidFill>
                <a:latin typeface="Calibri"/>
              </a:rPr>
              <a:t>Cortex Atlas</a:t>
            </a:r>
          </a:p>
        </p:txBody>
      </p:sp>
      <p:sp>
        <p:nvSpPr>
          <p:cNvPr id="6" name="TextBox 5"/>
          <p:cNvSpPr txBox="1"/>
          <p:nvPr/>
        </p:nvSpPr>
        <p:spPr>
          <a:xfrm>
            <a:off x="685800" y="3246120"/>
            <a:ext cx="10515600" cy="731520"/>
          </a:xfrm>
          <a:prstGeom prst="rect">
            <a:avLst/>
          </a:prstGeom>
          <a:noFill/>
        </p:spPr>
        <p:txBody>
          <a:bodyPr wrap="square" anchor="t" lIns="0" rIns="0" tIns="0" bIns="0">
            <a:spAutoFit/>
          </a:bodyPr>
          <a:lstStyle/>
          <a:p>
            <a:pPr algn="l">
              <a:spcBef>
                <a:spcPts val="0"/>
              </a:spcBef>
              <a:spcAft>
                <a:spcPts val="0"/>
              </a:spcAft>
            </a:pPr>
            <a:r>
              <a:rPr sz="2500" b="0">
                <a:solidFill>
                  <a:srgbClr val="C7CCD3"/>
                </a:solidFill>
                <a:latin typeface="Calibri"/>
              </a:rPr>
              <a:t>Commercial data governance, connected.</a:t>
            </a:r>
          </a:p>
        </p:txBody>
      </p:sp>
      <p:sp>
        <p:nvSpPr>
          <p:cNvPr id="7" name="TextBox 6"/>
          <p:cNvSpPr txBox="1"/>
          <p:nvPr/>
        </p:nvSpPr>
        <p:spPr>
          <a:xfrm>
            <a:off x="685800" y="4114800"/>
            <a:ext cx="10515600" cy="914400"/>
          </a:xfrm>
          <a:prstGeom prst="rect">
            <a:avLst/>
          </a:prstGeom>
          <a:noFill/>
        </p:spPr>
        <p:txBody>
          <a:bodyPr wrap="square" anchor="t" lIns="0" rIns="0" tIns="0" bIns="0">
            <a:spAutoFit/>
          </a:bodyPr>
          <a:lstStyle/>
          <a:p>
            <a:pPr algn="l">
              <a:spcBef>
                <a:spcPts val="0"/>
              </a:spcBef>
              <a:spcAft>
                <a:spcPts val="0"/>
              </a:spcAft>
            </a:pPr>
            <a:r>
              <a:rPr sz="1500" b="0">
                <a:solidFill>
                  <a:srgbClr val="A9AFB6"/>
                </a:solidFill>
                <a:latin typeface="Calibri"/>
              </a:rPr>
              <a:t>Five disconnected tools rebuilt as one decision layer — stopping duplicate spend, ending missed renewals, and turning vendor data into negotiating leverage.</a:t>
            </a:r>
          </a:p>
        </p:txBody>
      </p:sp>
      <p:sp>
        <p:nvSpPr>
          <p:cNvPr id="8" name="Rectangle 7"/>
          <p:cNvSpPr/>
          <p:nvPr/>
        </p:nvSpPr>
        <p:spPr>
          <a:xfrm>
            <a:off x="685800" y="5760720"/>
            <a:ext cx="10820095" cy="9525"/>
          </a:xfrm>
          <a:prstGeom prst="rect">
            <a:avLst/>
          </a:prstGeom>
          <a:solidFill>
            <a:srgbClr val="2A3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897880"/>
            <a:ext cx="10515600" cy="457200"/>
          </a:xfrm>
          <a:prstGeom prst="rect">
            <a:avLst/>
          </a:prstGeom>
          <a:noFill/>
        </p:spPr>
        <p:txBody>
          <a:bodyPr wrap="square" anchor="t" lIns="0" rIns="0" tIns="0" bIns="0">
            <a:spAutoFit/>
          </a:bodyPr>
          <a:lstStyle/>
          <a:p>
            <a:pPr algn="l">
              <a:spcBef>
                <a:spcPts val="0"/>
              </a:spcBef>
              <a:spcAft>
                <a:spcPts val="0"/>
              </a:spcAft>
            </a:pPr>
            <a:r>
              <a:rPr sz="1150" b="0">
                <a:solidFill>
                  <a:srgbClr val="A9AFB6"/>
                </a:solidFill>
                <a:latin typeface="Calibri"/>
              </a:rPr>
              <a:t>For Commercial Insights &amp; Data Procurement leadership  ·  NovaCura Pharmaceuticals (illustrative)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THE CHALLENGE</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Five disconnected tools — and what the gaps cost</a:t>
            </a:r>
          </a:p>
        </p:txBody>
      </p:sp>
      <p:sp>
        <p:nvSpPr>
          <p:cNvPr id="5" name="TextBox 4"/>
          <p:cNvSpPr txBox="1"/>
          <p:nvPr/>
        </p:nvSpPr>
        <p:spPr>
          <a:xfrm>
            <a:off x="685800" y="1600200"/>
            <a:ext cx="10820095" cy="365760"/>
          </a:xfrm>
          <a:prstGeom prst="rect">
            <a:avLst/>
          </a:prstGeom>
          <a:noFill/>
        </p:spPr>
        <p:txBody>
          <a:bodyPr wrap="square" anchor="t" lIns="0" rIns="0" tIns="0" bIns="0">
            <a:spAutoFit/>
          </a:bodyPr>
          <a:lstStyle/>
          <a:p>
            <a:pPr algn="l">
              <a:spcBef>
                <a:spcPts val="0"/>
              </a:spcBef>
              <a:spcAft>
                <a:spcPts val="0"/>
              </a:spcAft>
            </a:pPr>
            <a:r>
              <a:rPr sz="1300" b="0">
                <a:solidFill>
                  <a:srgbClr val="595959"/>
                </a:solidFill>
                <a:latin typeface="Calibri"/>
              </a:rPr>
              <a:t>Today the request hub, catalogue, KPI registry, vendor hub and agreement register are separate SharePoint forms — no line of sight across them.</a:t>
            </a:r>
          </a:p>
        </p:txBody>
      </p:sp>
      <p:sp>
        <p:nvSpPr>
          <p:cNvPr id="6" name="Rounded Rectangle 5"/>
          <p:cNvSpPr/>
          <p:nvPr/>
        </p:nvSpPr>
        <p:spPr>
          <a:xfrm>
            <a:off x="685800" y="2286000"/>
            <a:ext cx="2606040" cy="31089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286000"/>
            <a:ext cx="2606040" cy="109728"/>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651760"/>
            <a:ext cx="2240280" cy="2468880"/>
          </a:xfrm>
          <a:prstGeom prst="rect">
            <a:avLst/>
          </a:prstGeom>
          <a:noFill/>
        </p:spPr>
        <p:txBody>
          <a:bodyPr wrap="square" anchor="t" lIns="0" rIns="0" tIns="0" bIns="0">
            <a:spAutoFit/>
          </a:bodyPr>
          <a:lstStyle/>
          <a:p>
            <a:pPr algn="l">
              <a:spcBef>
                <a:spcPts val="0"/>
              </a:spcBef>
              <a:spcAft>
                <a:spcPts val="800"/>
              </a:spcAft>
            </a:pPr>
            <a:r>
              <a:rPr sz="1550" b="1">
                <a:solidFill>
                  <a:srgbClr val="09131B"/>
                </a:solidFill>
                <a:latin typeface="Calibri"/>
              </a:rPr>
              <a:t>Duplicate buys</a:t>
            </a:r>
          </a:p>
          <a:p>
            <a:pPr algn="l">
              <a:spcBef>
                <a:spcPts val="0"/>
              </a:spcBef>
              <a:spcAft>
                <a:spcPts val="0"/>
              </a:spcAft>
            </a:pPr>
            <a:r>
              <a:rPr sz="1200" b="0">
                <a:solidFill>
                  <a:srgbClr val="595959"/>
                </a:solidFill>
                <a:latin typeface="Calibri"/>
              </a:rPr>
              <a:t>Teams re-purchase data already owned — no check at the point of request.</a:t>
            </a:r>
          </a:p>
        </p:txBody>
      </p:sp>
      <p:sp>
        <p:nvSpPr>
          <p:cNvPr id="9" name="TextBox 8"/>
          <p:cNvSpPr txBox="1"/>
          <p:nvPr/>
        </p:nvSpPr>
        <p:spPr>
          <a:xfrm>
            <a:off x="868680" y="4983480"/>
            <a:ext cx="2240280" cy="320040"/>
          </a:xfrm>
          <a:prstGeom prst="rect">
            <a:avLst/>
          </a:prstGeom>
          <a:noFill/>
        </p:spPr>
        <p:txBody>
          <a:bodyPr wrap="square" anchor="t" lIns="0" rIns="0" tIns="0" bIns="0">
            <a:spAutoFit/>
          </a:bodyPr>
          <a:lstStyle/>
          <a:p>
            <a:pPr algn="l">
              <a:spcBef>
                <a:spcPts val="0"/>
              </a:spcBef>
              <a:spcAft>
                <a:spcPts val="0"/>
              </a:spcAft>
            </a:pPr>
            <a:r>
              <a:rPr sz="1000" b="1">
                <a:solidFill>
                  <a:srgbClr val="9A5C12"/>
                </a:solidFill>
                <a:latin typeface="Calibri"/>
              </a:rPr>
              <a:t>AVOIDABLE SPEND</a:t>
            </a:r>
          </a:p>
        </p:txBody>
      </p:sp>
      <p:sp>
        <p:nvSpPr>
          <p:cNvPr id="10" name="Rounded Rectangle 9"/>
          <p:cNvSpPr/>
          <p:nvPr/>
        </p:nvSpPr>
        <p:spPr>
          <a:xfrm>
            <a:off x="3367735" y="2286000"/>
            <a:ext cx="2606040" cy="31089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67735" y="2286000"/>
            <a:ext cx="2606040" cy="109728"/>
          </a:xfrm>
          <a:prstGeom prst="roundRect">
            <a:avLst>
              <a:gd name="adj" fmla="val 50000"/>
            </a:avLst>
          </a:prstGeom>
          <a:solidFill>
            <a:srgbClr val="E84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615" y="2651760"/>
            <a:ext cx="2240280" cy="2468880"/>
          </a:xfrm>
          <a:prstGeom prst="rect">
            <a:avLst/>
          </a:prstGeom>
          <a:noFill/>
        </p:spPr>
        <p:txBody>
          <a:bodyPr wrap="square" anchor="t" lIns="0" rIns="0" tIns="0" bIns="0">
            <a:spAutoFit/>
          </a:bodyPr>
          <a:lstStyle/>
          <a:p>
            <a:pPr algn="l">
              <a:spcBef>
                <a:spcPts val="0"/>
              </a:spcBef>
              <a:spcAft>
                <a:spcPts val="800"/>
              </a:spcAft>
            </a:pPr>
            <a:r>
              <a:rPr sz="1550" b="1">
                <a:solidFill>
                  <a:srgbClr val="09131B"/>
                </a:solidFill>
                <a:latin typeface="Calibri"/>
              </a:rPr>
              <a:t>Lapsed / rushed renewals</a:t>
            </a:r>
          </a:p>
          <a:p>
            <a:pPr algn="l">
              <a:spcBef>
                <a:spcPts val="0"/>
              </a:spcBef>
              <a:spcAft>
                <a:spcPts val="0"/>
              </a:spcAft>
            </a:pPr>
            <a:r>
              <a:rPr sz="1200" b="0">
                <a:solidFill>
                  <a:srgbClr val="595959"/>
                </a:solidFill>
                <a:latin typeface="Calibri"/>
              </a:rPr>
              <a:t>Agreements expire unseen or renew under pressure, losing leverage.</a:t>
            </a:r>
          </a:p>
        </p:txBody>
      </p:sp>
      <p:sp>
        <p:nvSpPr>
          <p:cNvPr id="13" name="TextBox 12"/>
          <p:cNvSpPr txBox="1"/>
          <p:nvPr/>
        </p:nvSpPr>
        <p:spPr>
          <a:xfrm>
            <a:off x="3550615" y="4983480"/>
            <a:ext cx="2240280" cy="320040"/>
          </a:xfrm>
          <a:prstGeom prst="rect">
            <a:avLst/>
          </a:prstGeom>
          <a:noFill/>
        </p:spPr>
        <p:txBody>
          <a:bodyPr wrap="square" anchor="t" lIns="0" rIns="0" tIns="0" bIns="0">
            <a:spAutoFit/>
          </a:bodyPr>
          <a:lstStyle/>
          <a:p>
            <a:pPr algn="l">
              <a:spcBef>
                <a:spcPts val="0"/>
              </a:spcBef>
              <a:spcAft>
                <a:spcPts val="0"/>
              </a:spcAft>
            </a:pPr>
            <a:r>
              <a:rPr sz="1000" b="1">
                <a:solidFill>
                  <a:srgbClr val="E8451C"/>
                </a:solidFill>
                <a:latin typeface="Calibri"/>
              </a:rPr>
              <a:t>LOST LEVERAGE</a:t>
            </a:r>
          </a:p>
        </p:txBody>
      </p:sp>
      <p:sp>
        <p:nvSpPr>
          <p:cNvPr id="14" name="Rounded Rectangle 13"/>
          <p:cNvSpPr/>
          <p:nvPr/>
        </p:nvSpPr>
        <p:spPr>
          <a:xfrm>
            <a:off x="6049670" y="2286000"/>
            <a:ext cx="2606040" cy="31089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049670" y="2286000"/>
            <a:ext cx="2606040" cy="109728"/>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2550" y="2651760"/>
            <a:ext cx="2240280" cy="2468880"/>
          </a:xfrm>
          <a:prstGeom prst="rect">
            <a:avLst/>
          </a:prstGeom>
          <a:noFill/>
        </p:spPr>
        <p:txBody>
          <a:bodyPr wrap="square" anchor="t" lIns="0" rIns="0" tIns="0" bIns="0">
            <a:spAutoFit/>
          </a:bodyPr>
          <a:lstStyle/>
          <a:p>
            <a:pPr algn="l">
              <a:spcBef>
                <a:spcPts val="0"/>
              </a:spcBef>
              <a:spcAft>
                <a:spcPts val="800"/>
              </a:spcAft>
            </a:pPr>
            <a:r>
              <a:rPr sz="1550" b="1">
                <a:solidFill>
                  <a:srgbClr val="09131B"/>
                </a:solidFill>
                <a:latin typeface="Calibri"/>
              </a:rPr>
              <a:t>Vendor over-dependence</a:t>
            </a:r>
          </a:p>
          <a:p>
            <a:pPr algn="l">
              <a:spcBef>
                <a:spcPts val="0"/>
              </a:spcBef>
              <a:spcAft>
                <a:spcPts val="0"/>
              </a:spcAft>
            </a:pPr>
            <a:r>
              <a:rPr sz="1200" b="0">
                <a:solidFill>
                  <a:srgbClr val="595959"/>
                </a:solidFill>
                <a:latin typeface="Calibri"/>
              </a:rPr>
              <a:t>Spend quietly concentrates with no substitutes — single points of failure.</a:t>
            </a:r>
          </a:p>
        </p:txBody>
      </p:sp>
      <p:sp>
        <p:nvSpPr>
          <p:cNvPr id="17" name="TextBox 16"/>
          <p:cNvSpPr txBox="1"/>
          <p:nvPr/>
        </p:nvSpPr>
        <p:spPr>
          <a:xfrm>
            <a:off x="6232550" y="4983480"/>
            <a:ext cx="2240280" cy="320040"/>
          </a:xfrm>
          <a:prstGeom prst="rect">
            <a:avLst/>
          </a:prstGeom>
          <a:noFill/>
        </p:spPr>
        <p:txBody>
          <a:bodyPr wrap="square" anchor="t" lIns="0" rIns="0" tIns="0" bIns="0">
            <a:spAutoFit/>
          </a:bodyPr>
          <a:lstStyle/>
          <a:p>
            <a:pPr algn="l">
              <a:spcBef>
                <a:spcPts val="0"/>
              </a:spcBef>
              <a:spcAft>
                <a:spcPts val="0"/>
              </a:spcAft>
            </a:pPr>
            <a:r>
              <a:rPr sz="1000" b="1">
                <a:solidFill>
                  <a:srgbClr val="9A5C12"/>
                </a:solidFill>
                <a:latin typeface="Calibri"/>
              </a:rPr>
              <a:t>CONCENTRATION RISK</a:t>
            </a:r>
          </a:p>
        </p:txBody>
      </p:sp>
      <p:sp>
        <p:nvSpPr>
          <p:cNvPr id="18" name="Rounded Rectangle 17"/>
          <p:cNvSpPr/>
          <p:nvPr/>
        </p:nvSpPr>
        <p:spPr>
          <a:xfrm>
            <a:off x="8731605" y="2286000"/>
            <a:ext cx="2606040" cy="31089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731605" y="2286000"/>
            <a:ext cx="2606040" cy="109728"/>
          </a:xfrm>
          <a:prstGeom prst="roundRect">
            <a:avLst>
              <a:gd name="adj" fmla="val 50000"/>
            </a:avLst>
          </a:prstGeom>
          <a:solidFill>
            <a:srgbClr val="E84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4485" y="2651760"/>
            <a:ext cx="2240280" cy="2468880"/>
          </a:xfrm>
          <a:prstGeom prst="rect">
            <a:avLst/>
          </a:prstGeom>
          <a:noFill/>
        </p:spPr>
        <p:txBody>
          <a:bodyPr wrap="square" anchor="t" lIns="0" rIns="0" tIns="0" bIns="0">
            <a:spAutoFit/>
          </a:bodyPr>
          <a:lstStyle/>
          <a:p>
            <a:pPr algn="l">
              <a:spcBef>
                <a:spcPts val="0"/>
              </a:spcBef>
              <a:spcAft>
                <a:spcPts val="800"/>
              </a:spcAft>
            </a:pPr>
            <a:r>
              <a:rPr sz="1550" b="1">
                <a:solidFill>
                  <a:srgbClr val="09131B"/>
                </a:solidFill>
                <a:latin typeface="Calibri"/>
              </a:rPr>
              <a:t>Audit exposure</a:t>
            </a:r>
          </a:p>
          <a:p>
            <a:pPr algn="l">
              <a:spcBef>
                <a:spcPts val="0"/>
              </a:spcBef>
              <a:spcAft>
                <a:spcPts val="0"/>
              </a:spcAft>
            </a:pPr>
            <a:r>
              <a:rPr sz="1200" b="0">
                <a:solidFill>
                  <a:srgbClr val="595959"/>
                </a:solidFill>
                <a:latin typeface="Calibri"/>
              </a:rPr>
              <a:t>Sensitive data isn't consistently classified; lineage is unclear.</a:t>
            </a:r>
          </a:p>
        </p:txBody>
      </p:sp>
      <p:sp>
        <p:nvSpPr>
          <p:cNvPr id="21" name="TextBox 20"/>
          <p:cNvSpPr txBox="1"/>
          <p:nvPr/>
        </p:nvSpPr>
        <p:spPr>
          <a:xfrm>
            <a:off x="8914485" y="4983480"/>
            <a:ext cx="2240280" cy="320040"/>
          </a:xfrm>
          <a:prstGeom prst="rect">
            <a:avLst/>
          </a:prstGeom>
          <a:noFill/>
        </p:spPr>
        <p:txBody>
          <a:bodyPr wrap="square" anchor="t" lIns="0" rIns="0" tIns="0" bIns="0">
            <a:spAutoFit/>
          </a:bodyPr>
          <a:lstStyle/>
          <a:p>
            <a:pPr algn="l">
              <a:spcBef>
                <a:spcPts val="0"/>
              </a:spcBef>
              <a:spcAft>
                <a:spcPts val="0"/>
              </a:spcAft>
            </a:pPr>
            <a:r>
              <a:rPr sz="1000" b="1">
                <a:solidFill>
                  <a:srgbClr val="E8451C"/>
                </a:solidFill>
                <a:latin typeface="Calibri"/>
              </a:rPr>
              <a:t>COMPLIANCE RISK</a:t>
            </a:r>
          </a:p>
        </p:txBody>
      </p:sp>
      <p:sp>
        <p:nvSpPr>
          <p:cNvPr id="22" name="TextBox 21"/>
          <p:cNvSpPr txBox="1"/>
          <p:nvPr/>
        </p:nvSpPr>
        <p:spPr>
          <a:xfrm>
            <a:off x="685800" y="5623560"/>
            <a:ext cx="10820095" cy="548640"/>
          </a:xfrm>
          <a:prstGeom prst="rect">
            <a:avLst/>
          </a:prstGeom>
          <a:noFill/>
        </p:spPr>
        <p:txBody>
          <a:bodyPr wrap="square" anchor="t" lIns="0" rIns="0" tIns="0" bIns="0">
            <a:spAutoFit/>
          </a:bodyPr>
          <a:lstStyle/>
          <a:p>
            <a:pPr algn="l">
              <a:spcBef>
                <a:spcPts val="0"/>
              </a:spcBef>
              <a:spcAft>
                <a:spcPts val="0"/>
              </a:spcAft>
            </a:pPr>
            <a:r>
              <a:rPr sz="1400" b="1">
                <a:solidFill>
                  <a:srgbClr val="09131B"/>
                </a:solidFill>
                <a:latin typeface="Calibri"/>
              </a:rPr>
              <a:t>It's not a people problem — it's a structure problem. And structure is what a connected platform fixes.</a:t>
            </a:r>
          </a:p>
        </p:txBody>
      </p:sp>
      <p:sp>
        <p:nvSpPr>
          <p:cNvPr id="23" name="Rectangle 22"/>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Executive summary  ·  Illustrative prototype, synthetic data  ·  Confidential</a:t>
            </a:r>
          </a:p>
        </p:txBody>
      </p:sp>
      <p:sp>
        <p:nvSpPr>
          <p:cNvPr id="25" name="TextBox 24"/>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THE SOLUTION</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One connected estate, in three layers</a:t>
            </a:r>
          </a:p>
        </p:txBody>
      </p:sp>
      <p:sp>
        <p:nvSpPr>
          <p:cNvPr id="5" name="Rounded Rectangle 4"/>
          <p:cNvSpPr/>
          <p:nvPr/>
        </p:nvSpPr>
        <p:spPr>
          <a:xfrm>
            <a:off x="685800" y="1691640"/>
            <a:ext cx="1993392" cy="10515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874520"/>
            <a:ext cx="1700784" cy="777240"/>
          </a:xfrm>
          <a:prstGeom prst="rect">
            <a:avLst/>
          </a:prstGeom>
          <a:noFill/>
        </p:spPr>
        <p:txBody>
          <a:bodyPr wrap="square" anchor="t" lIns="0" rIns="0" tIns="0" bIns="0">
            <a:spAutoFit/>
          </a:bodyPr>
          <a:lstStyle/>
          <a:p>
            <a:pPr algn="l">
              <a:spcBef>
                <a:spcPts val="0"/>
              </a:spcBef>
              <a:spcAft>
                <a:spcPts val="300"/>
              </a:spcAft>
            </a:pPr>
            <a:r>
              <a:rPr sz="950" b="1">
                <a:solidFill>
                  <a:srgbClr val="F89739"/>
                </a:solidFill>
                <a:latin typeface="Calibri"/>
              </a:rPr>
              <a:t>DPRH</a:t>
            </a:r>
          </a:p>
          <a:p>
            <a:pPr algn="l">
              <a:spcBef>
                <a:spcPts val="0"/>
              </a:spcBef>
              <a:spcAft>
                <a:spcPts val="0"/>
              </a:spcAft>
            </a:pPr>
            <a:r>
              <a:rPr sz="1350" b="1">
                <a:solidFill>
                  <a:srgbClr val="09131B"/>
                </a:solidFill>
                <a:latin typeface="Calibri"/>
              </a:rPr>
              <a:t>Requests</a:t>
            </a:r>
          </a:p>
        </p:txBody>
      </p:sp>
      <p:sp>
        <p:nvSpPr>
          <p:cNvPr id="7" name="TextBox 6"/>
          <p:cNvSpPr txBox="1"/>
          <p:nvPr/>
        </p:nvSpPr>
        <p:spPr>
          <a:xfrm>
            <a:off x="2679192" y="2011680"/>
            <a:ext cx="146304" cy="457200"/>
          </a:xfrm>
          <a:prstGeom prst="rect">
            <a:avLst/>
          </a:prstGeom>
          <a:noFill/>
        </p:spPr>
        <p:txBody>
          <a:bodyPr wrap="square" anchor="ctr" lIns="0" rIns="0" tIns="0" bIns="0">
            <a:spAutoFit/>
          </a:bodyPr>
          <a:lstStyle/>
          <a:p>
            <a:pPr algn="ctr">
              <a:spcBef>
                <a:spcPts val="0"/>
              </a:spcBef>
              <a:spcAft>
                <a:spcPts val="0"/>
              </a:spcAft>
            </a:pPr>
            <a:r>
              <a:rPr sz="1500" b="1">
                <a:solidFill>
                  <a:srgbClr val="F89739"/>
                </a:solidFill>
                <a:latin typeface="Calibri"/>
              </a:rPr>
              <a:t>→</a:t>
            </a:r>
          </a:p>
        </p:txBody>
      </p:sp>
      <p:sp>
        <p:nvSpPr>
          <p:cNvPr id="8" name="Rounded Rectangle 7"/>
          <p:cNvSpPr/>
          <p:nvPr/>
        </p:nvSpPr>
        <p:spPr>
          <a:xfrm>
            <a:off x="2825496" y="1691640"/>
            <a:ext cx="1993392" cy="10515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1874520"/>
            <a:ext cx="1700784" cy="777240"/>
          </a:xfrm>
          <a:prstGeom prst="rect">
            <a:avLst/>
          </a:prstGeom>
          <a:noFill/>
        </p:spPr>
        <p:txBody>
          <a:bodyPr wrap="square" anchor="t" lIns="0" rIns="0" tIns="0" bIns="0">
            <a:spAutoFit/>
          </a:bodyPr>
          <a:lstStyle/>
          <a:p>
            <a:pPr algn="l">
              <a:spcBef>
                <a:spcPts val="0"/>
              </a:spcBef>
              <a:spcAft>
                <a:spcPts val="300"/>
              </a:spcAft>
            </a:pPr>
            <a:r>
              <a:rPr sz="950" b="1">
                <a:solidFill>
                  <a:srgbClr val="F89739"/>
                </a:solidFill>
                <a:latin typeface="Calibri"/>
              </a:rPr>
              <a:t>ASSET</a:t>
            </a:r>
          </a:p>
          <a:p>
            <a:pPr algn="l">
              <a:spcBef>
                <a:spcPts val="0"/>
              </a:spcBef>
              <a:spcAft>
                <a:spcPts val="0"/>
              </a:spcAft>
            </a:pPr>
            <a:r>
              <a:rPr sz="1350" b="1">
                <a:solidFill>
                  <a:srgbClr val="09131B"/>
                </a:solidFill>
                <a:latin typeface="Calibri"/>
              </a:rPr>
              <a:t>Catalogue</a:t>
            </a:r>
          </a:p>
        </p:txBody>
      </p:sp>
      <p:sp>
        <p:nvSpPr>
          <p:cNvPr id="10" name="TextBox 9"/>
          <p:cNvSpPr txBox="1"/>
          <p:nvPr/>
        </p:nvSpPr>
        <p:spPr>
          <a:xfrm>
            <a:off x="4818888" y="2011680"/>
            <a:ext cx="146304" cy="457200"/>
          </a:xfrm>
          <a:prstGeom prst="rect">
            <a:avLst/>
          </a:prstGeom>
          <a:noFill/>
        </p:spPr>
        <p:txBody>
          <a:bodyPr wrap="square" anchor="ctr" lIns="0" rIns="0" tIns="0" bIns="0">
            <a:spAutoFit/>
          </a:bodyPr>
          <a:lstStyle/>
          <a:p>
            <a:pPr algn="ctr">
              <a:spcBef>
                <a:spcPts val="0"/>
              </a:spcBef>
              <a:spcAft>
                <a:spcPts val="0"/>
              </a:spcAft>
            </a:pPr>
            <a:r>
              <a:rPr sz="1500" b="1">
                <a:solidFill>
                  <a:srgbClr val="F89739"/>
                </a:solidFill>
                <a:latin typeface="Calibri"/>
              </a:rPr>
              <a:t>→</a:t>
            </a:r>
          </a:p>
        </p:txBody>
      </p:sp>
      <p:sp>
        <p:nvSpPr>
          <p:cNvPr id="11" name="Rounded Rectangle 10"/>
          <p:cNvSpPr/>
          <p:nvPr/>
        </p:nvSpPr>
        <p:spPr>
          <a:xfrm>
            <a:off x="4965192" y="1691640"/>
            <a:ext cx="1993392" cy="10515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11496" y="1874520"/>
            <a:ext cx="1700784" cy="777240"/>
          </a:xfrm>
          <a:prstGeom prst="rect">
            <a:avLst/>
          </a:prstGeom>
          <a:noFill/>
        </p:spPr>
        <p:txBody>
          <a:bodyPr wrap="square" anchor="t" lIns="0" rIns="0" tIns="0" bIns="0">
            <a:spAutoFit/>
          </a:bodyPr>
          <a:lstStyle/>
          <a:p>
            <a:pPr algn="l">
              <a:spcBef>
                <a:spcPts val="0"/>
              </a:spcBef>
              <a:spcAft>
                <a:spcPts val="300"/>
              </a:spcAft>
            </a:pPr>
            <a:r>
              <a:rPr sz="950" b="1">
                <a:solidFill>
                  <a:srgbClr val="F89739"/>
                </a:solidFill>
                <a:latin typeface="Calibri"/>
              </a:rPr>
              <a:t>METRIC</a:t>
            </a:r>
          </a:p>
          <a:p>
            <a:pPr algn="l">
              <a:spcBef>
                <a:spcPts val="0"/>
              </a:spcBef>
              <a:spcAft>
                <a:spcPts val="0"/>
              </a:spcAft>
            </a:pPr>
            <a:r>
              <a:rPr sz="1350" b="1">
                <a:solidFill>
                  <a:srgbClr val="09131B"/>
                </a:solidFill>
                <a:latin typeface="Calibri"/>
              </a:rPr>
              <a:t>KPIs</a:t>
            </a:r>
          </a:p>
        </p:txBody>
      </p:sp>
      <p:sp>
        <p:nvSpPr>
          <p:cNvPr id="13" name="TextBox 12"/>
          <p:cNvSpPr txBox="1"/>
          <p:nvPr/>
        </p:nvSpPr>
        <p:spPr>
          <a:xfrm>
            <a:off x="6958584" y="2011680"/>
            <a:ext cx="146304" cy="457200"/>
          </a:xfrm>
          <a:prstGeom prst="rect">
            <a:avLst/>
          </a:prstGeom>
          <a:noFill/>
        </p:spPr>
        <p:txBody>
          <a:bodyPr wrap="square" anchor="ctr" lIns="0" rIns="0" tIns="0" bIns="0">
            <a:spAutoFit/>
          </a:bodyPr>
          <a:lstStyle/>
          <a:p>
            <a:pPr algn="ctr">
              <a:spcBef>
                <a:spcPts val="0"/>
              </a:spcBef>
              <a:spcAft>
                <a:spcPts val="0"/>
              </a:spcAft>
            </a:pPr>
            <a:r>
              <a:rPr sz="1500" b="1">
                <a:solidFill>
                  <a:srgbClr val="F89739"/>
                </a:solidFill>
                <a:latin typeface="Calibri"/>
              </a:rPr>
              <a:t>→</a:t>
            </a:r>
          </a:p>
        </p:txBody>
      </p:sp>
      <p:sp>
        <p:nvSpPr>
          <p:cNvPr id="14" name="Rounded Rectangle 13"/>
          <p:cNvSpPr/>
          <p:nvPr/>
        </p:nvSpPr>
        <p:spPr>
          <a:xfrm>
            <a:off x="7104888" y="1691640"/>
            <a:ext cx="1993392" cy="10515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51192" y="1874520"/>
            <a:ext cx="1700784" cy="777240"/>
          </a:xfrm>
          <a:prstGeom prst="rect">
            <a:avLst/>
          </a:prstGeom>
          <a:noFill/>
        </p:spPr>
        <p:txBody>
          <a:bodyPr wrap="square" anchor="t" lIns="0" rIns="0" tIns="0" bIns="0">
            <a:spAutoFit/>
          </a:bodyPr>
          <a:lstStyle/>
          <a:p>
            <a:pPr algn="l">
              <a:spcBef>
                <a:spcPts val="0"/>
              </a:spcBef>
              <a:spcAft>
                <a:spcPts val="300"/>
              </a:spcAft>
            </a:pPr>
            <a:r>
              <a:rPr sz="950" b="1">
                <a:solidFill>
                  <a:srgbClr val="F89739"/>
                </a:solidFill>
                <a:latin typeface="Calibri"/>
              </a:rPr>
              <a:t>VENDOR</a:t>
            </a:r>
          </a:p>
          <a:p>
            <a:pPr algn="l">
              <a:spcBef>
                <a:spcPts val="0"/>
              </a:spcBef>
              <a:spcAft>
                <a:spcPts val="0"/>
              </a:spcAft>
            </a:pPr>
            <a:r>
              <a:rPr sz="1350" b="1">
                <a:solidFill>
                  <a:srgbClr val="09131B"/>
                </a:solidFill>
                <a:latin typeface="Calibri"/>
              </a:rPr>
              <a:t>Vendors</a:t>
            </a:r>
          </a:p>
        </p:txBody>
      </p:sp>
      <p:sp>
        <p:nvSpPr>
          <p:cNvPr id="16" name="TextBox 15"/>
          <p:cNvSpPr txBox="1"/>
          <p:nvPr/>
        </p:nvSpPr>
        <p:spPr>
          <a:xfrm>
            <a:off x="9098280" y="2011680"/>
            <a:ext cx="146304" cy="457200"/>
          </a:xfrm>
          <a:prstGeom prst="rect">
            <a:avLst/>
          </a:prstGeom>
          <a:noFill/>
        </p:spPr>
        <p:txBody>
          <a:bodyPr wrap="square" anchor="ctr" lIns="0" rIns="0" tIns="0" bIns="0">
            <a:spAutoFit/>
          </a:bodyPr>
          <a:lstStyle/>
          <a:p>
            <a:pPr algn="ctr">
              <a:spcBef>
                <a:spcPts val="0"/>
              </a:spcBef>
              <a:spcAft>
                <a:spcPts val="0"/>
              </a:spcAft>
            </a:pPr>
            <a:r>
              <a:rPr sz="1500" b="1">
                <a:solidFill>
                  <a:srgbClr val="F89739"/>
                </a:solidFill>
                <a:latin typeface="Calibri"/>
              </a:rPr>
              <a:t>→</a:t>
            </a:r>
          </a:p>
        </p:txBody>
      </p:sp>
      <p:sp>
        <p:nvSpPr>
          <p:cNvPr id="17" name="Rounded Rectangle 16"/>
          <p:cNvSpPr/>
          <p:nvPr/>
        </p:nvSpPr>
        <p:spPr>
          <a:xfrm>
            <a:off x="9244584" y="1691640"/>
            <a:ext cx="1993392" cy="10515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90888" y="1874520"/>
            <a:ext cx="1700784" cy="777240"/>
          </a:xfrm>
          <a:prstGeom prst="rect">
            <a:avLst/>
          </a:prstGeom>
          <a:noFill/>
        </p:spPr>
        <p:txBody>
          <a:bodyPr wrap="square" anchor="t" lIns="0" rIns="0" tIns="0" bIns="0">
            <a:spAutoFit/>
          </a:bodyPr>
          <a:lstStyle/>
          <a:p>
            <a:pPr algn="l">
              <a:spcBef>
                <a:spcPts val="0"/>
              </a:spcBef>
              <a:spcAft>
                <a:spcPts val="300"/>
              </a:spcAft>
            </a:pPr>
            <a:r>
              <a:rPr sz="950" b="1">
                <a:solidFill>
                  <a:srgbClr val="F89739"/>
                </a:solidFill>
                <a:latin typeface="Calibri"/>
              </a:rPr>
              <a:t>TPA</a:t>
            </a:r>
          </a:p>
          <a:p>
            <a:pPr algn="l">
              <a:spcBef>
                <a:spcPts val="0"/>
              </a:spcBef>
              <a:spcAft>
                <a:spcPts val="0"/>
              </a:spcAft>
            </a:pPr>
            <a:r>
              <a:rPr sz="1350" b="1">
                <a:solidFill>
                  <a:srgbClr val="09131B"/>
                </a:solidFill>
                <a:latin typeface="Calibri"/>
              </a:rPr>
              <a:t>Agreements</a:t>
            </a:r>
          </a:p>
        </p:txBody>
      </p:sp>
      <p:sp>
        <p:nvSpPr>
          <p:cNvPr id="19" name="TextBox 18"/>
          <p:cNvSpPr txBox="1"/>
          <p:nvPr/>
        </p:nvSpPr>
        <p:spPr>
          <a:xfrm>
            <a:off x="685800" y="2788920"/>
            <a:ext cx="10820095" cy="320040"/>
          </a:xfrm>
          <a:prstGeom prst="rect">
            <a:avLst/>
          </a:prstGeom>
          <a:noFill/>
        </p:spPr>
        <p:txBody>
          <a:bodyPr wrap="square" anchor="t" lIns="0" rIns="0" tIns="0" bIns="0">
            <a:spAutoFit/>
          </a:bodyPr>
          <a:lstStyle/>
          <a:p>
            <a:pPr algn="l">
              <a:spcBef>
                <a:spcPts val="0"/>
              </a:spcBef>
              <a:spcAft>
                <a:spcPts val="0"/>
              </a:spcAft>
            </a:pPr>
            <a:r>
              <a:rPr sz="1250" b="0">
                <a:solidFill>
                  <a:srgbClr val="595959"/>
                </a:solidFill>
                <a:latin typeface="Calibri"/>
              </a:rPr>
              <a:t>"One asset, five tools" — and every link is clickable, not just labelled.</a:t>
            </a:r>
          </a:p>
        </p:txBody>
      </p:sp>
      <p:sp>
        <p:nvSpPr>
          <p:cNvPr id="20" name="Rounded Rectangle 19"/>
          <p:cNvSpPr/>
          <p:nvPr/>
        </p:nvSpPr>
        <p:spPr>
          <a:xfrm>
            <a:off x="685800" y="3246120"/>
            <a:ext cx="3502152" cy="26517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3246120"/>
            <a:ext cx="3502152" cy="128016"/>
          </a:xfrm>
          <a:prstGeom prst="roundRect">
            <a:avLst>
              <a:gd name="adj" fmla="val 50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3566160"/>
            <a:ext cx="457200" cy="457200"/>
          </a:xfrm>
          <a:prstGeom prst="roundRect">
            <a:avLst>
              <a:gd name="adj" fmla="val 25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566160"/>
            <a:ext cx="457200" cy="457200"/>
          </a:xfrm>
          <a:prstGeom prst="rect">
            <a:avLst/>
          </a:prstGeom>
          <a:noFill/>
        </p:spPr>
        <p:txBody>
          <a:bodyPr wrap="square" anchor="ctr" lIns="0" rIns="0" tIns="0" bIns="0">
            <a:spAutoFit/>
          </a:bodyPr>
          <a:lstStyle/>
          <a:p>
            <a:pPr algn="ctr">
              <a:spcBef>
                <a:spcPts val="0"/>
              </a:spcBef>
              <a:spcAft>
                <a:spcPts val="0"/>
              </a:spcAft>
            </a:pPr>
            <a:r>
              <a:rPr sz="1400" b="1">
                <a:solidFill>
                  <a:srgbClr val="FFFFFF"/>
                </a:solidFill>
                <a:latin typeface="Calibri"/>
              </a:rPr>
              <a:t>01</a:t>
            </a:r>
          </a:p>
        </p:txBody>
      </p:sp>
      <p:sp>
        <p:nvSpPr>
          <p:cNvPr id="24" name="TextBox 23"/>
          <p:cNvSpPr txBox="1"/>
          <p:nvPr/>
        </p:nvSpPr>
        <p:spPr>
          <a:xfrm>
            <a:off x="914400" y="4206240"/>
            <a:ext cx="3044952" cy="1554480"/>
          </a:xfrm>
          <a:prstGeom prst="rect">
            <a:avLst/>
          </a:prstGeom>
          <a:noFill/>
        </p:spPr>
        <p:txBody>
          <a:bodyPr wrap="square" anchor="t" lIns="0" rIns="0" tIns="0" bIns="0">
            <a:spAutoFit/>
          </a:bodyPr>
          <a:lstStyle/>
          <a:p>
            <a:pPr algn="l">
              <a:spcBef>
                <a:spcPts val="0"/>
              </a:spcBef>
              <a:spcAft>
                <a:spcPts val="600"/>
              </a:spcAft>
            </a:pPr>
            <a:r>
              <a:rPr sz="1900" b="1">
                <a:solidFill>
                  <a:srgbClr val="09131B"/>
                </a:solidFill>
                <a:latin typeface="Calibri"/>
              </a:rPr>
              <a:t>Estate</a:t>
            </a:r>
          </a:p>
          <a:p>
            <a:pPr algn="l">
              <a:spcBef>
                <a:spcPts val="0"/>
              </a:spcBef>
              <a:spcAft>
                <a:spcPts val="0"/>
              </a:spcAft>
            </a:pPr>
            <a:r>
              <a:rPr sz="1200" b="0">
                <a:solidFill>
                  <a:srgbClr val="595959"/>
                </a:solidFill>
                <a:latin typeface="Calibri"/>
              </a:rPr>
              <a:t>The five tools as they work today — the trustworthy foundation.</a:t>
            </a:r>
          </a:p>
        </p:txBody>
      </p:sp>
      <p:sp>
        <p:nvSpPr>
          <p:cNvPr id="25" name="Rounded Rectangle 24"/>
          <p:cNvSpPr/>
          <p:nvPr/>
        </p:nvSpPr>
        <p:spPr>
          <a:xfrm>
            <a:off x="4279392" y="3246120"/>
            <a:ext cx="3502152" cy="26517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279392" y="3246120"/>
            <a:ext cx="3502152" cy="128016"/>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507992" y="3566160"/>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07992" y="3566160"/>
            <a:ext cx="457200" cy="457200"/>
          </a:xfrm>
          <a:prstGeom prst="rect">
            <a:avLst/>
          </a:prstGeom>
          <a:noFill/>
        </p:spPr>
        <p:txBody>
          <a:bodyPr wrap="square" anchor="ctr" lIns="0" rIns="0" tIns="0" bIns="0">
            <a:spAutoFit/>
          </a:bodyPr>
          <a:lstStyle/>
          <a:p>
            <a:pPr algn="ctr">
              <a:spcBef>
                <a:spcPts val="0"/>
              </a:spcBef>
              <a:spcAft>
                <a:spcPts val="0"/>
              </a:spcAft>
            </a:pPr>
            <a:r>
              <a:rPr sz="1400" b="1">
                <a:solidFill>
                  <a:srgbClr val="FFFFFF"/>
                </a:solidFill>
                <a:latin typeface="Calibri"/>
              </a:rPr>
              <a:t>02</a:t>
            </a:r>
          </a:p>
        </p:txBody>
      </p:sp>
      <p:sp>
        <p:nvSpPr>
          <p:cNvPr id="29" name="TextBox 28"/>
          <p:cNvSpPr txBox="1"/>
          <p:nvPr/>
        </p:nvSpPr>
        <p:spPr>
          <a:xfrm>
            <a:off x="4507992" y="4206240"/>
            <a:ext cx="3044952" cy="1554480"/>
          </a:xfrm>
          <a:prstGeom prst="rect">
            <a:avLst/>
          </a:prstGeom>
          <a:noFill/>
        </p:spPr>
        <p:txBody>
          <a:bodyPr wrap="square" anchor="t" lIns="0" rIns="0" tIns="0" bIns="0">
            <a:spAutoFit/>
          </a:bodyPr>
          <a:lstStyle/>
          <a:p>
            <a:pPr algn="l">
              <a:spcBef>
                <a:spcPts val="0"/>
              </a:spcBef>
              <a:spcAft>
                <a:spcPts val="600"/>
              </a:spcAft>
            </a:pPr>
            <a:r>
              <a:rPr sz="1900" b="1">
                <a:solidFill>
                  <a:srgbClr val="09131B"/>
                </a:solidFill>
                <a:latin typeface="Calibri"/>
              </a:rPr>
              <a:t>Automation</a:t>
            </a:r>
          </a:p>
          <a:p>
            <a:pPr algn="l">
              <a:spcBef>
                <a:spcPts val="0"/>
              </a:spcBef>
              <a:spcAft>
                <a:spcPts val="0"/>
              </a:spcAft>
            </a:pPr>
            <a:r>
              <a:rPr sz="1200" b="0">
                <a:solidFill>
                  <a:srgbClr val="595959"/>
                </a:solidFill>
                <a:latin typeface="Calibri"/>
              </a:rPr>
              <a:t>30/60/90 renewal reminders · request↔catalogue sync · PII/PHI auto-classification · duplicate detection.</a:t>
            </a:r>
          </a:p>
        </p:txBody>
      </p:sp>
      <p:sp>
        <p:nvSpPr>
          <p:cNvPr id="30" name="Rounded Rectangle 29"/>
          <p:cNvSpPr/>
          <p:nvPr/>
        </p:nvSpPr>
        <p:spPr>
          <a:xfrm>
            <a:off x="7872984" y="3246120"/>
            <a:ext cx="3502152" cy="26517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872984" y="3246120"/>
            <a:ext cx="3502152" cy="128016"/>
          </a:xfrm>
          <a:prstGeom prst="roundRect">
            <a:avLst>
              <a:gd name="adj" fmla="val 50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01584" y="3566160"/>
            <a:ext cx="457200" cy="457200"/>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01584" y="3566160"/>
            <a:ext cx="457200" cy="457200"/>
          </a:xfrm>
          <a:prstGeom prst="rect">
            <a:avLst/>
          </a:prstGeom>
          <a:noFill/>
        </p:spPr>
        <p:txBody>
          <a:bodyPr wrap="square" anchor="ctr" lIns="0" rIns="0" tIns="0" bIns="0">
            <a:spAutoFit/>
          </a:bodyPr>
          <a:lstStyle/>
          <a:p>
            <a:pPr algn="ctr">
              <a:spcBef>
                <a:spcPts val="0"/>
              </a:spcBef>
              <a:spcAft>
                <a:spcPts val="0"/>
              </a:spcAft>
            </a:pPr>
            <a:r>
              <a:rPr sz="1400" b="1">
                <a:solidFill>
                  <a:srgbClr val="FFFFFF"/>
                </a:solidFill>
                <a:latin typeface="Calibri"/>
              </a:rPr>
              <a:t>03</a:t>
            </a:r>
          </a:p>
        </p:txBody>
      </p:sp>
      <p:sp>
        <p:nvSpPr>
          <p:cNvPr id="34" name="TextBox 33"/>
          <p:cNvSpPr txBox="1"/>
          <p:nvPr/>
        </p:nvSpPr>
        <p:spPr>
          <a:xfrm>
            <a:off x="8101584" y="4206240"/>
            <a:ext cx="3044952" cy="1554480"/>
          </a:xfrm>
          <a:prstGeom prst="rect">
            <a:avLst/>
          </a:prstGeom>
          <a:noFill/>
        </p:spPr>
        <p:txBody>
          <a:bodyPr wrap="square" anchor="t" lIns="0" rIns="0" tIns="0" bIns="0">
            <a:spAutoFit/>
          </a:bodyPr>
          <a:lstStyle/>
          <a:p>
            <a:pPr algn="l">
              <a:spcBef>
                <a:spcPts val="0"/>
              </a:spcBef>
              <a:spcAft>
                <a:spcPts val="600"/>
              </a:spcAft>
            </a:pPr>
            <a:r>
              <a:rPr sz="1900" b="1">
                <a:solidFill>
                  <a:srgbClr val="09131B"/>
                </a:solidFill>
                <a:latin typeface="Calibri"/>
              </a:rPr>
              <a:t>Intelligence</a:t>
            </a:r>
          </a:p>
          <a:p>
            <a:pPr algn="l">
              <a:spcBef>
                <a:spcPts val="0"/>
              </a:spcBef>
              <a:spcAft>
                <a:spcPts val="0"/>
              </a:spcAft>
            </a:pPr>
            <a:r>
              <a:rPr sz="1200" b="0">
                <a:solidFill>
                  <a:srgbClr val="595959"/>
                </a:solidFill>
                <a:latin typeface="Calibri"/>
              </a:rPr>
              <a:t>Cross-tool signals · renewal prediction · vendor value analytics · natural-language Ask Atlas.</a:t>
            </a:r>
          </a:p>
        </p:txBody>
      </p:sp>
      <p:sp>
        <p:nvSpPr>
          <p:cNvPr id="35" name="Rectangle 34"/>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Executive summary  ·  Illustrative prototype, synthetic data  ·  Confidential</a:t>
            </a:r>
          </a:p>
        </p:txBody>
      </p:sp>
      <p:sp>
        <p:nvSpPr>
          <p:cNvPr id="37" name="TextBox 36"/>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INSIDE THE PLATFORM</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Every tool keeps its as-is job and now carries automation, intelligence, dashboards and Ask Atlas</a:t>
            </a:r>
          </a:p>
        </p:txBody>
      </p:sp>
      <p:sp>
        <p:nvSpPr>
          <p:cNvPr id="5" name="Rounded Rectangle 4"/>
          <p:cNvSpPr/>
          <p:nvPr/>
        </p:nvSpPr>
        <p:spPr>
          <a:xfrm>
            <a:off x="685800" y="1783080"/>
            <a:ext cx="10820095" cy="74980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975104"/>
            <a:ext cx="384048" cy="384048"/>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75104"/>
            <a:ext cx="384048" cy="384048"/>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1</a:t>
            </a:r>
          </a:p>
        </p:txBody>
      </p:sp>
      <p:sp>
        <p:nvSpPr>
          <p:cNvPr id="8" name="TextBox 7"/>
          <p:cNvSpPr txBox="1"/>
          <p:nvPr/>
        </p:nvSpPr>
        <p:spPr>
          <a:xfrm>
            <a:off x="1463040" y="1883664"/>
            <a:ext cx="3108960" cy="566928"/>
          </a:xfrm>
          <a:prstGeom prst="rect">
            <a:avLst/>
          </a:prstGeom>
          <a:noFill/>
        </p:spPr>
        <p:txBody>
          <a:bodyPr wrap="square" anchor="ctr" lIns="0" rIns="0" tIns="0" bIns="0">
            <a:spAutoFit/>
          </a:bodyPr>
          <a:lstStyle/>
          <a:p>
            <a:pPr algn="l">
              <a:spcBef>
                <a:spcPts val="0"/>
              </a:spcBef>
              <a:spcAft>
                <a:spcPts val="0"/>
              </a:spcAft>
            </a:pPr>
            <a:r>
              <a:rPr sz="1350" b="1">
                <a:solidFill>
                  <a:srgbClr val="09131B"/>
                </a:solidFill>
                <a:latin typeface="Calibri"/>
              </a:rPr>
              <a:t>Data Requests (DPRH)</a:t>
            </a:r>
          </a:p>
        </p:txBody>
      </p:sp>
      <p:sp>
        <p:nvSpPr>
          <p:cNvPr id="9" name="TextBox 8"/>
          <p:cNvSpPr txBox="1"/>
          <p:nvPr/>
        </p:nvSpPr>
        <p:spPr>
          <a:xfrm>
            <a:off x="4617720" y="1883664"/>
            <a:ext cx="3200400" cy="566928"/>
          </a:xfrm>
          <a:prstGeom prst="rect">
            <a:avLst/>
          </a:prstGeom>
          <a:noFill/>
        </p:spPr>
        <p:txBody>
          <a:bodyPr wrap="square" anchor="ctr" lIns="0" rIns="0" tIns="0" bIns="0">
            <a:spAutoFit/>
          </a:bodyPr>
          <a:lstStyle/>
          <a:p>
            <a:pPr algn="l">
              <a:spcBef>
                <a:spcPts val="0"/>
              </a:spcBef>
              <a:spcAft>
                <a:spcPts val="0"/>
              </a:spcAft>
            </a:pPr>
            <a:r>
              <a:rPr sz="1080" b="0">
                <a:solidFill>
                  <a:srgbClr val="595959"/>
                </a:solidFill>
                <a:latin typeface="Calibri"/>
              </a:rPr>
              <a:t>Status-driven, role-gated form; auto-routed on submit.</a:t>
            </a:r>
          </a:p>
        </p:txBody>
      </p:sp>
      <p:sp>
        <p:nvSpPr>
          <p:cNvPr id="10" name="TextBox 9"/>
          <p:cNvSpPr txBox="1"/>
          <p:nvPr/>
        </p:nvSpPr>
        <p:spPr>
          <a:xfrm>
            <a:off x="7955280" y="1883664"/>
            <a:ext cx="3520440" cy="566928"/>
          </a:xfrm>
          <a:prstGeom prst="rect">
            <a:avLst/>
          </a:prstGeom>
          <a:noFill/>
        </p:spPr>
        <p:txBody>
          <a:bodyPr wrap="square" anchor="ctr" lIns="0" rIns="0" tIns="0" bIns="0">
            <a:spAutoFit/>
          </a:bodyPr>
          <a:lstStyle/>
          <a:p>
            <a:pPr algn="l">
              <a:spcBef>
                <a:spcPts val="0"/>
              </a:spcBef>
              <a:spcAft>
                <a:spcPts val="0"/>
              </a:spcAft>
            </a:pPr>
            <a:r>
              <a:rPr sz="950" b="1">
                <a:solidFill>
                  <a:srgbClr val="9A5C12"/>
                </a:solidFill>
                <a:latin typeface="Calibri"/>
              </a:rPr>
              <a:t>Auto-status · duplicate detection (AI) · dashboard · Ask Atlas</a:t>
            </a:r>
          </a:p>
        </p:txBody>
      </p:sp>
      <p:sp>
        <p:nvSpPr>
          <p:cNvPr id="11" name="Rounded Rectangle 10"/>
          <p:cNvSpPr/>
          <p:nvPr/>
        </p:nvSpPr>
        <p:spPr>
          <a:xfrm>
            <a:off x="685800" y="2642616"/>
            <a:ext cx="10820095" cy="74980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2834640"/>
            <a:ext cx="384048" cy="384048"/>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834640"/>
            <a:ext cx="384048" cy="384048"/>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2</a:t>
            </a:r>
          </a:p>
        </p:txBody>
      </p:sp>
      <p:sp>
        <p:nvSpPr>
          <p:cNvPr id="14" name="TextBox 13"/>
          <p:cNvSpPr txBox="1"/>
          <p:nvPr/>
        </p:nvSpPr>
        <p:spPr>
          <a:xfrm>
            <a:off x="1463040" y="2743200"/>
            <a:ext cx="3108960" cy="566928"/>
          </a:xfrm>
          <a:prstGeom prst="rect">
            <a:avLst/>
          </a:prstGeom>
          <a:noFill/>
        </p:spPr>
        <p:txBody>
          <a:bodyPr wrap="square" anchor="ctr" lIns="0" rIns="0" tIns="0" bIns="0">
            <a:spAutoFit/>
          </a:bodyPr>
          <a:lstStyle/>
          <a:p>
            <a:pPr algn="l">
              <a:spcBef>
                <a:spcPts val="0"/>
              </a:spcBef>
              <a:spcAft>
                <a:spcPts val="0"/>
              </a:spcAft>
            </a:pPr>
            <a:r>
              <a:rPr sz="1350" b="1">
                <a:solidFill>
                  <a:srgbClr val="09131B"/>
                </a:solidFill>
                <a:latin typeface="Calibri"/>
              </a:rPr>
              <a:t>Data Catalogue</a:t>
            </a:r>
          </a:p>
        </p:txBody>
      </p:sp>
      <p:sp>
        <p:nvSpPr>
          <p:cNvPr id="15" name="TextBox 14"/>
          <p:cNvSpPr txBox="1"/>
          <p:nvPr/>
        </p:nvSpPr>
        <p:spPr>
          <a:xfrm>
            <a:off x="4617720" y="2743200"/>
            <a:ext cx="3200400" cy="566928"/>
          </a:xfrm>
          <a:prstGeom prst="rect">
            <a:avLst/>
          </a:prstGeom>
          <a:noFill/>
        </p:spPr>
        <p:txBody>
          <a:bodyPr wrap="square" anchor="ctr" lIns="0" rIns="0" tIns="0" bIns="0">
            <a:spAutoFit/>
          </a:bodyPr>
          <a:lstStyle/>
          <a:p>
            <a:pPr algn="l">
              <a:spcBef>
                <a:spcPts val="0"/>
              </a:spcBef>
              <a:spcAft>
                <a:spcPts val="0"/>
              </a:spcAft>
            </a:pPr>
            <a:r>
              <a:rPr sz="1080" b="0">
                <a:solidFill>
                  <a:srgbClr val="595959"/>
                </a:solidFill>
                <a:latin typeface="Calibri"/>
              </a:rPr>
              <a:t>System of record — asset profile, quality, sensitivity.</a:t>
            </a:r>
          </a:p>
        </p:txBody>
      </p:sp>
      <p:sp>
        <p:nvSpPr>
          <p:cNvPr id="16" name="TextBox 15"/>
          <p:cNvSpPr txBox="1"/>
          <p:nvPr/>
        </p:nvSpPr>
        <p:spPr>
          <a:xfrm>
            <a:off x="7955280" y="2743200"/>
            <a:ext cx="3520440" cy="566928"/>
          </a:xfrm>
          <a:prstGeom prst="rect">
            <a:avLst/>
          </a:prstGeom>
          <a:noFill/>
        </p:spPr>
        <p:txBody>
          <a:bodyPr wrap="square" anchor="ctr" lIns="0" rIns="0" tIns="0" bIns="0">
            <a:spAutoFit/>
          </a:bodyPr>
          <a:lstStyle/>
          <a:p>
            <a:pPr algn="l">
              <a:spcBef>
                <a:spcPts val="0"/>
              </a:spcBef>
              <a:spcAft>
                <a:spcPts val="0"/>
              </a:spcAft>
            </a:pPr>
            <a:r>
              <a:rPr sz="950" b="1">
                <a:solidFill>
                  <a:srgbClr val="9A5C12"/>
                </a:solidFill>
                <a:latin typeface="Calibri"/>
              </a:rPr>
              <a:t>PII/PHI auto-classify · quality flags (AI) · Ask Atlas</a:t>
            </a:r>
          </a:p>
        </p:txBody>
      </p:sp>
      <p:sp>
        <p:nvSpPr>
          <p:cNvPr id="17" name="Rounded Rectangle 16"/>
          <p:cNvSpPr/>
          <p:nvPr/>
        </p:nvSpPr>
        <p:spPr>
          <a:xfrm>
            <a:off x="685800" y="3502152"/>
            <a:ext cx="10820095" cy="74980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3694176"/>
            <a:ext cx="384048" cy="384048"/>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694176"/>
            <a:ext cx="384048" cy="384048"/>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3</a:t>
            </a:r>
          </a:p>
        </p:txBody>
      </p:sp>
      <p:sp>
        <p:nvSpPr>
          <p:cNvPr id="20" name="TextBox 19"/>
          <p:cNvSpPr txBox="1"/>
          <p:nvPr/>
        </p:nvSpPr>
        <p:spPr>
          <a:xfrm>
            <a:off x="1463040" y="3602736"/>
            <a:ext cx="3108960" cy="566928"/>
          </a:xfrm>
          <a:prstGeom prst="rect">
            <a:avLst/>
          </a:prstGeom>
          <a:noFill/>
        </p:spPr>
        <p:txBody>
          <a:bodyPr wrap="square" anchor="ctr" lIns="0" rIns="0" tIns="0" bIns="0">
            <a:spAutoFit/>
          </a:bodyPr>
          <a:lstStyle/>
          <a:p>
            <a:pPr algn="l">
              <a:spcBef>
                <a:spcPts val="0"/>
              </a:spcBef>
              <a:spcAft>
                <a:spcPts val="0"/>
              </a:spcAft>
            </a:pPr>
            <a:r>
              <a:rPr sz="1350" b="1">
                <a:solidFill>
                  <a:srgbClr val="09131B"/>
                </a:solidFill>
                <a:latin typeface="Calibri"/>
              </a:rPr>
              <a:t>KPI Catalogue</a:t>
            </a:r>
          </a:p>
        </p:txBody>
      </p:sp>
      <p:sp>
        <p:nvSpPr>
          <p:cNvPr id="21" name="TextBox 20"/>
          <p:cNvSpPr txBox="1"/>
          <p:nvPr/>
        </p:nvSpPr>
        <p:spPr>
          <a:xfrm>
            <a:off x="4617720" y="3602736"/>
            <a:ext cx="3200400" cy="566928"/>
          </a:xfrm>
          <a:prstGeom prst="rect">
            <a:avLst/>
          </a:prstGeom>
          <a:noFill/>
        </p:spPr>
        <p:txBody>
          <a:bodyPr wrap="square" anchor="ctr" lIns="0" rIns="0" tIns="0" bIns="0">
            <a:spAutoFit/>
          </a:bodyPr>
          <a:lstStyle/>
          <a:p>
            <a:pPr algn="l">
              <a:spcBef>
                <a:spcPts val="0"/>
              </a:spcBef>
              <a:spcAft>
                <a:spcPts val="0"/>
              </a:spcAft>
            </a:pPr>
            <a:r>
              <a:rPr sz="1080" b="0">
                <a:solidFill>
                  <a:srgbClr val="595959"/>
                </a:solidFill>
                <a:latin typeface="Calibri"/>
              </a:rPr>
              <a:t>Every metric, with lineage to its source asset.</a:t>
            </a:r>
          </a:p>
        </p:txBody>
      </p:sp>
      <p:sp>
        <p:nvSpPr>
          <p:cNvPr id="22" name="TextBox 21"/>
          <p:cNvSpPr txBox="1"/>
          <p:nvPr/>
        </p:nvSpPr>
        <p:spPr>
          <a:xfrm>
            <a:off x="7955280" y="3602736"/>
            <a:ext cx="3520440" cy="566928"/>
          </a:xfrm>
          <a:prstGeom prst="rect">
            <a:avLst/>
          </a:prstGeom>
          <a:noFill/>
        </p:spPr>
        <p:txBody>
          <a:bodyPr wrap="square" anchor="ctr" lIns="0" rIns="0" tIns="0" bIns="0">
            <a:spAutoFit/>
          </a:bodyPr>
          <a:lstStyle/>
          <a:p>
            <a:pPr algn="l">
              <a:spcBef>
                <a:spcPts val="0"/>
              </a:spcBef>
              <a:spcAft>
                <a:spcPts val="0"/>
              </a:spcAft>
            </a:pPr>
            <a:r>
              <a:rPr sz="950" b="1">
                <a:solidFill>
                  <a:srgbClr val="9A5C12"/>
                </a:solidFill>
                <a:latin typeface="Calibri"/>
              </a:rPr>
              <a:t>Lineage auto-resolve · source quality-risk (AI) · Ask Atlas</a:t>
            </a:r>
          </a:p>
        </p:txBody>
      </p:sp>
      <p:sp>
        <p:nvSpPr>
          <p:cNvPr id="23" name="Rounded Rectangle 22"/>
          <p:cNvSpPr/>
          <p:nvPr/>
        </p:nvSpPr>
        <p:spPr>
          <a:xfrm>
            <a:off x="685800" y="4361688"/>
            <a:ext cx="10820095" cy="74980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8680" y="4553712"/>
            <a:ext cx="384048" cy="384048"/>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553712"/>
            <a:ext cx="384048" cy="384048"/>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4</a:t>
            </a:r>
          </a:p>
        </p:txBody>
      </p:sp>
      <p:sp>
        <p:nvSpPr>
          <p:cNvPr id="26" name="TextBox 25"/>
          <p:cNvSpPr txBox="1"/>
          <p:nvPr/>
        </p:nvSpPr>
        <p:spPr>
          <a:xfrm>
            <a:off x="1463040" y="4462272"/>
            <a:ext cx="3108960" cy="566928"/>
          </a:xfrm>
          <a:prstGeom prst="rect">
            <a:avLst/>
          </a:prstGeom>
          <a:noFill/>
        </p:spPr>
        <p:txBody>
          <a:bodyPr wrap="square" anchor="ctr" lIns="0" rIns="0" tIns="0" bIns="0">
            <a:spAutoFit/>
          </a:bodyPr>
          <a:lstStyle/>
          <a:p>
            <a:pPr algn="l">
              <a:spcBef>
                <a:spcPts val="0"/>
              </a:spcBef>
              <a:spcAft>
                <a:spcPts val="0"/>
              </a:spcAft>
            </a:pPr>
            <a:r>
              <a:rPr sz="1350" b="1">
                <a:solidFill>
                  <a:srgbClr val="09131B"/>
                </a:solidFill>
                <a:latin typeface="Calibri"/>
              </a:rPr>
              <a:t>Vendor Hub</a:t>
            </a:r>
          </a:p>
        </p:txBody>
      </p:sp>
      <p:sp>
        <p:nvSpPr>
          <p:cNvPr id="27" name="TextBox 26"/>
          <p:cNvSpPr txBox="1"/>
          <p:nvPr/>
        </p:nvSpPr>
        <p:spPr>
          <a:xfrm>
            <a:off x="4617720" y="4462272"/>
            <a:ext cx="3200400" cy="566928"/>
          </a:xfrm>
          <a:prstGeom prst="rect">
            <a:avLst/>
          </a:prstGeom>
          <a:noFill/>
        </p:spPr>
        <p:txBody>
          <a:bodyPr wrap="square" anchor="ctr" lIns="0" rIns="0" tIns="0" bIns="0">
            <a:spAutoFit/>
          </a:bodyPr>
          <a:lstStyle/>
          <a:p>
            <a:pPr algn="l">
              <a:spcBef>
                <a:spcPts val="0"/>
              </a:spcBef>
              <a:spcAft>
                <a:spcPts val="0"/>
              </a:spcAft>
            </a:pPr>
            <a:r>
              <a:rPr sz="1080" b="0">
                <a:solidFill>
                  <a:srgbClr val="595959"/>
                </a:solidFill>
                <a:latin typeface="Calibri"/>
              </a:rPr>
              <a:t>Vendor inventory — purchased vs available.</a:t>
            </a:r>
          </a:p>
        </p:txBody>
      </p:sp>
      <p:sp>
        <p:nvSpPr>
          <p:cNvPr id="28" name="TextBox 27"/>
          <p:cNvSpPr txBox="1"/>
          <p:nvPr/>
        </p:nvSpPr>
        <p:spPr>
          <a:xfrm>
            <a:off x="7955280" y="4462272"/>
            <a:ext cx="3520440" cy="566928"/>
          </a:xfrm>
          <a:prstGeom prst="rect">
            <a:avLst/>
          </a:prstGeom>
          <a:noFill/>
        </p:spPr>
        <p:txBody>
          <a:bodyPr wrap="square" anchor="ctr" lIns="0" rIns="0" tIns="0" bIns="0">
            <a:spAutoFit/>
          </a:bodyPr>
          <a:lstStyle/>
          <a:p>
            <a:pPr algn="l">
              <a:spcBef>
                <a:spcPts val="0"/>
              </a:spcBef>
              <a:spcAft>
                <a:spcPts val="0"/>
              </a:spcAft>
            </a:pPr>
            <a:r>
              <a:rPr sz="950" b="1">
                <a:solidFill>
                  <a:srgbClr val="9A5C12"/>
                </a:solidFill>
                <a:latin typeface="Calibri"/>
              </a:rPr>
              <a:t>Rollups · Vendor Hub Plus value &amp; HHI (AI) · Ask Atlas</a:t>
            </a:r>
          </a:p>
        </p:txBody>
      </p:sp>
      <p:sp>
        <p:nvSpPr>
          <p:cNvPr id="29" name="Rounded Rectangle 28"/>
          <p:cNvSpPr/>
          <p:nvPr/>
        </p:nvSpPr>
        <p:spPr>
          <a:xfrm>
            <a:off x="685800" y="5221224"/>
            <a:ext cx="10820095" cy="74980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68680" y="5413248"/>
            <a:ext cx="384048" cy="384048"/>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413248"/>
            <a:ext cx="384048" cy="384048"/>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5</a:t>
            </a:r>
          </a:p>
        </p:txBody>
      </p:sp>
      <p:sp>
        <p:nvSpPr>
          <p:cNvPr id="32" name="TextBox 31"/>
          <p:cNvSpPr txBox="1"/>
          <p:nvPr/>
        </p:nvSpPr>
        <p:spPr>
          <a:xfrm>
            <a:off x="1463040" y="5321808"/>
            <a:ext cx="3108960" cy="566928"/>
          </a:xfrm>
          <a:prstGeom prst="rect">
            <a:avLst/>
          </a:prstGeom>
          <a:noFill/>
        </p:spPr>
        <p:txBody>
          <a:bodyPr wrap="square" anchor="ctr" lIns="0" rIns="0" tIns="0" bIns="0">
            <a:spAutoFit/>
          </a:bodyPr>
          <a:lstStyle/>
          <a:p>
            <a:pPr algn="l">
              <a:spcBef>
                <a:spcPts val="0"/>
              </a:spcBef>
              <a:spcAft>
                <a:spcPts val="0"/>
              </a:spcAft>
            </a:pPr>
            <a:r>
              <a:rPr sz="1350" b="1">
                <a:solidFill>
                  <a:srgbClr val="09131B"/>
                </a:solidFill>
                <a:latin typeface="Calibri"/>
              </a:rPr>
              <a:t>TPA Hub</a:t>
            </a:r>
          </a:p>
        </p:txBody>
      </p:sp>
      <p:sp>
        <p:nvSpPr>
          <p:cNvPr id="33" name="TextBox 32"/>
          <p:cNvSpPr txBox="1"/>
          <p:nvPr/>
        </p:nvSpPr>
        <p:spPr>
          <a:xfrm>
            <a:off x="4617720" y="5321808"/>
            <a:ext cx="3200400" cy="566928"/>
          </a:xfrm>
          <a:prstGeom prst="rect">
            <a:avLst/>
          </a:prstGeom>
          <a:noFill/>
        </p:spPr>
        <p:txBody>
          <a:bodyPr wrap="square" anchor="ctr" lIns="0" rIns="0" tIns="0" bIns="0">
            <a:spAutoFit/>
          </a:bodyPr>
          <a:lstStyle/>
          <a:p>
            <a:pPr algn="l">
              <a:spcBef>
                <a:spcPts val="0"/>
              </a:spcBef>
              <a:spcAft>
                <a:spcPts val="0"/>
              </a:spcAft>
            </a:pPr>
            <a:r>
              <a:rPr sz="1080" b="0">
                <a:solidFill>
                  <a:srgbClr val="595959"/>
                </a:solidFill>
                <a:latin typeface="Calibri"/>
              </a:rPr>
              <a:t>Agreement register with a live expiry engine.</a:t>
            </a:r>
          </a:p>
        </p:txBody>
      </p:sp>
      <p:sp>
        <p:nvSpPr>
          <p:cNvPr id="34" name="TextBox 33"/>
          <p:cNvSpPr txBox="1"/>
          <p:nvPr/>
        </p:nvSpPr>
        <p:spPr>
          <a:xfrm>
            <a:off x="7955280" y="5321808"/>
            <a:ext cx="3520440" cy="566928"/>
          </a:xfrm>
          <a:prstGeom prst="rect">
            <a:avLst/>
          </a:prstGeom>
          <a:noFill/>
        </p:spPr>
        <p:txBody>
          <a:bodyPr wrap="square" anchor="ctr" lIns="0" rIns="0" tIns="0" bIns="0">
            <a:spAutoFit/>
          </a:bodyPr>
          <a:lstStyle/>
          <a:p>
            <a:pPr algn="l">
              <a:spcBef>
                <a:spcPts val="0"/>
              </a:spcBef>
              <a:spcAft>
                <a:spcPts val="0"/>
              </a:spcAft>
            </a:pPr>
            <a:r>
              <a:rPr sz="950" b="1">
                <a:solidFill>
                  <a:srgbClr val="9A5C12"/>
                </a:solidFill>
                <a:latin typeface="Calibri"/>
              </a:rPr>
              <a:t>30/60/90 reminders · renewal prediction (AI) · dashboard</a:t>
            </a:r>
          </a:p>
        </p:txBody>
      </p:sp>
      <p:sp>
        <p:nvSpPr>
          <p:cNvPr id="35" name="Rectangle 34"/>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Executive summary  ·  Illustrative prototype, synthetic data  ·  Confidential</a:t>
            </a:r>
          </a:p>
        </p:txBody>
      </p:sp>
      <p:sp>
        <p:nvSpPr>
          <p:cNvPr id="37" name="TextBox 36"/>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THE DIFFERENTIATOR</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FFFFFF"/>
                </a:solidFill>
                <a:latin typeface="Calibri"/>
              </a:rPr>
              <a:t>Vendor Hub Plus — the value layer</a:t>
            </a:r>
          </a:p>
        </p:txBody>
      </p:sp>
      <p:sp>
        <p:nvSpPr>
          <p:cNvPr id="5" name="TextBox 4"/>
          <p:cNvSpPr txBox="1"/>
          <p:nvPr/>
        </p:nvSpPr>
        <p:spPr>
          <a:xfrm>
            <a:off x="685800" y="1481328"/>
            <a:ext cx="10820095" cy="457200"/>
          </a:xfrm>
          <a:prstGeom prst="rect">
            <a:avLst/>
          </a:prstGeom>
          <a:noFill/>
        </p:spPr>
        <p:txBody>
          <a:bodyPr wrap="square" anchor="t" lIns="0" rIns="0" tIns="0" bIns="0">
            <a:spAutoFit/>
          </a:bodyPr>
          <a:lstStyle/>
          <a:p>
            <a:pPr algn="l">
              <a:spcBef>
                <a:spcPts val="0"/>
              </a:spcBef>
              <a:spcAft>
                <a:spcPts val="0"/>
              </a:spcAft>
            </a:pPr>
            <a:r>
              <a:rPr sz="1450" b="0">
                <a:solidFill>
                  <a:srgbClr val="A9AFB6"/>
                </a:solidFill>
                <a:latin typeface="Calibri"/>
              </a:rPr>
              <a:t>The same inventory, rolled up into the five things a vendor decision actually needs.</a:t>
            </a:r>
          </a:p>
        </p:txBody>
      </p:sp>
      <p:sp>
        <p:nvSpPr>
          <p:cNvPr id="6" name="Rounded Rectangle 5"/>
          <p:cNvSpPr/>
          <p:nvPr/>
        </p:nvSpPr>
        <p:spPr>
          <a:xfrm>
            <a:off x="68580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14016"/>
            <a:ext cx="402336" cy="402336"/>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1</a:t>
            </a:r>
          </a:p>
        </p:txBody>
      </p:sp>
      <p:sp>
        <p:nvSpPr>
          <p:cNvPr id="9" name="TextBox 8"/>
          <p:cNvSpPr txBox="1"/>
          <p:nvPr/>
        </p:nvSpPr>
        <p:spPr>
          <a:xfrm>
            <a:off x="868680" y="3017520"/>
            <a:ext cx="1737360" cy="1828800"/>
          </a:xfrm>
          <a:prstGeom prst="rect">
            <a:avLst/>
          </a:prstGeom>
          <a:noFill/>
        </p:spPr>
        <p:txBody>
          <a:bodyPr wrap="square" anchor="t" lIns="0" rIns="0" tIns="0" bIns="0">
            <a:spAutoFit/>
          </a:bodyPr>
          <a:lstStyle/>
          <a:p>
            <a:pPr algn="l">
              <a:spcBef>
                <a:spcPts val="0"/>
              </a:spcBef>
              <a:spcAft>
                <a:spcPts val="600"/>
              </a:spcAft>
            </a:pPr>
            <a:r>
              <a:rPr sz="1350" b="1">
                <a:solidFill>
                  <a:srgbClr val="FFFFFF"/>
                </a:solidFill>
                <a:latin typeface="Calibri"/>
              </a:rPr>
              <a:t>Quality score</a:t>
            </a:r>
          </a:p>
          <a:p>
            <a:pPr algn="l">
              <a:spcBef>
                <a:spcPts val="0"/>
              </a:spcBef>
              <a:spcAft>
                <a:spcPts val="0"/>
              </a:spcAft>
            </a:pPr>
            <a:r>
              <a:rPr sz="1080" b="0">
                <a:solidFill>
                  <a:srgbClr val="C7CCD3"/>
                </a:solidFill>
                <a:latin typeface="Calibri"/>
              </a:rPr>
              <a:t>Asset Gold/Silver/Bronze rolled up to a composite vendor grade.</a:t>
            </a:r>
          </a:p>
        </p:txBody>
      </p:sp>
      <p:sp>
        <p:nvSpPr>
          <p:cNvPr id="10" name="Rounded Rectangle 9"/>
          <p:cNvSpPr/>
          <p:nvPr/>
        </p:nvSpPr>
        <p:spPr>
          <a:xfrm>
            <a:off x="288036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6324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414016"/>
            <a:ext cx="402336" cy="402336"/>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2</a:t>
            </a:r>
          </a:p>
        </p:txBody>
      </p:sp>
      <p:sp>
        <p:nvSpPr>
          <p:cNvPr id="13" name="TextBox 12"/>
          <p:cNvSpPr txBox="1"/>
          <p:nvPr/>
        </p:nvSpPr>
        <p:spPr>
          <a:xfrm>
            <a:off x="3063240" y="3017520"/>
            <a:ext cx="1737360" cy="1828800"/>
          </a:xfrm>
          <a:prstGeom prst="rect">
            <a:avLst/>
          </a:prstGeom>
          <a:noFill/>
        </p:spPr>
        <p:txBody>
          <a:bodyPr wrap="square" anchor="t" lIns="0" rIns="0" tIns="0" bIns="0">
            <a:spAutoFit/>
          </a:bodyPr>
          <a:lstStyle/>
          <a:p>
            <a:pPr algn="l">
              <a:spcBef>
                <a:spcPts val="0"/>
              </a:spcBef>
              <a:spcAft>
                <a:spcPts val="600"/>
              </a:spcAft>
            </a:pPr>
            <a:r>
              <a:rPr sz="1350" b="1">
                <a:solidFill>
                  <a:srgbClr val="FFFFFF"/>
                </a:solidFill>
                <a:latin typeface="Calibri"/>
              </a:rPr>
              <a:t>Concentration</a:t>
            </a:r>
          </a:p>
          <a:p>
            <a:pPr algn="l">
              <a:spcBef>
                <a:spcPts val="0"/>
              </a:spcBef>
              <a:spcAft>
                <a:spcPts val="0"/>
              </a:spcAft>
            </a:pPr>
            <a:r>
              <a:rPr sz="1080" b="0">
                <a:solidFill>
                  <a:srgbClr val="C7CCD3"/>
                </a:solidFill>
                <a:latin typeface="Calibri"/>
              </a:rPr>
              <a:t>Each vendor's share of spend, with an estate-wide HHI.</a:t>
            </a:r>
          </a:p>
        </p:txBody>
      </p:sp>
      <p:sp>
        <p:nvSpPr>
          <p:cNvPr id="14" name="Rounded Rectangle 13"/>
          <p:cNvSpPr/>
          <p:nvPr/>
        </p:nvSpPr>
        <p:spPr>
          <a:xfrm>
            <a:off x="507492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7800" y="2414016"/>
            <a:ext cx="402336" cy="402336"/>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3</a:t>
            </a:r>
          </a:p>
        </p:txBody>
      </p:sp>
      <p:sp>
        <p:nvSpPr>
          <p:cNvPr id="17" name="TextBox 16"/>
          <p:cNvSpPr txBox="1"/>
          <p:nvPr/>
        </p:nvSpPr>
        <p:spPr>
          <a:xfrm>
            <a:off x="5257800" y="3017520"/>
            <a:ext cx="1737360" cy="1828800"/>
          </a:xfrm>
          <a:prstGeom prst="rect">
            <a:avLst/>
          </a:prstGeom>
          <a:noFill/>
        </p:spPr>
        <p:txBody>
          <a:bodyPr wrap="square" anchor="t" lIns="0" rIns="0" tIns="0" bIns="0">
            <a:spAutoFit/>
          </a:bodyPr>
          <a:lstStyle/>
          <a:p>
            <a:pPr algn="l">
              <a:spcBef>
                <a:spcPts val="0"/>
              </a:spcBef>
              <a:spcAft>
                <a:spcPts val="600"/>
              </a:spcAft>
            </a:pPr>
            <a:r>
              <a:rPr sz="1350" b="1">
                <a:solidFill>
                  <a:srgbClr val="FFFFFF"/>
                </a:solidFill>
                <a:latin typeface="Calibri"/>
              </a:rPr>
              <a:t>Irreplaceability</a:t>
            </a:r>
          </a:p>
          <a:p>
            <a:pPr algn="l">
              <a:spcBef>
                <a:spcPts val="0"/>
              </a:spcBef>
              <a:spcAft>
                <a:spcPts val="0"/>
              </a:spcAft>
            </a:pPr>
            <a:r>
              <a:rPr sz="1080" b="0">
                <a:solidFill>
                  <a:srgbClr val="C7CCD3"/>
                </a:solidFill>
                <a:latin typeface="Calibri"/>
              </a:rPr>
              <a:t>What breaks if a vendor walks — assets and KPIs at stake vs substitutes.</a:t>
            </a:r>
          </a:p>
        </p:txBody>
      </p:sp>
      <p:sp>
        <p:nvSpPr>
          <p:cNvPr id="18" name="Rounded Rectangle 17"/>
          <p:cNvSpPr/>
          <p:nvPr/>
        </p:nvSpPr>
        <p:spPr>
          <a:xfrm>
            <a:off x="726948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5236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414016"/>
            <a:ext cx="402336" cy="402336"/>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4</a:t>
            </a:r>
          </a:p>
        </p:txBody>
      </p:sp>
      <p:sp>
        <p:nvSpPr>
          <p:cNvPr id="21" name="TextBox 20"/>
          <p:cNvSpPr txBox="1"/>
          <p:nvPr/>
        </p:nvSpPr>
        <p:spPr>
          <a:xfrm>
            <a:off x="7452360" y="3017520"/>
            <a:ext cx="1737360" cy="1828800"/>
          </a:xfrm>
          <a:prstGeom prst="rect">
            <a:avLst/>
          </a:prstGeom>
          <a:noFill/>
        </p:spPr>
        <p:txBody>
          <a:bodyPr wrap="square" anchor="t" lIns="0" rIns="0" tIns="0" bIns="0">
            <a:spAutoFit/>
          </a:bodyPr>
          <a:lstStyle/>
          <a:p>
            <a:pPr algn="l">
              <a:spcBef>
                <a:spcPts val="0"/>
              </a:spcBef>
              <a:spcAft>
                <a:spcPts val="600"/>
              </a:spcAft>
            </a:pPr>
            <a:r>
              <a:rPr sz="1350" b="1">
                <a:solidFill>
                  <a:srgbClr val="FFFFFF"/>
                </a:solidFill>
                <a:latin typeface="Calibri"/>
              </a:rPr>
              <a:t>Cost-per-quality</a:t>
            </a:r>
          </a:p>
          <a:p>
            <a:pPr algn="l">
              <a:spcBef>
                <a:spcPts val="0"/>
              </a:spcBef>
              <a:spcAft>
                <a:spcPts val="0"/>
              </a:spcAft>
            </a:pPr>
            <a:r>
              <a:rPr sz="1080" b="0">
                <a:solidFill>
                  <a:srgbClr val="C7CCD3"/>
                </a:solidFill>
                <a:latin typeface="Calibri"/>
              </a:rPr>
              <a:t>Spend normalised against quality — overpaying for low-tier data?</a:t>
            </a:r>
          </a:p>
        </p:txBody>
      </p:sp>
      <p:sp>
        <p:nvSpPr>
          <p:cNvPr id="22" name="Rounded Rectangle 21"/>
          <p:cNvSpPr/>
          <p:nvPr/>
        </p:nvSpPr>
        <p:spPr>
          <a:xfrm>
            <a:off x="946404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4692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2414016"/>
            <a:ext cx="402336" cy="402336"/>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5</a:t>
            </a:r>
          </a:p>
        </p:txBody>
      </p:sp>
      <p:sp>
        <p:nvSpPr>
          <p:cNvPr id="25" name="TextBox 24"/>
          <p:cNvSpPr txBox="1"/>
          <p:nvPr/>
        </p:nvSpPr>
        <p:spPr>
          <a:xfrm>
            <a:off x="9646920" y="3017520"/>
            <a:ext cx="1737360" cy="1828800"/>
          </a:xfrm>
          <a:prstGeom prst="rect">
            <a:avLst/>
          </a:prstGeom>
          <a:noFill/>
        </p:spPr>
        <p:txBody>
          <a:bodyPr wrap="square" anchor="t" lIns="0" rIns="0" tIns="0" bIns="0">
            <a:spAutoFit/>
          </a:bodyPr>
          <a:lstStyle/>
          <a:p>
            <a:pPr algn="l">
              <a:spcBef>
                <a:spcPts val="0"/>
              </a:spcBef>
              <a:spcAft>
                <a:spcPts val="600"/>
              </a:spcAft>
            </a:pPr>
            <a:r>
              <a:rPr sz="1350" b="1">
                <a:solidFill>
                  <a:srgbClr val="FFFFFF"/>
                </a:solidFill>
                <a:latin typeface="Calibri"/>
              </a:rPr>
              <a:t>Leverage</a:t>
            </a:r>
          </a:p>
          <a:p>
            <a:pPr algn="l">
              <a:spcBef>
                <a:spcPts val="0"/>
              </a:spcBef>
              <a:spcAft>
                <a:spcPts val="0"/>
              </a:spcAft>
            </a:pPr>
            <a:r>
              <a:rPr sz="1080" b="0">
                <a:solidFill>
                  <a:srgbClr val="C7CCD3"/>
                </a:solidFill>
                <a:latin typeface="Calibri"/>
              </a:rPr>
              <a:t>Purchased vs available as a negotiation lever.</a:t>
            </a:r>
          </a:p>
        </p:txBody>
      </p:sp>
      <p:sp>
        <p:nvSpPr>
          <p:cNvPr id="26" name="TextBox 25"/>
          <p:cNvSpPr txBox="1"/>
          <p:nvPr/>
        </p:nvSpPr>
        <p:spPr>
          <a:xfrm>
            <a:off x="685800" y="5212080"/>
            <a:ext cx="10820095" cy="822960"/>
          </a:xfrm>
          <a:prstGeom prst="rect">
            <a:avLst/>
          </a:prstGeom>
          <a:noFill/>
        </p:spPr>
        <p:txBody>
          <a:bodyPr wrap="square" anchor="t" lIns="0" rIns="0" tIns="0" bIns="0">
            <a:spAutoFit/>
          </a:bodyPr>
          <a:lstStyle/>
          <a:p>
            <a:pPr algn="l">
              <a:spcBef>
                <a:spcPts val="0"/>
              </a:spcBef>
              <a:spcAft>
                <a:spcPts val="400"/>
              </a:spcAft>
            </a:pPr>
            <a:r>
              <a:rPr sz="1300" b="1">
                <a:solidFill>
                  <a:srgbClr val="F89739"/>
                </a:solidFill>
                <a:latin typeface="Calibri"/>
              </a:rPr>
              <a:t>Prototype reads: HHI ≈ 1,825 (moderate) · top two vendors ~50% of spend · a cost-per-quality outlier flagged for renegotiation.</a:t>
            </a:r>
          </a:p>
          <a:p>
            <a:pPr algn="l">
              <a:spcBef>
                <a:spcPts val="0"/>
              </a:spcBef>
              <a:spcAft>
                <a:spcPts val="0"/>
              </a:spcAft>
            </a:pPr>
            <a:r>
              <a:rPr sz="1150" b="0">
                <a:solidFill>
                  <a:srgbClr val="A9AFB6"/>
                </a:solidFill>
                <a:latin typeface="Calibri"/>
              </a:rPr>
              <a:t>All advisory — it informs the decision; a human makes the call.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THE DECISION LAYER</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Cross-tool signals and a natural-language ask</a:t>
            </a:r>
          </a:p>
        </p:txBody>
      </p:sp>
      <p:sp>
        <p:nvSpPr>
          <p:cNvPr id="5" name="Rounded Rectangle 4"/>
          <p:cNvSpPr/>
          <p:nvPr/>
        </p:nvSpPr>
        <p:spPr>
          <a:xfrm>
            <a:off x="685800" y="1828800"/>
            <a:ext cx="5486400" cy="4023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11680"/>
            <a:ext cx="4937760" cy="457200"/>
          </a:xfrm>
          <a:prstGeom prst="rect">
            <a:avLst/>
          </a:prstGeom>
          <a:noFill/>
        </p:spPr>
        <p:txBody>
          <a:bodyPr wrap="square" anchor="t" lIns="0" rIns="0" tIns="0" bIns="0">
            <a:spAutoFit/>
          </a:bodyPr>
          <a:lstStyle/>
          <a:p>
            <a:pPr algn="l">
              <a:spcBef>
                <a:spcPts val="0"/>
              </a:spcBef>
              <a:spcAft>
                <a:spcPts val="0"/>
              </a:spcAft>
            </a:pPr>
            <a:r>
              <a:rPr sz="1450" b="1">
                <a:solidFill>
                  <a:srgbClr val="09131B"/>
                </a:solidFill>
                <a:latin typeface="Calibri"/>
              </a:rPr>
              <a:t>Signals — ranked by what's at stake</a:t>
            </a:r>
          </a:p>
        </p:txBody>
      </p:sp>
      <p:sp>
        <p:nvSpPr>
          <p:cNvPr id="7" name="Rounded Rectangle 6"/>
          <p:cNvSpPr/>
          <p:nvPr/>
        </p:nvSpPr>
        <p:spPr>
          <a:xfrm>
            <a:off x="960120" y="2560320"/>
            <a:ext cx="109728" cy="713232"/>
          </a:xfrm>
          <a:prstGeom prst="roundRect">
            <a:avLst>
              <a:gd name="adj" fmla="val 50000"/>
            </a:avLst>
          </a:prstGeom>
          <a:solidFill>
            <a:srgbClr val="E84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514600"/>
            <a:ext cx="4754880" cy="822960"/>
          </a:xfrm>
          <a:prstGeom prst="rect">
            <a:avLst/>
          </a:prstGeom>
          <a:noFill/>
        </p:spPr>
        <p:txBody>
          <a:bodyPr wrap="square" anchor="t" lIns="0" rIns="0" tIns="0" bIns="0">
            <a:spAutoFit/>
          </a:bodyPr>
          <a:lstStyle/>
          <a:p>
            <a:pPr algn="l">
              <a:spcBef>
                <a:spcPts val="0"/>
              </a:spcBef>
              <a:spcAft>
                <a:spcPts val="200"/>
              </a:spcAft>
            </a:pPr>
            <a:r>
              <a:rPr sz="1250" b="1">
                <a:solidFill>
                  <a:srgbClr val="09131B"/>
                </a:solidFill>
                <a:latin typeface="Calibri"/>
              </a:rPr>
              <a:t>Agreement at risk feeds a Tier-1 KPI</a:t>
            </a:r>
          </a:p>
          <a:p>
            <a:pPr algn="l">
              <a:spcBef>
                <a:spcPts val="0"/>
              </a:spcBef>
              <a:spcAft>
                <a:spcPts val="0"/>
              </a:spcAft>
            </a:pPr>
            <a:r>
              <a:rPr sz="1100" b="0">
                <a:solidFill>
                  <a:srgbClr val="595959"/>
                </a:solidFill>
                <a:latin typeface="Calibri"/>
              </a:rPr>
              <a:t>Sole source behind New-to-Brand Rx Share expires in ~21 days.</a:t>
            </a:r>
          </a:p>
        </p:txBody>
      </p:sp>
      <p:sp>
        <p:nvSpPr>
          <p:cNvPr id="9" name="Rounded Rectangle 8"/>
          <p:cNvSpPr/>
          <p:nvPr/>
        </p:nvSpPr>
        <p:spPr>
          <a:xfrm>
            <a:off x="960120" y="3383280"/>
            <a:ext cx="109728" cy="713232"/>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337560"/>
            <a:ext cx="4754880" cy="822960"/>
          </a:xfrm>
          <a:prstGeom prst="rect">
            <a:avLst/>
          </a:prstGeom>
          <a:noFill/>
        </p:spPr>
        <p:txBody>
          <a:bodyPr wrap="square" anchor="t" lIns="0" rIns="0" tIns="0" bIns="0">
            <a:spAutoFit/>
          </a:bodyPr>
          <a:lstStyle/>
          <a:p>
            <a:pPr algn="l">
              <a:spcBef>
                <a:spcPts val="0"/>
              </a:spcBef>
              <a:spcAft>
                <a:spcPts val="200"/>
              </a:spcAft>
            </a:pPr>
            <a:r>
              <a:rPr sz="1250" b="1">
                <a:solidFill>
                  <a:srgbClr val="09131B"/>
                </a:solidFill>
                <a:latin typeface="Calibri"/>
              </a:rPr>
              <a:t>Duplicate-buy risk at intake</a:t>
            </a:r>
          </a:p>
          <a:p>
            <a:pPr algn="l">
              <a:spcBef>
                <a:spcPts val="0"/>
              </a:spcBef>
              <a:spcAft>
                <a:spcPts val="0"/>
              </a:spcAft>
            </a:pPr>
            <a:r>
              <a:rPr sz="1100" b="0">
                <a:solidFill>
                  <a:srgbClr val="595959"/>
                </a:solidFill>
                <a:latin typeface="Calibri"/>
              </a:rPr>
              <a:t>A request overlaps a catalogued asset — ~$640K avoidable.</a:t>
            </a:r>
          </a:p>
        </p:txBody>
      </p:sp>
      <p:sp>
        <p:nvSpPr>
          <p:cNvPr id="11" name="Rounded Rectangle 10"/>
          <p:cNvSpPr/>
          <p:nvPr/>
        </p:nvSpPr>
        <p:spPr>
          <a:xfrm>
            <a:off x="960120" y="4206240"/>
            <a:ext cx="109728" cy="713232"/>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160520"/>
            <a:ext cx="4754880" cy="822960"/>
          </a:xfrm>
          <a:prstGeom prst="rect">
            <a:avLst/>
          </a:prstGeom>
          <a:noFill/>
        </p:spPr>
        <p:txBody>
          <a:bodyPr wrap="square" anchor="t" lIns="0" rIns="0" tIns="0" bIns="0">
            <a:spAutoFit/>
          </a:bodyPr>
          <a:lstStyle/>
          <a:p>
            <a:pPr algn="l">
              <a:spcBef>
                <a:spcPts val="0"/>
              </a:spcBef>
              <a:spcAft>
                <a:spcPts val="200"/>
              </a:spcAft>
            </a:pPr>
            <a:r>
              <a:rPr sz="1250" b="1">
                <a:solidFill>
                  <a:srgbClr val="09131B"/>
                </a:solidFill>
                <a:latin typeface="Calibri"/>
              </a:rPr>
              <a:t>Low-quality asset feeds a strategic KPI</a:t>
            </a:r>
          </a:p>
          <a:p>
            <a:pPr algn="l">
              <a:spcBef>
                <a:spcPts val="0"/>
              </a:spcBef>
              <a:spcAft>
                <a:spcPts val="0"/>
              </a:spcAft>
            </a:pPr>
            <a:r>
              <a:rPr sz="1100" b="0">
                <a:solidFill>
                  <a:srgbClr val="595959"/>
                </a:solidFill>
                <a:latin typeface="Calibri"/>
              </a:rPr>
              <a:t>Bronze data behind a Global funnel KPI.</a:t>
            </a:r>
          </a:p>
        </p:txBody>
      </p:sp>
      <p:sp>
        <p:nvSpPr>
          <p:cNvPr id="13" name="Rounded Rectangle 12"/>
          <p:cNvSpPr/>
          <p:nvPr/>
        </p:nvSpPr>
        <p:spPr>
          <a:xfrm>
            <a:off x="960120" y="5029200"/>
            <a:ext cx="109728" cy="713232"/>
          </a:xfrm>
          <a:prstGeom prst="roundRect">
            <a:avLst>
              <a:gd name="adj" fmla="val 50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983480"/>
            <a:ext cx="4754880" cy="822960"/>
          </a:xfrm>
          <a:prstGeom prst="rect">
            <a:avLst/>
          </a:prstGeom>
          <a:noFill/>
        </p:spPr>
        <p:txBody>
          <a:bodyPr wrap="square" anchor="t" lIns="0" rIns="0" tIns="0" bIns="0">
            <a:spAutoFit/>
          </a:bodyPr>
          <a:lstStyle/>
          <a:p>
            <a:pPr algn="l">
              <a:spcBef>
                <a:spcPts val="0"/>
              </a:spcBef>
              <a:spcAft>
                <a:spcPts val="200"/>
              </a:spcAft>
            </a:pPr>
            <a:r>
              <a:rPr sz="1250" b="1">
                <a:solidFill>
                  <a:srgbClr val="09131B"/>
                </a:solidFill>
                <a:latin typeface="Calibri"/>
              </a:rPr>
              <a:t>Vendor concentration</a:t>
            </a:r>
          </a:p>
          <a:p>
            <a:pPr algn="l">
              <a:spcBef>
                <a:spcPts val="0"/>
              </a:spcBef>
              <a:spcAft>
                <a:spcPts val="0"/>
              </a:spcAft>
            </a:pPr>
            <a:r>
              <a:rPr sz="1100" b="0">
                <a:solidFill>
                  <a:srgbClr val="595959"/>
                </a:solidFill>
                <a:latin typeface="Calibri"/>
              </a:rPr>
              <a:t>Top two vendors ~50% of spend; HHI ≈ 1,825.</a:t>
            </a:r>
          </a:p>
        </p:txBody>
      </p:sp>
      <p:sp>
        <p:nvSpPr>
          <p:cNvPr id="15" name="Rounded Rectangle 14"/>
          <p:cNvSpPr/>
          <p:nvPr/>
        </p:nvSpPr>
        <p:spPr>
          <a:xfrm>
            <a:off x="6446520" y="1828800"/>
            <a:ext cx="5029200" cy="4023360"/>
          </a:xfrm>
          <a:prstGeom prst="roundRect">
            <a:avLst>
              <a:gd name="adj" fmla="val 5000"/>
            </a:avLst>
          </a:prstGeom>
          <a:solidFill>
            <a:srgbClr val="0E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2057400"/>
            <a:ext cx="4480560" cy="457200"/>
          </a:xfrm>
          <a:prstGeom prst="rect">
            <a:avLst/>
          </a:prstGeom>
          <a:noFill/>
        </p:spPr>
        <p:txBody>
          <a:bodyPr wrap="square" anchor="t" lIns="0" rIns="0" tIns="0" bIns="0">
            <a:spAutoFit/>
          </a:bodyPr>
          <a:lstStyle/>
          <a:p>
            <a:pPr algn="l">
              <a:spcBef>
                <a:spcPts val="0"/>
              </a:spcBef>
              <a:spcAft>
                <a:spcPts val="0"/>
              </a:spcAft>
            </a:pPr>
            <a:r>
              <a:rPr sz="1200" b="1">
                <a:solidFill>
                  <a:srgbClr val="F89739"/>
                </a:solidFill>
                <a:latin typeface="Calibri"/>
              </a:rPr>
              <a:t>ASK ATLAS</a:t>
            </a:r>
          </a:p>
        </p:txBody>
      </p:sp>
      <p:sp>
        <p:nvSpPr>
          <p:cNvPr id="17" name="Rounded Rectangle 16"/>
          <p:cNvSpPr/>
          <p:nvPr/>
        </p:nvSpPr>
        <p:spPr>
          <a:xfrm>
            <a:off x="6720840" y="2468880"/>
            <a:ext cx="4480560" cy="502920"/>
          </a:xfrm>
          <a:prstGeom prst="roundRect">
            <a:avLst>
              <a:gd name="adj" fmla="val 20000"/>
            </a:avLst>
          </a:prstGeom>
          <a:solidFill>
            <a:srgbClr val="16242E"/>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2468880"/>
            <a:ext cx="4114800" cy="502920"/>
          </a:xfrm>
          <a:prstGeom prst="rect">
            <a:avLst/>
          </a:prstGeom>
          <a:noFill/>
        </p:spPr>
        <p:txBody>
          <a:bodyPr wrap="square" anchor="ctr" lIns="0" rIns="0" tIns="0" bIns="0">
            <a:spAutoFit/>
          </a:bodyPr>
          <a:lstStyle/>
          <a:p>
            <a:pPr algn="l">
              <a:spcBef>
                <a:spcPts val="0"/>
              </a:spcBef>
              <a:spcAft>
                <a:spcPts val="0"/>
              </a:spcAft>
            </a:pPr>
            <a:r>
              <a:rPr sz="1150" b="0">
                <a:solidFill>
                  <a:srgbClr val="C7CCD3"/>
                </a:solidFill>
                <a:latin typeface="Calibri"/>
              </a:rPr>
              <a:t>Which agreements expire soon and feed a Tier-1 KPI?</a:t>
            </a:r>
          </a:p>
        </p:txBody>
      </p:sp>
      <p:sp>
        <p:nvSpPr>
          <p:cNvPr id="19" name="TextBox 18"/>
          <p:cNvSpPr txBox="1"/>
          <p:nvPr/>
        </p:nvSpPr>
        <p:spPr>
          <a:xfrm>
            <a:off x="6720840" y="3200400"/>
            <a:ext cx="4480560" cy="2194560"/>
          </a:xfrm>
          <a:prstGeom prst="rect">
            <a:avLst/>
          </a:prstGeom>
          <a:noFill/>
        </p:spPr>
        <p:txBody>
          <a:bodyPr wrap="square" anchor="t" lIns="0" rIns="0" tIns="0" bIns="0">
            <a:spAutoFit/>
          </a:bodyPr>
          <a:lstStyle/>
          <a:p>
            <a:pPr algn="l">
              <a:spcBef>
                <a:spcPts val="0"/>
              </a:spcBef>
              <a:spcAft>
                <a:spcPts val="1200"/>
              </a:spcAft>
            </a:pPr>
            <a:r>
              <a:rPr sz="1250" b="0">
                <a:solidFill>
                  <a:srgbClr val="E8EAEE"/>
                </a:solidFill>
                <a:latin typeface="Calibri"/>
              </a:rPr>
              <a:t>Atlas answers across all five tools — grounded in the data, with a link straight to the record.</a:t>
            </a:r>
          </a:p>
          <a:p>
            <a:pPr algn="l">
              <a:spcBef>
                <a:spcPts val="0"/>
              </a:spcBef>
              <a:spcAft>
                <a:spcPts val="800"/>
              </a:spcAft>
            </a:pPr>
            <a:r>
              <a:rPr sz="1150" b="0">
                <a:solidFill>
                  <a:srgbClr val="A9AFB6"/>
                </a:solidFill>
                <a:latin typeface="Calibri"/>
              </a:rPr>
              <a:t>Every answer shows its confidence and an advisory cue:</a:t>
            </a:r>
          </a:p>
          <a:p>
            <a:pPr algn="l">
              <a:spcBef>
                <a:spcPts val="0"/>
              </a:spcBef>
              <a:spcAft>
                <a:spcPts val="0"/>
              </a:spcAft>
            </a:pPr>
            <a:r>
              <a:rPr sz="1150" b="1">
                <a:solidFill>
                  <a:srgbClr val="7FD1A8"/>
                </a:solidFill>
                <a:latin typeface="Calibri"/>
              </a:rPr>
              <a:t>"Confidence: High · grounded in source rows · Advisory only — a human approves any action."</a:t>
            </a:r>
          </a:p>
        </p:txBody>
      </p:sp>
      <p:sp>
        <p:nvSpPr>
          <p:cNvPr id="20" name="Rectangle 19"/>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Executive summary  ·  Illustrative prototype, synthetic data  ·  Confidential</a:t>
            </a:r>
          </a:p>
        </p:txBody>
      </p:sp>
      <p:sp>
        <p:nvSpPr>
          <p:cNvPr id="22" name="TextBox 21"/>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BUSINESS VALUE</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Five outcomes leadership can point to</a:t>
            </a:r>
          </a:p>
        </p:txBody>
      </p:sp>
      <p:sp>
        <p:nvSpPr>
          <p:cNvPr id="5" name="Rounded Rectangle 4"/>
          <p:cNvSpPr/>
          <p:nvPr/>
        </p:nvSpPr>
        <p:spPr>
          <a:xfrm>
            <a:off x="685800" y="1828800"/>
            <a:ext cx="534924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86968" y="2103120"/>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20624" cy="420624"/>
          </a:xfrm>
          <a:prstGeom prst="rect">
            <a:avLst/>
          </a:prstGeom>
          <a:noFill/>
        </p:spPr>
        <p:txBody>
          <a:bodyPr wrap="square" anchor="ctr" lIns="0" rIns="0" tIns="0" bIns="0">
            <a:spAutoFit/>
          </a:bodyPr>
          <a:lstStyle/>
          <a:p>
            <a:pPr algn="ctr">
              <a:spcBef>
                <a:spcPts val="0"/>
              </a:spcBef>
              <a:spcAft>
                <a:spcPts val="0"/>
              </a:spcAft>
            </a:pPr>
            <a:r>
              <a:rPr sz="1400" b="1">
                <a:solidFill>
                  <a:srgbClr val="FFFFFF"/>
                </a:solidFill>
                <a:latin typeface="Calibri"/>
              </a:rPr>
              <a:t>1</a:t>
            </a:r>
          </a:p>
        </p:txBody>
      </p:sp>
      <p:sp>
        <p:nvSpPr>
          <p:cNvPr id="8" name="TextBox 7"/>
          <p:cNvSpPr txBox="1"/>
          <p:nvPr/>
        </p:nvSpPr>
        <p:spPr>
          <a:xfrm>
            <a:off x="1554480" y="1975104"/>
            <a:ext cx="2606040" cy="731520"/>
          </a:xfrm>
          <a:prstGeom prst="rect">
            <a:avLst/>
          </a:prstGeom>
          <a:noFill/>
        </p:spPr>
        <p:txBody>
          <a:bodyPr wrap="square" anchor="ctr" lIns="0" rIns="0" tIns="0" bIns="0">
            <a:spAutoFit/>
          </a:bodyPr>
          <a:lstStyle/>
          <a:p>
            <a:pPr algn="l">
              <a:spcBef>
                <a:spcPts val="0"/>
              </a:spcBef>
              <a:spcAft>
                <a:spcPts val="200"/>
              </a:spcAft>
            </a:pPr>
            <a:r>
              <a:rPr sz="1450" b="1">
                <a:solidFill>
                  <a:srgbClr val="09131B"/>
                </a:solidFill>
                <a:latin typeface="Calibri"/>
              </a:rPr>
              <a:t>Stop duplicate spend</a:t>
            </a:r>
          </a:p>
          <a:p>
            <a:pPr algn="l">
              <a:spcBef>
                <a:spcPts val="0"/>
              </a:spcBef>
              <a:spcAft>
                <a:spcPts val="0"/>
              </a:spcAft>
            </a:pPr>
            <a:r>
              <a:rPr sz="1130" b="0">
                <a:solidFill>
                  <a:srgbClr val="595959"/>
                </a:solidFill>
                <a:latin typeface="Calibri"/>
              </a:rPr>
              <a:t>Overlap caught before commitment — direct, recurring savings.</a:t>
            </a:r>
          </a:p>
        </p:txBody>
      </p:sp>
      <p:sp>
        <p:nvSpPr>
          <p:cNvPr id="9" name="TextBox 8"/>
          <p:cNvSpPr txBox="1"/>
          <p:nvPr/>
        </p:nvSpPr>
        <p:spPr>
          <a:xfrm>
            <a:off x="4297680" y="2103120"/>
            <a:ext cx="1554480" cy="411480"/>
          </a:xfrm>
          <a:prstGeom prst="rect">
            <a:avLst/>
          </a:prstGeom>
          <a:noFill/>
        </p:spPr>
        <p:txBody>
          <a:bodyPr wrap="square" anchor="ctr" lIns="0" rIns="0" tIns="0" bIns="0">
            <a:spAutoFit/>
          </a:bodyPr>
          <a:lstStyle/>
          <a:p>
            <a:pPr algn="r">
              <a:spcBef>
                <a:spcPts val="0"/>
              </a:spcBef>
              <a:spcAft>
                <a:spcPts val="0"/>
              </a:spcAft>
            </a:pPr>
            <a:r>
              <a:rPr sz="950" b="1">
                <a:solidFill>
                  <a:srgbClr val="1E7F4F"/>
                </a:solidFill>
                <a:latin typeface="Calibri"/>
              </a:rPr>
              <a:t>PROCUREMENT</a:t>
            </a:r>
          </a:p>
        </p:txBody>
      </p:sp>
      <p:sp>
        <p:nvSpPr>
          <p:cNvPr id="10" name="Rounded Rectangle 9"/>
          <p:cNvSpPr/>
          <p:nvPr/>
        </p:nvSpPr>
        <p:spPr>
          <a:xfrm>
            <a:off x="6309360" y="1828800"/>
            <a:ext cx="534924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10528" y="2103120"/>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2103120"/>
            <a:ext cx="420624" cy="420624"/>
          </a:xfrm>
          <a:prstGeom prst="rect">
            <a:avLst/>
          </a:prstGeom>
          <a:noFill/>
        </p:spPr>
        <p:txBody>
          <a:bodyPr wrap="square" anchor="ctr" lIns="0" rIns="0" tIns="0" bIns="0">
            <a:spAutoFit/>
          </a:bodyPr>
          <a:lstStyle/>
          <a:p>
            <a:pPr algn="ctr">
              <a:spcBef>
                <a:spcPts val="0"/>
              </a:spcBef>
              <a:spcAft>
                <a:spcPts val="0"/>
              </a:spcAft>
            </a:pPr>
            <a:r>
              <a:rPr sz="1400" b="1">
                <a:solidFill>
                  <a:srgbClr val="FFFFFF"/>
                </a:solidFill>
                <a:latin typeface="Calibri"/>
              </a:rPr>
              <a:t>2</a:t>
            </a:r>
          </a:p>
        </p:txBody>
      </p:sp>
      <p:sp>
        <p:nvSpPr>
          <p:cNvPr id="13" name="TextBox 12"/>
          <p:cNvSpPr txBox="1"/>
          <p:nvPr/>
        </p:nvSpPr>
        <p:spPr>
          <a:xfrm>
            <a:off x="7178040" y="1975104"/>
            <a:ext cx="2606040" cy="731520"/>
          </a:xfrm>
          <a:prstGeom prst="rect">
            <a:avLst/>
          </a:prstGeom>
          <a:noFill/>
        </p:spPr>
        <p:txBody>
          <a:bodyPr wrap="square" anchor="ctr" lIns="0" rIns="0" tIns="0" bIns="0">
            <a:spAutoFit/>
          </a:bodyPr>
          <a:lstStyle/>
          <a:p>
            <a:pPr algn="l">
              <a:spcBef>
                <a:spcPts val="0"/>
              </a:spcBef>
              <a:spcAft>
                <a:spcPts val="200"/>
              </a:spcAft>
            </a:pPr>
            <a:r>
              <a:rPr sz="1450" b="1">
                <a:solidFill>
                  <a:srgbClr val="09131B"/>
                </a:solidFill>
                <a:latin typeface="Calibri"/>
              </a:rPr>
              <a:t>Never miss a renewal</a:t>
            </a:r>
          </a:p>
          <a:p>
            <a:pPr algn="l">
              <a:spcBef>
                <a:spcPts val="0"/>
              </a:spcBef>
              <a:spcAft>
                <a:spcPts val="0"/>
              </a:spcAft>
            </a:pPr>
            <a:r>
              <a:rPr sz="1130" b="0">
                <a:solidFill>
                  <a:srgbClr val="595959"/>
                </a:solidFill>
                <a:latin typeface="Calibri"/>
              </a:rPr>
              <a:t>Automated reminders plus impact-aware warnings end lapses.</a:t>
            </a:r>
          </a:p>
        </p:txBody>
      </p:sp>
      <p:sp>
        <p:nvSpPr>
          <p:cNvPr id="14" name="TextBox 13"/>
          <p:cNvSpPr txBox="1"/>
          <p:nvPr/>
        </p:nvSpPr>
        <p:spPr>
          <a:xfrm>
            <a:off x="9921240" y="2103120"/>
            <a:ext cx="1554480" cy="411480"/>
          </a:xfrm>
          <a:prstGeom prst="rect">
            <a:avLst/>
          </a:prstGeom>
          <a:noFill/>
        </p:spPr>
        <p:txBody>
          <a:bodyPr wrap="square" anchor="ctr" lIns="0" rIns="0" tIns="0" bIns="0">
            <a:spAutoFit/>
          </a:bodyPr>
          <a:lstStyle/>
          <a:p>
            <a:pPr algn="r">
              <a:spcBef>
                <a:spcPts val="0"/>
              </a:spcBef>
              <a:spcAft>
                <a:spcPts val="0"/>
              </a:spcAft>
            </a:pPr>
            <a:r>
              <a:rPr sz="950" b="1">
                <a:solidFill>
                  <a:srgbClr val="1E7F4F"/>
                </a:solidFill>
                <a:latin typeface="Calibri"/>
              </a:rPr>
              <a:t>LEGAL / CONTINUITY</a:t>
            </a:r>
          </a:p>
        </p:txBody>
      </p:sp>
      <p:sp>
        <p:nvSpPr>
          <p:cNvPr id="15" name="Rounded Rectangle 14"/>
          <p:cNvSpPr/>
          <p:nvPr/>
        </p:nvSpPr>
        <p:spPr>
          <a:xfrm>
            <a:off x="685800" y="2907792"/>
            <a:ext cx="534924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86968" y="3182112"/>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182112"/>
            <a:ext cx="420624" cy="420624"/>
          </a:xfrm>
          <a:prstGeom prst="rect">
            <a:avLst/>
          </a:prstGeom>
          <a:noFill/>
        </p:spPr>
        <p:txBody>
          <a:bodyPr wrap="square" anchor="ctr" lIns="0" rIns="0" tIns="0" bIns="0">
            <a:spAutoFit/>
          </a:bodyPr>
          <a:lstStyle/>
          <a:p>
            <a:pPr algn="ctr">
              <a:spcBef>
                <a:spcPts val="0"/>
              </a:spcBef>
              <a:spcAft>
                <a:spcPts val="0"/>
              </a:spcAft>
            </a:pPr>
            <a:r>
              <a:rPr sz="1400" b="1">
                <a:solidFill>
                  <a:srgbClr val="FFFFFF"/>
                </a:solidFill>
                <a:latin typeface="Calibri"/>
              </a:rPr>
              <a:t>3</a:t>
            </a:r>
          </a:p>
        </p:txBody>
      </p:sp>
      <p:sp>
        <p:nvSpPr>
          <p:cNvPr id="18" name="TextBox 17"/>
          <p:cNvSpPr txBox="1"/>
          <p:nvPr/>
        </p:nvSpPr>
        <p:spPr>
          <a:xfrm>
            <a:off x="1554480" y="3054096"/>
            <a:ext cx="2606040" cy="731520"/>
          </a:xfrm>
          <a:prstGeom prst="rect">
            <a:avLst/>
          </a:prstGeom>
          <a:noFill/>
        </p:spPr>
        <p:txBody>
          <a:bodyPr wrap="square" anchor="ctr" lIns="0" rIns="0" tIns="0" bIns="0">
            <a:spAutoFit/>
          </a:bodyPr>
          <a:lstStyle/>
          <a:p>
            <a:pPr algn="l">
              <a:spcBef>
                <a:spcPts val="0"/>
              </a:spcBef>
              <a:spcAft>
                <a:spcPts val="200"/>
              </a:spcAft>
            </a:pPr>
            <a:r>
              <a:rPr sz="1450" b="1">
                <a:solidFill>
                  <a:srgbClr val="09131B"/>
                </a:solidFill>
                <a:latin typeface="Calibri"/>
              </a:rPr>
              <a:t>Negotiate from strength</a:t>
            </a:r>
          </a:p>
          <a:p>
            <a:pPr algn="l">
              <a:spcBef>
                <a:spcPts val="0"/>
              </a:spcBef>
              <a:spcAft>
                <a:spcPts val="0"/>
              </a:spcAft>
            </a:pPr>
            <a:r>
              <a:rPr sz="1130" b="0">
                <a:solidFill>
                  <a:srgbClr val="595959"/>
                </a:solidFill>
                <a:latin typeface="Calibri"/>
              </a:rPr>
              <a:t>Vendor value and concentration analytics inform every renewal.</a:t>
            </a:r>
          </a:p>
        </p:txBody>
      </p:sp>
      <p:sp>
        <p:nvSpPr>
          <p:cNvPr id="19" name="TextBox 18"/>
          <p:cNvSpPr txBox="1"/>
          <p:nvPr/>
        </p:nvSpPr>
        <p:spPr>
          <a:xfrm>
            <a:off x="4297680" y="3182112"/>
            <a:ext cx="1554480" cy="411480"/>
          </a:xfrm>
          <a:prstGeom prst="rect">
            <a:avLst/>
          </a:prstGeom>
          <a:noFill/>
        </p:spPr>
        <p:txBody>
          <a:bodyPr wrap="square" anchor="ctr" lIns="0" rIns="0" tIns="0" bIns="0">
            <a:spAutoFit/>
          </a:bodyPr>
          <a:lstStyle/>
          <a:p>
            <a:pPr algn="r">
              <a:spcBef>
                <a:spcPts val="0"/>
              </a:spcBef>
              <a:spcAft>
                <a:spcPts val="0"/>
              </a:spcAft>
            </a:pPr>
            <a:r>
              <a:rPr sz="950" b="1">
                <a:solidFill>
                  <a:srgbClr val="1E7F4F"/>
                </a:solidFill>
                <a:latin typeface="Calibri"/>
              </a:rPr>
              <a:t>PROCUREMENT / CI</a:t>
            </a:r>
          </a:p>
        </p:txBody>
      </p:sp>
      <p:sp>
        <p:nvSpPr>
          <p:cNvPr id="20" name="Rounded Rectangle 19"/>
          <p:cNvSpPr/>
          <p:nvPr/>
        </p:nvSpPr>
        <p:spPr>
          <a:xfrm>
            <a:off x="6309360" y="2907792"/>
            <a:ext cx="534924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10528" y="3182112"/>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3182112"/>
            <a:ext cx="420624" cy="420624"/>
          </a:xfrm>
          <a:prstGeom prst="rect">
            <a:avLst/>
          </a:prstGeom>
          <a:noFill/>
        </p:spPr>
        <p:txBody>
          <a:bodyPr wrap="square" anchor="ctr" lIns="0" rIns="0" tIns="0" bIns="0">
            <a:spAutoFit/>
          </a:bodyPr>
          <a:lstStyle/>
          <a:p>
            <a:pPr algn="ctr">
              <a:spcBef>
                <a:spcPts val="0"/>
              </a:spcBef>
              <a:spcAft>
                <a:spcPts val="0"/>
              </a:spcAft>
            </a:pPr>
            <a:r>
              <a:rPr sz="1400" b="1">
                <a:solidFill>
                  <a:srgbClr val="FFFFFF"/>
                </a:solidFill>
                <a:latin typeface="Calibri"/>
              </a:rPr>
              <a:t>4</a:t>
            </a:r>
          </a:p>
        </p:txBody>
      </p:sp>
      <p:sp>
        <p:nvSpPr>
          <p:cNvPr id="23" name="TextBox 22"/>
          <p:cNvSpPr txBox="1"/>
          <p:nvPr/>
        </p:nvSpPr>
        <p:spPr>
          <a:xfrm>
            <a:off x="7178040" y="3054096"/>
            <a:ext cx="2606040" cy="731520"/>
          </a:xfrm>
          <a:prstGeom prst="rect">
            <a:avLst/>
          </a:prstGeom>
          <a:noFill/>
        </p:spPr>
        <p:txBody>
          <a:bodyPr wrap="square" anchor="ctr" lIns="0" rIns="0" tIns="0" bIns="0">
            <a:spAutoFit/>
          </a:bodyPr>
          <a:lstStyle/>
          <a:p>
            <a:pPr algn="l">
              <a:spcBef>
                <a:spcPts val="0"/>
              </a:spcBef>
              <a:spcAft>
                <a:spcPts val="200"/>
              </a:spcAft>
            </a:pPr>
            <a:r>
              <a:rPr sz="1450" b="1">
                <a:solidFill>
                  <a:srgbClr val="09131B"/>
                </a:solidFill>
                <a:latin typeface="Calibri"/>
              </a:rPr>
              <a:t>Audit-ready by default</a:t>
            </a:r>
          </a:p>
          <a:p>
            <a:pPr algn="l">
              <a:spcBef>
                <a:spcPts val="0"/>
              </a:spcBef>
              <a:spcAft>
                <a:spcPts val="0"/>
              </a:spcAft>
            </a:pPr>
            <a:r>
              <a:rPr sz="1130" b="0">
                <a:solidFill>
                  <a:srgbClr val="595959"/>
                </a:solidFill>
                <a:latin typeface="Calibri"/>
              </a:rPr>
              <a:t>Automatic classification and lineage make governance the default.</a:t>
            </a:r>
          </a:p>
        </p:txBody>
      </p:sp>
      <p:sp>
        <p:nvSpPr>
          <p:cNvPr id="24" name="TextBox 23"/>
          <p:cNvSpPr txBox="1"/>
          <p:nvPr/>
        </p:nvSpPr>
        <p:spPr>
          <a:xfrm>
            <a:off x="9921240" y="3182112"/>
            <a:ext cx="1554480" cy="411480"/>
          </a:xfrm>
          <a:prstGeom prst="rect">
            <a:avLst/>
          </a:prstGeom>
          <a:noFill/>
        </p:spPr>
        <p:txBody>
          <a:bodyPr wrap="square" anchor="ctr" lIns="0" rIns="0" tIns="0" bIns="0">
            <a:spAutoFit/>
          </a:bodyPr>
          <a:lstStyle/>
          <a:p>
            <a:pPr algn="r">
              <a:spcBef>
                <a:spcPts val="0"/>
              </a:spcBef>
              <a:spcAft>
                <a:spcPts val="0"/>
              </a:spcAft>
            </a:pPr>
            <a:r>
              <a:rPr sz="950" b="1">
                <a:solidFill>
                  <a:srgbClr val="1E7F4F"/>
                </a:solidFill>
                <a:latin typeface="Calibri"/>
              </a:rPr>
              <a:t>COMPLIANCE</a:t>
            </a:r>
          </a:p>
        </p:txBody>
      </p:sp>
      <p:sp>
        <p:nvSpPr>
          <p:cNvPr id="25" name="Rounded Rectangle 24"/>
          <p:cNvSpPr/>
          <p:nvPr/>
        </p:nvSpPr>
        <p:spPr>
          <a:xfrm>
            <a:off x="685800" y="3986784"/>
            <a:ext cx="1097280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86968" y="4261104"/>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 y="4261104"/>
            <a:ext cx="420624" cy="420624"/>
          </a:xfrm>
          <a:prstGeom prst="rect">
            <a:avLst/>
          </a:prstGeom>
          <a:noFill/>
        </p:spPr>
        <p:txBody>
          <a:bodyPr wrap="square" anchor="ctr" lIns="0" rIns="0" tIns="0" bIns="0">
            <a:spAutoFit/>
          </a:bodyPr>
          <a:lstStyle/>
          <a:p>
            <a:pPr algn="ctr">
              <a:spcBef>
                <a:spcPts val="0"/>
              </a:spcBef>
              <a:spcAft>
                <a:spcPts val="0"/>
              </a:spcAft>
            </a:pPr>
            <a:r>
              <a:rPr sz="1400" b="1">
                <a:solidFill>
                  <a:srgbClr val="FFFFFF"/>
                </a:solidFill>
                <a:latin typeface="Calibri"/>
              </a:rPr>
              <a:t>5</a:t>
            </a:r>
          </a:p>
        </p:txBody>
      </p:sp>
      <p:sp>
        <p:nvSpPr>
          <p:cNvPr id="28" name="TextBox 27"/>
          <p:cNvSpPr txBox="1"/>
          <p:nvPr/>
        </p:nvSpPr>
        <p:spPr>
          <a:xfrm>
            <a:off x="1554480" y="4133088"/>
            <a:ext cx="8229600" cy="731520"/>
          </a:xfrm>
          <a:prstGeom prst="rect">
            <a:avLst/>
          </a:prstGeom>
          <a:noFill/>
        </p:spPr>
        <p:txBody>
          <a:bodyPr wrap="square" anchor="ctr" lIns="0" rIns="0" tIns="0" bIns="0">
            <a:spAutoFit/>
          </a:bodyPr>
          <a:lstStyle/>
          <a:p>
            <a:pPr algn="l">
              <a:spcBef>
                <a:spcPts val="0"/>
              </a:spcBef>
              <a:spcAft>
                <a:spcPts val="200"/>
              </a:spcAft>
            </a:pPr>
            <a:r>
              <a:rPr sz="1450" b="1">
                <a:solidFill>
                  <a:srgbClr val="09131B"/>
                </a:solidFill>
                <a:latin typeface="Calibri"/>
              </a:rPr>
              <a:t>Faster, confident decisions</a:t>
            </a:r>
          </a:p>
          <a:p>
            <a:pPr algn="l">
              <a:spcBef>
                <a:spcPts val="0"/>
              </a:spcBef>
              <a:spcAft>
                <a:spcPts val="0"/>
              </a:spcAft>
            </a:pPr>
            <a:r>
              <a:rPr sz="1130" b="0">
                <a:solidFill>
                  <a:srgbClr val="595959"/>
                </a:solidFill>
                <a:latin typeface="Calibri"/>
              </a:rPr>
              <a:t>One source of truth and a plain-English ask cut manual lookups.</a:t>
            </a:r>
          </a:p>
        </p:txBody>
      </p:sp>
      <p:sp>
        <p:nvSpPr>
          <p:cNvPr id="29" name="TextBox 28"/>
          <p:cNvSpPr txBox="1"/>
          <p:nvPr/>
        </p:nvSpPr>
        <p:spPr>
          <a:xfrm>
            <a:off x="9921240" y="4261104"/>
            <a:ext cx="1554480" cy="411480"/>
          </a:xfrm>
          <a:prstGeom prst="rect">
            <a:avLst/>
          </a:prstGeom>
          <a:noFill/>
        </p:spPr>
        <p:txBody>
          <a:bodyPr wrap="square" anchor="ctr" lIns="0" rIns="0" tIns="0" bIns="0">
            <a:spAutoFit/>
          </a:bodyPr>
          <a:lstStyle/>
          <a:p>
            <a:pPr algn="r">
              <a:spcBef>
                <a:spcPts val="0"/>
              </a:spcBef>
              <a:spcAft>
                <a:spcPts val="0"/>
              </a:spcAft>
            </a:pPr>
            <a:r>
              <a:rPr sz="950" b="1">
                <a:solidFill>
                  <a:srgbClr val="1E7F4F"/>
                </a:solidFill>
                <a:latin typeface="Calibri"/>
              </a:rPr>
              <a:t>COMMERCIAL INSIGHTS</a:t>
            </a:r>
          </a:p>
        </p:txBody>
      </p:sp>
      <p:sp>
        <p:nvSpPr>
          <p:cNvPr id="30" name="Rectangle 29"/>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Executive summary  ·  Illustrative prototype, synthetic data  ·  Confidential</a:t>
            </a:r>
          </a:p>
        </p:txBody>
      </p:sp>
      <p:sp>
        <p:nvSpPr>
          <p:cNvPr id="32" name="TextBox 31"/>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DELIVERY</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Your Microsoft estate, orchestrated — rolled out in phases</a:t>
            </a:r>
          </a:p>
        </p:txBody>
      </p:sp>
      <p:sp>
        <p:nvSpPr>
          <p:cNvPr id="5" name="Rounded Rectangle 4"/>
          <p:cNvSpPr/>
          <p:nvPr/>
        </p:nvSpPr>
        <p:spPr>
          <a:xfrm>
            <a:off x="685800" y="1828800"/>
            <a:ext cx="5120640" cy="4023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11680"/>
            <a:ext cx="4572000" cy="457200"/>
          </a:xfrm>
          <a:prstGeom prst="rect">
            <a:avLst/>
          </a:prstGeom>
          <a:noFill/>
        </p:spPr>
        <p:txBody>
          <a:bodyPr wrap="square" anchor="t" lIns="0" rIns="0" tIns="0" bIns="0">
            <a:spAutoFit/>
          </a:bodyPr>
          <a:lstStyle/>
          <a:p>
            <a:pPr algn="l">
              <a:spcBef>
                <a:spcPts val="0"/>
              </a:spcBef>
              <a:spcAft>
                <a:spcPts val="800"/>
              </a:spcAft>
            </a:pPr>
            <a:r>
              <a:rPr sz="1500" b="1">
                <a:solidFill>
                  <a:srgbClr val="09131B"/>
                </a:solidFill>
                <a:latin typeface="Calibri"/>
              </a:rPr>
              <a:t>Target stack — Microsoft-native</a:t>
            </a:r>
          </a:p>
        </p:txBody>
      </p:sp>
      <p:sp>
        <p:nvSpPr>
          <p:cNvPr id="7" name="Rounded Rectangle 6"/>
          <p:cNvSpPr/>
          <p:nvPr/>
        </p:nvSpPr>
        <p:spPr>
          <a:xfrm>
            <a:off x="960120" y="2596896"/>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560320"/>
            <a:ext cx="4297680" cy="548640"/>
          </a:xfrm>
          <a:prstGeom prst="rect">
            <a:avLst/>
          </a:prstGeom>
          <a:noFill/>
        </p:spPr>
        <p:txBody>
          <a:bodyPr wrap="square" anchor="t" lIns="0" rIns="0" tIns="0" bIns="0">
            <a:spAutoFit/>
          </a:bodyPr>
          <a:lstStyle/>
          <a:p>
            <a:pPr algn="l">
              <a:spcBef>
                <a:spcPts val="0"/>
              </a:spcBef>
              <a:spcAft>
                <a:spcPts val="100"/>
              </a:spcAft>
            </a:pPr>
            <a:r>
              <a:rPr sz="1250" b="1">
                <a:solidFill>
                  <a:srgbClr val="09131B"/>
                </a:solidFill>
                <a:latin typeface="Calibri"/>
              </a:rPr>
              <a:t>SharePoint</a:t>
            </a:r>
          </a:p>
          <a:p>
            <a:pPr algn="l">
              <a:spcBef>
                <a:spcPts val="0"/>
              </a:spcBef>
              <a:spcAft>
                <a:spcPts val="0"/>
              </a:spcAft>
            </a:pPr>
            <a:r>
              <a:rPr sz="1080" b="0">
                <a:solidFill>
                  <a:srgbClr val="595959"/>
                </a:solidFill>
                <a:latin typeface="Calibri"/>
              </a:rPr>
              <a:t>Storage &amp; lists — the records system</a:t>
            </a:r>
          </a:p>
        </p:txBody>
      </p:sp>
      <p:sp>
        <p:nvSpPr>
          <p:cNvPr id="9" name="Rounded Rectangle 8"/>
          <p:cNvSpPr/>
          <p:nvPr/>
        </p:nvSpPr>
        <p:spPr>
          <a:xfrm>
            <a:off x="960120" y="3200400"/>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163824"/>
            <a:ext cx="4297680" cy="548640"/>
          </a:xfrm>
          <a:prstGeom prst="rect">
            <a:avLst/>
          </a:prstGeom>
          <a:noFill/>
        </p:spPr>
        <p:txBody>
          <a:bodyPr wrap="square" anchor="t" lIns="0" rIns="0" tIns="0" bIns="0">
            <a:spAutoFit/>
          </a:bodyPr>
          <a:lstStyle/>
          <a:p>
            <a:pPr algn="l">
              <a:spcBef>
                <a:spcPts val="0"/>
              </a:spcBef>
              <a:spcAft>
                <a:spcPts val="100"/>
              </a:spcAft>
            </a:pPr>
            <a:r>
              <a:rPr sz="1250" b="1">
                <a:solidFill>
                  <a:srgbClr val="09131B"/>
                </a:solidFill>
                <a:latin typeface="Calibri"/>
              </a:rPr>
              <a:t>Power Automate</a:t>
            </a:r>
          </a:p>
          <a:p>
            <a:pPr algn="l">
              <a:spcBef>
                <a:spcPts val="0"/>
              </a:spcBef>
              <a:spcAft>
                <a:spcPts val="0"/>
              </a:spcAft>
            </a:pPr>
            <a:r>
              <a:rPr sz="1080" b="0">
                <a:solidFill>
                  <a:srgbClr val="595959"/>
                </a:solidFill>
                <a:latin typeface="Calibri"/>
              </a:rPr>
              <a:t>Workflow &amp; the 30/60/90 reminders</a:t>
            </a:r>
          </a:p>
        </p:txBody>
      </p:sp>
      <p:sp>
        <p:nvSpPr>
          <p:cNvPr id="11" name="Rounded Rectangle 10"/>
          <p:cNvSpPr/>
          <p:nvPr/>
        </p:nvSpPr>
        <p:spPr>
          <a:xfrm>
            <a:off x="960120" y="3803904"/>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3767328"/>
            <a:ext cx="4297680" cy="548640"/>
          </a:xfrm>
          <a:prstGeom prst="rect">
            <a:avLst/>
          </a:prstGeom>
          <a:noFill/>
        </p:spPr>
        <p:txBody>
          <a:bodyPr wrap="square" anchor="t" lIns="0" rIns="0" tIns="0" bIns="0">
            <a:spAutoFit/>
          </a:bodyPr>
          <a:lstStyle/>
          <a:p>
            <a:pPr algn="l">
              <a:spcBef>
                <a:spcPts val="0"/>
              </a:spcBef>
              <a:spcAft>
                <a:spcPts val="100"/>
              </a:spcAft>
            </a:pPr>
            <a:r>
              <a:rPr sz="1250" b="1">
                <a:solidFill>
                  <a:srgbClr val="09131B"/>
                </a:solidFill>
                <a:latin typeface="Calibri"/>
              </a:rPr>
              <a:t>Microsoft Purview</a:t>
            </a:r>
          </a:p>
          <a:p>
            <a:pPr algn="l">
              <a:spcBef>
                <a:spcPts val="0"/>
              </a:spcBef>
              <a:spcAft>
                <a:spcPts val="0"/>
              </a:spcAft>
            </a:pPr>
            <a:r>
              <a:rPr sz="1080" b="0">
                <a:solidFill>
                  <a:srgbClr val="595959"/>
                </a:solidFill>
                <a:latin typeface="Calibri"/>
              </a:rPr>
              <a:t>Catalogue, classification &amp; lineage</a:t>
            </a:r>
          </a:p>
        </p:txBody>
      </p:sp>
      <p:sp>
        <p:nvSpPr>
          <p:cNvPr id="13" name="Rounded Rectangle 12"/>
          <p:cNvSpPr/>
          <p:nvPr/>
        </p:nvSpPr>
        <p:spPr>
          <a:xfrm>
            <a:off x="960120" y="4407408"/>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370832"/>
            <a:ext cx="4297680" cy="548640"/>
          </a:xfrm>
          <a:prstGeom prst="rect">
            <a:avLst/>
          </a:prstGeom>
          <a:noFill/>
        </p:spPr>
        <p:txBody>
          <a:bodyPr wrap="square" anchor="t" lIns="0" rIns="0" tIns="0" bIns="0">
            <a:spAutoFit/>
          </a:bodyPr>
          <a:lstStyle/>
          <a:p>
            <a:pPr algn="l">
              <a:spcBef>
                <a:spcPts val="0"/>
              </a:spcBef>
              <a:spcAft>
                <a:spcPts val="100"/>
              </a:spcAft>
            </a:pPr>
            <a:r>
              <a:rPr sz="1250" b="1">
                <a:solidFill>
                  <a:srgbClr val="09131B"/>
                </a:solidFill>
                <a:latin typeface="Calibri"/>
              </a:rPr>
              <a:t>Azure OpenAI</a:t>
            </a:r>
          </a:p>
          <a:p>
            <a:pPr algn="l">
              <a:spcBef>
                <a:spcPts val="0"/>
              </a:spcBef>
              <a:spcAft>
                <a:spcPts val="0"/>
              </a:spcAft>
            </a:pPr>
            <a:r>
              <a:rPr sz="1080" b="0">
                <a:solidFill>
                  <a:srgbClr val="595959"/>
                </a:solidFill>
                <a:latin typeface="Calibri"/>
              </a:rPr>
              <a:t>Intelligence &amp; Ask Atlas</a:t>
            </a:r>
          </a:p>
        </p:txBody>
      </p:sp>
      <p:sp>
        <p:nvSpPr>
          <p:cNvPr id="15" name="Rounded Rectangle 14"/>
          <p:cNvSpPr/>
          <p:nvPr/>
        </p:nvSpPr>
        <p:spPr>
          <a:xfrm>
            <a:off x="960120" y="5010912"/>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974336"/>
            <a:ext cx="4297680" cy="548640"/>
          </a:xfrm>
          <a:prstGeom prst="rect">
            <a:avLst/>
          </a:prstGeom>
          <a:noFill/>
        </p:spPr>
        <p:txBody>
          <a:bodyPr wrap="square" anchor="t" lIns="0" rIns="0" tIns="0" bIns="0">
            <a:spAutoFit/>
          </a:bodyPr>
          <a:lstStyle/>
          <a:p>
            <a:pPr algn="l">
              <a:spcBef>
                <a:spcPts val="0"/>
              </a:spcBef>
              <a:spcAft>
                <a:spcPts val="100"/>
              </a:spcAft>
            </a:pPr>
            <a:r>
              <a:rPr sz="1250" b="1">
                <a:solidFill>
                  <a:srgbClr val="09131B"/>
                </a:solidFill>
                <a:latin typeface="Calibri"/>
              </a:rPr>
              <a:t>Databricks / Model N / SAP</a:t>
            </a:r>
          </a:p>
          <a:p>
            <a:pPr algn="l">
              <a:spcBef>
                <a:spcPts val="0"/>
              </a:spcBef>
              <a:spcAft>
                <a:spcPts val="0"/>
              </a:spcAft>
            </a:pPr>
            <a:r>
              <a:rPr sz="1080" b="0">
                <a:solidFill>
                  <a:srgbClr val="595959"/>
                </a:solidFill>
                <a:latin typeface="Calibri"/>
              </a:rPr>
              <a:t>Data, spend and contract feeds</a:t>
            </a:r>
          </a:p>
        </p:txBody>
      </p:sp>
      <p:sp>
        <p:nvSpPr>
          <p:cNvPr id="17" name="Rounded Rectangle 16"/>
          <p:cNvSpPr/>
          <p:nvPr/>
        </p:nvSpPr>
        <p:spPr>
          <a:xfrm>
            <a:off x="6080760" y="1828800"/>
            <a:ext cx="5577840" cy="4023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011680"/>
            <a:ext cx="5029200" cy="457200"/>
          </a:xfrm>
          <a:prstGeom prst="rect">
            <a:avLst/>
          </a:prstGeom>
          <a:noFill/>
        </p:spPr>
        <p:txBody>
          <a:bodyPr wrap="square" anchor="t" lIns="0" rIns="0" tIns="0" bIns="0">
            <a:spAutoFit/>
          </a:bodyPr>
          <a:lstStyle/>
          <a:p>
            <a:pPr algn="l">
              <a:spcBef>
                <a:spcPts val="0"/>
              </a:spcBef>
              <a:spcAft>
                <a:spcPts val="800"/>
              </a:spcAft>
            </a:pPr>
            <a:r>
              <a:rPr sz="1500" b="1">
                <a:solidFill>
                  <a:srgbClr val="09131B"/>
                </a:solidFill>
                <a:latin typeface="Calibri"/>
              </a:rPr>
              <a:t>Phased rollout — value at every step</a:t>
            </a:r>
          </a:p>
        </p:txBody>
      </p:sp>
      <p:sp>
        <p:nvSpPr>
          <p:cNvPr id="19" name="Rounded Rectangle 18"/>
          <p:cNvSpPr/>
          <p:nvPr/>
        </p:nvSpPr>
        <p:spPr>
          <a:xfrm>
            <a:off x="6355080" y="2578608"/>
            <a:ext cx="91440" cy="777240"/>
          </a:xfrm>
          <a:prstGeom prst="roundRect">
            <a:avLst>
              <a:gd name="adj" fmla="val 50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560320"/>
            <a:ext cx="4846320" cy="914400"/>
          </a:xfrm>
          <a:prstGeom prst="rect">
            <a:avLst/>
          </a:prstGeom>
          <a:noFill/>
        </p:spPr>
        <p:txBody>
          <a:bodyPr wrap="square" anchor="t" lIns="0" rIns="0" tIns="0" bIns="0">
            <a:spAutoFit/>
          </a:bodyPr>
          <a:lstStyle/>
          <a:p>
            <a:pPr algn="l">
              <a:spcBef>
                <a:spcPts val="0"/>
              </a:spcBef>
              <a:spcAft>
                <a:spcPts val="100"/>
              </a:spcAft>
            </a:pPr>
            <a:r>
              <a:rPr sz="1000" b="1">
                <a:solidFill>
                  <a:srgbClr val="0563C1"/>
                </a:solidFill>
                <a:latin typeface="Calibri"/>
              </a:rPr>
              <a:t>PHASE 1</a:t>
            </a:r>
          </a:p>
          <a:p>
            <a:pPr algn="l">
              <a:spcBef>
                <a:spcPts val="0"/>
              </a:spcBef>
              <a:spcAft>
                <a:spcPts val="200"/>
              </a:spcAft>
            </a:pPr>
            <a:r>
              <a:rPr sz="1500" b="1">
                <a:solidFill>
                  <a:srgbClr val="09131B"/>
                </a:solidFill>
                <a:latin typeface="Calibri"/>
              </a:rPr>
              <a:t>Foundation</a:t>
            </a:r>
          </a:p>
          <a:p>
            <a:pPr algn="l">
              <a:spcBef>
                <a:spcPts val="0"/>
              </a:spcBef>
              <a:spcAft>
                <a:spcPts val="0"/>
              </a:spcAft>
            </a:pPr>
            <a:r>
              <a:rPr sz="1100" b="0">
                <a:solidFill>
                  <a:srgbClr val="595959"/>
                </a:solidFill>
                <a:latin typeface="Calibri"/>
              </a:rPr>
              <a:t>Connect the five tools and the data model on SharePoint.</a:t>
            </a:r>
          </a:p>
        </p:txBody>
      </p:sp>
      <p:sp>
        <p:nvSpPr>
          <p:cNvPr id="21" name="Rounded Rectangle 20"/>
          <p:cNvSpPr/>
          <p:nvPr/>
        </p:nvSpPr>
        <p:spPr>
          <a:xfrm>
            <a:off x="6355080" y="3538728"/>
            <a:ext cx="91440" cy="77724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3520440"/>
            <a:ext cx="4846320" cy="914400"/>
          </a:xfrm>
          <a:prstGeom prst="rect">
            <a:avLst/>
          </a:prstGeom>
          <a:noFill/>
        </p:spPr>
        <p:txBody>
          <a:bodyPr wrap="square" anchor="t" lIns="0" rIns="0" tIns="0" bIns="0">
            <a:spAutoFit/>
          </a:bodyPr>
          <a:lstStyle/>
          <a:p>
            <a:pPr algn="l">
              <a:spcBef>
                <a:spcPts val="0"/>
              </a:spcBef>
              <a:spcAft>
                <a:spcPts val="100"/>
              </a:spcAft>
            </a:pPr>
            <a:r>
              <a:rPr sz="1000" b="1">
                <a:solidFill>
                  <a:srgbClr val="9A5C12"/>
                </a:solidFill>
                <a:latin typeface="Calibri"/>
              </a:rPr>
              <a:t>PHASE 2</a:t>
            </a:r>
          </a:p>
          <a:p>
            <a:pPr algn="l">
              <a:spcBef>
                <a:spcPts val="0"/>
              </a:spcBef>
              <a:spcAft>
                <a:spcPts val="200"/>
              </a:spcAft>
            </a:pPr>
            <a:r>
              <a:rPr sz="1500" b="1">
                <a:solidFill>
                  <a:srgbClr val="09131B"/>
                </a:solidFill>
                <a:latin typeface="Calibri"/>
              </a:rPr>
              <a:t>Automation</a:t>
            </a:r>
          </a:p>
          <a:p>
            <a:pPr algn="l">
              <a:spcBef>
                <a:spcPts val="0"/>
              </a:spcBef>
              <a:spcAft>
                <a:spcPts val="0"/>
              </a:spcAft>
            </a:pPr>
            <a:r>
              <a:rPr sz="1100" b="0">
                <a:solidFill>
                  <a:srgbClr val="595959"/>
                </a:solidFill>
                <a:latin typeface="Calibri"/>
              </a:rPr>
              <a:t>Reminders, catalogue sync, classification, duplicate detection.</a:t>
            </a:r>
          </a:p>
        </p:txBody>
      </p:sp>
      <p:sp>
        <p:nvSpPr>
          <p:cNvPr id="23" name="Rounded Rectangle 22"/>
          <p:cNvSpPr/>
          <p:nvPr/>
        </p:nvSpPr>
        <p:spPr>
          <a:xfrm>
            <a:off x="6355080" y="4498848"/>
            <a:ext cx="91440" cy="777240"/>
          </a:xfrm>
          <a:prstGeom prst="roundRect">
            <a:avLst>
              <a:gd name="adj" fmla="val 50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4480560"/>
            <a:ext cx="4846320" cy="914400"/>
          </a:xfrm>
          <a:prstGeom prst="rect">
            <a:avLst/>
          </a:prstGeom>
          <a:noFill/>
        </p:spPr>
        <p:txBody>
          <a:bodyPr wrap="square" anchor="t" lIns="0" rIns="0" tIns="0" bIns="0">
            <a:spAutoFit/>
          </a:bodyPr>
          <a:lstStyle/>
          <a:p>
            <a:pPr algn="l">
              <a:spcBef>
                <a:spcPts val="0"/>
              </a:spcBef>
              <a:spcAft>
                <a:spcPts val="100"/>
              </a:spcAft>
            </a:pPr>
            <a:r>
              <a:rPr sz="1000" b="1">
                <a:solidFill>
                  <a:srgbClr val="1E7F4F"/>
                </a:solidFill>
                <a:latin typeface="Calibri"/>
              </a:rPr>
              <a:t>PHASE 3</a:t>
            </a:r>
          </a:p>
          <a:p>
            <a:pPr algn="l">
              <a:spcBef>
                <a:spcPts val="0"/>
              </a:spcBef>
              <a:spcAft>
                <a:spcPts val="200"/>
              </a:spcAft>
            </a:pPr>
            <a:r>
              <a:rPr sz="1500" b="1">
                <a:solidFill>
                  <a:srgbClr val="09131B"/>
                </a:solidFill>
                <a:latin typeface="Calibri"/>
              </a:rPr>
              <a:t>Intelligence</a:t>
            </a:r>
          </a:p>
          <a:p>
            <a:pPr algn="l">
              <a:spcBef>
                <a:spcPts val="0"/>
              </a:spcBef>
              <a:spcAft>
                <a:spcPts val="0"/>
              </a:spcAft>
            </a:pPr>
            <a:r>
              <a:rPr sz="1100" b="0">
                <a:solidFill>
                  <a:srgbClr val="595959"/>
                </a:solidFill>
                <a:latin typeface="Calibri"/>
              </a:rPr>
              <a:t>Vendor Hub Plus, prediction and Ask Atlas on Azure OpenAI.</a:t>
            </a:r>
          </a:p>
        </p:txBody>
      </p:sp>
      <p:sp>
        <p:nvSpPr>
          <p:cNvPr id="25" name="Rectangle 24"/>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Executive summary  ·  Illustrative prototype, synthetic data  ·  Confidential</a:t>
            </a:r>
          </a:p>
        </p:txBody>
      </p:sp>
      <p:sp>
        <p:nvSpPr>
          <p:cNvPr id="27" name="TextBox 26"/>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640080"/>
            <a:ext cx="9144000" cy="365760"/>
          </a:xfrm>
          <a:prstGeom prst="rect">
            <a:avLst/>
          </a:prstGeom>
          <a:noFill/>
        </p:spPr>
        <p:txBody>
          <a:bodyPr wrap="square" anchor="t" lIns="0" rIns="0" tIns="0" bIns="0">
            <a:spAutoFit/>
          </a:bodyPr>
          <a:lstStyle/>
          <a:p>
            <a:pPr algn="l">
              <a:spcBef>
                <a:spcPts val="0"/>
              </a:spcBef>
              <a:spcAft>
                <a:spcPts val="0"/>
              </a:spcAft>
            </a:pPr>
            <a:r>
              <a:rPr sz="1300" b="1">
                <a:solidFill>
                  <a:srgbClr val="F89739"/>
                </a:solidFill>
                <a:latin typeface="Calibri"/>
              </a:rPr>
              <a:t>NEXT STEPS</a:t>
            </a:r>
          </a:p>
        </p:txBody>
      </p:sp>
      <p:sp>
        <p:nvSpPr>
          <p:cNvPr id="4" name="TextBox 3"/>
          <p:cNvSpPr txBox="1"/>
          <p:nvPr/>
        </p:nvSpPr>
        <p:spPr>
          <a:xfrm>
            <a:off x="685800" y="1005840"/>
            <a:ext cx="10789920" cy="822960"/>
          </a:xfrm>
          <a:prstGeom prst="rect">
            <a:avLst/>
          </a:prstGeom>
          <a:noFill/>
        </p:spPr>
        <p:txBody>
          <a:bodyPr wrap="square" anchor="t" lIns="0" rIns="0" tIns="0" bIns="0">
            <a:spAutoFit/>
          </a:bodyPr>
          <a:lstStyle/>
          <a:p>
            <a:pPr algn="l">
              <a:spcBef>
                <a:spcPts val="0"/>
              </a:spcBef>
              <a:spcAft>
                <a:spcPts val="0"/>
              </a:spcAft>
            </a:pPr>
            <a:r>
              <a:rPr sz="3600" b="1">
                <a:solidFill>
                  <a:srgbClr val="FFFFFF"/>
                </a:solidFill>
                <a:latin typeface="Calibri"/>
              </a:rPr>
              <a:t>How we start</a:t>
            </a:r>
          </a:p>
        </p:txBody>
      </p:sp>
      <p:sp>
        <p:nvSpPr>
          <p:cNvPr id="5" name="Rounded Rectangle 4"/>
          <p:cNvSpPr/>
          <p:nvPr/>
        </p:nvSpPr>
        <p:spPr>
          <a:xfrm>
            <a:off x="685800" y="2103120"/>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457200" cy="457200"/>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1</a:t>
            </a:r>
          </a:p>
        </p:txBody>
      </p:sp>
      <p:sp>
        <p:nvSpPr>
          <p:cNvPr id="7" name="TextBox 6"/>
          <p:cNvSpPr txBox="1"/>
          <p:nvPr/>
        </p:nvSpPr>
        <p:spPr>
          <a:xfrm>
            <a:off x="1417320" y="2084832"/>
            <a:ext cx="10058400" cy="868680"/>
          </a:xfrm>
          <a:prstGeom prst="rect">
            <a:avLst/>
          </a:prstGeom>
          <a:noFill/>
        </p:spPr>
        <p:txBody>
          <a:bodyPr wrap="square" anchor="t" lIns="0" rIns="0" tIns="0" bIns="0">
            <a:spAutoFit/>
          </a:bodyPr>
          <a:lstStyle/>
          <a:p>
            <a:pPr algn="l">
              <a:spcBef>
                <a:spcPts val="0"/>
              </a:spcBef>
              <a:spcAft>
                <a:spcPts val="200"/>
              </a:spcAft>
            </a:pPr>
            <a:r>
              <a:rPr sz="1700" b="1">
                <a:solidFill>
                  <a:srgbClr val="FFFFFF"/>
                </a:solidFill>
                <a:latin typeface="Calibri"/>
              </a:rPr>
              <a:t>Walk the prototype live</a:t>
            </a:r>
          </a:p>
          <a:p>
            <a:pPr algn="l">
              <a:spcBef>
                <a:spcPts val="0"/>
              </a:spcBef>
              <a:spcAft>
                <a:spcPts val="0"/>
              </a:spcAft>
            </a:pPr>
            <a:r>
              <a:rPr sz="1250" b="0">
                <a:solidFill>
                  <a:srgbClr val="C7CCD3"/>
                </a:solidFill>
                <a:latin typeface="Calibri"/>
              </a:rPr>
              <a:t>A hands-on session with your CI and procurement leads.</a:t>
            </a:r>
          </a:p>
        </p:txBody>
      </p:sp>
      <p:sp>
        <p:nvSpPr>
          <p:cNvPr id="8" name="Rounded Rectangle 7"/>
          <p:cNvSpPr/>
          <p:nvPr/>
        </p:nvSpPr>
        <p:spPr>
          <a:xfrm>
            <a:off x="685800" y="3035808"/>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035808"/>
            <a:ext cx="457200" cy="457200"/>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2</a:t>
            </a:r>
          </a:p>
        </p:txBody>
      </p:sp>
      <p:sp>
        <p:nvSpPr>
          <p:cNvPr id="10" name="TextBox 9"/>
          <p:cNvSpPr txBox="1"/>
          <p:nvPr/>
        </p:nvSpPr>
        <p:spPr>
          <a:xfrm>
            <a:off x="1417320" y="3017520"/>
            <a:ext cx="10058400" cy="868680"/>
          </a:xfrm>
          <a:prstGeom prst="rect">
            <a:avLst/>
          </a:prstGeom>
          <a:noFill/>
        </p:spPr>
        <p:txBody>
          <a:bodyPr wrap="square" anchor="t" lIns="0" rIns="0" tIns="0" bIns="0">
            <a:spAutoFit/>
          </a:bodyPr>
          <a:lstStyle/>
          <a:p>
            <a:pPr algn="l">
              <a:spcBef>
                <a:spcPts val="0"/>
              </a:spcBef>
              <a:spcAft>
                <a:spcPts val="200"/>
              </a:spcAft>
            </a:pPr>
            <a:r>
              <a:rPr sz="1700" b="1">
                <a:solidFill>
                  <a:srgbClr val="FFFFFF"/>
                </a:solidFill>
                <a:latin typeface="Calibri"/>
              </a:rPr>
              <a:t>Baseline data audit</a:t>
            </a:r>
          </a:p>
          <a:p>
            <a:pPr algn="l">
              <a:spcBef>
                <a:spcPts val="0"/>
              </a:spcBef>
              <a:spcAft>
                <a:spcPts val="0"/>
              </a:spcAft>
            </a:pPr>
            <a:r>
              <a:rPr sz="1250" b="0">
                <a:solidFill>
                  <a:srgbClr val="C7CCD3"/>
                </a:solidFill>
                <a:latin typeface="Calibri"/>
              </a:rPr>
              <a:t>Point Atlas at your real estate — turn illustrative figures into your numbers.</a:t>
            </a:r>
          </a:p>
        </p:txBody>
      </p:sp>
      <p:sp>
        <p:nvSpPr>
          <p:cNvPr id="11" name="Rounded Rectangle 10"/>
          <p:cNvSpPr/>
          <p:nvPr/>
        </p:nvSpPr>
        <p:spPr>
          <a:xfrm>
            <a:off x="685800" y="3968496"/>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968496"/>
            <a:ext cx="457200" cy="457200"/>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3</a:t>
            </a:r>
          </a:p>
        </p:txBody>
      </p:sp>
      <p:sp>
        <p:nvSpPr>
          <p:cNvPr id="13" name="TextBox 12"/>
          <p:cNvSpPr txBox="1"/>
          <p:nvPr/>
        </p:nvSpPr>
        <p:spPr>
          <a:xfrm>
            <a:off x="1417320" y="3950208"/>
            <a:ext cx="10058400" cy="868680"/>
          </a:xfrm>
          <a:prstGeom prst="rect">
            <a:avLst/>
          </a:prstGeom>
          <a:noFill/>
        </p:spPr>
        <p:txBody>
          <a:bodyPr wrap="square" anchor="t" lIns="0" rIns="0" tIns="0" bIns="0">
            <a:spAutoFit/>
          </a:bodyPr>
          <a:lstStyle/>
          <a:p>
            <a:pPr algn="l">
              <a:spcBef>
                <a:spcPts val="0"/>
              </a:spcBef>
              <a:spcAft>
                <a:spcPts val="200"/>
              </a:spcAft>
            </a:pPr>
            <a:r>
              <a:rPr sz="1700" b="1">
                <a:solidFill>
                  <a:srgbClr val="FFFFFF"/>
                </a:solidFill>
                <a:latin typeface="Calibri"/>
              </a:rPr>
              <a:t>Confirm scope &amp; architecture</a:t>
            </a:r>
          </a:p>
          <a:p>
            <a:pPr algn="l">
              <a:spcBef>
                <a:spcPts val="0"/>
              </a:spcBef>
              <a:spcAft>
                <a:spcPts val="0"/>
              </a:spcAft>
            </a:pPr>
            <a:r>
              <a:rPr sz="1250" b="0">
                <a:solidFill>
                  <a:srgbClr val="C7CCD3"/>
                </a:solidFill>
                <a:latin typeface="Calibri"/>
              </a:rPr>
              <a:t>Agree Phase 1 boundaries and the Microsoft target with IT.</a:t>
            </a:r>
          </a:p>
        </p:txBody>
      </p:sp>
      <p:sp>
        <p:nvSpPr>
          <p:cNvPr id="14" name="Rounded Rectangle 13"/>
          <p:cNvSpPr/>
          <p:nvPr/>
        </p:nvSpPr>
        <p:spPr>
          <a:xfrm>
            <a:off x="685800" y="4901184"/>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901184"/>
            <a:ext cx="457200" cy="457200"/>
          </a:xfrm>
          <a:prstGeom prst="rect">
            <a:avLst/>
          </a:prstGeom>
          <a:noFill/>
        </p:spPr>
        <p:txBody>
          <a:bodyPr wrap="square" anchor="ctr" lIns="0" rIns="0" tIns="0" bIns="0">
            <a:spAutoFit/>
          </a:bodyPr>
          <a:lstStyle/>
          <a:p>
            <a:pPr algn="ctr">
              <a:spcBef>
                <a:spcPts val="0"/>
              </a:spcBef>
              <a:spcAft>
                <a:spcPts val="0"/>
              </a:spcAft>
            </a:pPr>
            <a:r>
              <a:rPr sz="1400" b="1">
                <a:solidFill>
                  <a:srgbClr val="09131B"/>
                </a:solidFill>
                <a:latin typeface="Calibri"/>
              </a:rPr>
              <a:t>4</a:t>
            </a:r>
          </a:p>
        </p:txBody>
      </p:sp>
      <p:sp>
        <p:nvSpPr>
          <p:cNvPr id="16" name="TextBox 15"/>
          <p:cNvSpPr txBox="1"/>
          <p:nvPr/>
        </p:nvSpPr>
        <p:spPr>
          <a:xfrm>
            <a:off x="1417320" y="4882896"/>
            <a:ext cx="10058400" cy="868680"/>
          </a:xfrm>
          <a:prstGeom prst="rect">
            <a:avLst/>
          </a:prstGeom>
          <a:noFill/>
        </p:spPr>
        <p:txBody>
          <a:bodyPr wrap="square" anchor="t" lIns="0" rIns="0" tIns="0" bIns="0">
            <a:spAutoFit/>
          </a:bodyPr>
          <a:lstStyle/>
          <a:p>
            <a:pPr algn="l">
              <a:spcBef>
                <a:spcPts val="0"/>
              </a:spcBef>
              <a:spcAft>
                <a:spcPts val="200"/>
              </a:spcAft>
            </a:pPr>
            <a:r>
              <a:rPr sz="1700" b="1">
                <a:solidFill>
                  <a:srgbClr val="FFFFFF"/>
                </a:solidFill>
                <a:latin typeface="Calibri"/>
              </a:rPr>
              <a:t>Stand up Phase 1</a:t>
            </a:r>
          </a:p>
          <a:p>
            <a:pPr algn="l">
              <a:spcBef>
                <a:spcPts val="0"/>
              </a:spcBef>
              <a:spcAft>
                <a:spcPts val="0"/>
              </a:spcAft>
            </a:pPr>
            <a:r>
              <a:rPr sz="1250" b="0">
                <a:solidFill>
                  <a:srgbClr val="C7CCD3"/>
                </a:solidFill>
                <a:latin typeface="Calibri"/>
              </a:rPr>
              <a:t>Migrate the connected five-tool foundation — value from day one.</a:t>
            </a:r>
          </a:p>
        </p:txBody>
      </p:sp>
      <p:sp>
        <p:nvSpPr>
          <p:cNvPr id="17" name="TextBox 16"/>
          <p:cNvSpPr txBox="1"/>
          <p:nvPr/>
        </p:nvSpPr>
        <p:spPr>
          <a:xfrm>
            <a:off x="685800" y="5989320"/>
            <a:ext cx="10789920" cy="457200"/>
          </a:xfrm>
          <a:prstGeom prst="rect">
            <a:avLst/>
          </a:prstGeom>
          <a:noFill/>
        </p:spPr>
        <p:txBody>
          <a:bodyPr wrap="square" anchor="t" lIns="0" rIns="0" tIns="0" bIns="0">
            <a:spAutoFit/>
          </a:bodyPr>
          <a:lstStyle/>
          <a:p>
            <a:pPr algn="l">
              <a:spcBef>
                <a:spcPts val="0"/>
              </a:spcBef>
              <a:spcAft>
                <a:spcPts val="0"/>
              </a:spcAft>
            </a:pPr>
            <a:r>
              <a:rPr sz="1050" b="0">
                <a:solidFill>
                  <a:srgbClr val="A9AFB6"/>
                </a:solidFill>
                <a:latin typeface="Calibri"/>
              </a:rPr>
              <a:t>Synthetic prototype · figures directional pending a baseline audit · AI advisory, human-approved.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